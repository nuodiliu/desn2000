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9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400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1">
                  <a:lumOff val="1354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solidFill>
            <a:srgbClr val="014D80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009D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61D836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027002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E3E5E8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-613784"/>
              <a:lumOff val="1275"/>
            </a:schemeClr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4">
                  <a:hueOff val="-613784"/>
                  <a:lumOff val="1275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E3E5E8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E3E5E8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FF53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98195F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6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400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262727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42424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31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790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498" y="11839048"/>
            <a:ext cx="21971003" cy="636979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196865"/>
            <a:ext cx="21971000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7748" y="13080999"/>
            <a:ext cx="368504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reen, hilly landscape"/>
          <p:cNvSpPr>
            <a:spLocks noGrp="1"/>
          </p:cNvSpPr>
          <p:nvPr>
            <p:ph type="pic" idx="21"/>
          </p:nvPr>
        </p:nvSpPr>
        <p:spPr>
          <a:xfrm>
            <a:off x="-431800" y="-4038600"/>
            <a:ext cx="29464000" cy="18034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23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4468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 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2403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4" name="Moss-covered rocks"/>
          <p:cNvSpPr>
            <a:spLocks noGrp="1"/>
          </p:cNvSpPr>
          <p:nvPr>
            <p:ph type="pic" sz="half" idx="21"/>
          </p:nvPr>
        </p:nvSpPr>
        <p:spPr>
          <a:xfrm>
            <a:off x="12052303" y="1270000"/>
            <a:ext cx="11188406" cy="1120988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6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3" name="Large rock formation under dark clouds with a dirt road in the foreground"/>
          <p:cNvSpPr>
            <a:spLocks noGrp="1"/>
          </p:cNvSpPr>
          <p:nvPr>
            <p:ph type="pic" idx="22"/>
          </p:nvPr>
        </p:nvSpPr>
        <p:spPr>
          <a:xfrm>
            <a:off x="6380200" y="1263848"/>
            <a:ext cx="22529801" cy="1119347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7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8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Agenda Subtitle</a:t>
            </a:r>
          </a:p>
        </p:txBody>
      </p:sp>
      <p:sp>
        <p:nvSpPr>
          <p:cNvPr id="90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Fact information</a:t>
            </a:r>
          </a:p>
        </p:txBody>
      </p:sp>
      <p:sp>
        <p:nvSpPr>
          <p:cNvPr id="107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935258"/>
            <a:ext cx="21971000" cy="7359063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80825" y="10675453"/>
            <a:ext cx="201492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Attribution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 anchor="ctr"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Close-up of wild plants growing between rocks"/>
          <p:cNvSpPr>
            <a:spLocks noGrp="1"/>
          </p:cNvSpPr>
          <p:nvPr>
            <p:ph type="pic" sz="quarter" idx="21"/>
          </p:nvPr>
        </p:nvSpPr>
        <p:spPr>
          <a:xfrm>
            <a:off x="15430500" y="7085409"/>
            <a:ext cx="8128000" cy="54102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5" name="Large rock formation under dark clouds with a dirt road in the foreground"/>
          <p:cNvSpPr>
            <a:spLocks noGrp="1"/>
          </p:cNvSpPr>
          <p:nvPr>
            <p:ph type="pic" idx="22"/>
          </p:nvPr>
        </p:nvSpPr>
        <p:spPr>
          <a:xfrm>
            <a:off x="-2933700" y="1270000"/>
            <a:ext cx="22699133" cy="11277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6" name="Close-up of a wild plant growing between lava rocks"/>
          <p:cNvSpPr>
            <a:spLocks noGrp="1"/>
          </p:cNvSpPr>
          <p:nvPr>
            <p:ph type="pic" sz="quarter" idx="23"/>
          </p:nvPr>
        </p:nvSpPr>
        <p:spPr>
          <a:xfrm>
            <a:off x="15430500" y="1270000"/>
            <a:ext cx="8128000" cy="5410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waterfall surrounded by a green rocky landscape"/>
          <p:cNvSpPr>
            <a:spLocks noGrp="1"/>
          </p:cNvSpPr>
          <p:nvPr>
            <p:ph type="pic" idx="21"/>
          </p:nvPr>
        </p:nvSpPr>
        <p:spPr>
          <a:xfrm>
            <a:off x="-1511300" y="-3721100"/>
            <a:ext cx="28511500" cy="1903024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rategyzer.com/hubfs/Assets%20-%20Downloads/the-value-proposition-canvas-instruction-manual.pdf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ww.strategyzer.com/cs/c/?cta_guid=e72ab8b4-d365-4ec1-8e71-1ab5d22f3479&amp;signature=AAH58kHZp-IN1RLeJ5j3ZeKmKBgqcqtpKQ&amp;pageId=9861687907&amp;placement_guid=a07476d3-7be6-42c9-9212-8c85ed37e052&amp;click=b21ed26b-9759-41e5-bcae-a8addd553131&amp;hsutk=c7a000001f6d1d6f123a017a509b460c&amp;canon=https%3A%2F%2Fwww.strategyzer.com%2Fvpc_thank_you&amp;utm_referrer=https%3A%2F%2Fwww.strategyzer.com%2Fcanvas%2Fvalue-proposition-canvas&amp;portal_id=4952096&amp;redirect_url=APefjpHpT3XyVZhlW09JNAi2UdTHS3LMnrSrtBrwESnme5pQxITilPufHM60pdvnwcCLqaZD4paAReQGh1Lno4PI9eK9_ntPC9oi_p6qJdPIScEFfYJGIaGMpWcV0_j1-YoYgZ0UnKWPaAgHXsEKin7qh8xsqwn7Vf6Cw2_XqHKRxunaX_i5J68" TargetMode="External"/><Relationship Id="rId4" Type="http://schemas.openxmlformats.org/officeDocument/2006/relationships/hyperlink" Target="https://www.youtube.com/watch?v=ReM1uqmVfP0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/301719119_A_Method_of_Assigning_Weights_Using_a_Ranking_and_Nonhierarchy_Comparison/figures?lo=1&amp;utm_source=google&amp;utm_medium=organic" TargetMode="External"/><Relationship Id="rId2" Type="http://schemas.openxmlformats.org/officeDocument/2006/relationships/hyperlink" Target="https://expertprogrammanagement.com/2017/09/decision-matrix-analysis/" TargetMode="Externa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IK April 2024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>
            <a:normAutofit lnSpcReduction="10000"/>
          </a:bodyPr>
          <a:lstStyle/>
          <a:p>
            <a:r>
              <a:rPr lang="en-AU" dirty="0"/>
              <a:t>2026</a:t>
            </a:r>
            <a:endParaRPr dirty="0"/>
          </a:p>
        </p:txBody>
      </p:sp>
      <p:sp>
        <p:nvSpPr>
          <p:cNvPr id="152" name="Analysis and concept creation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38911">
              <a:lnSpc>
                <a:spcPct val="100000"/>
              </a:lnSpc>
              <a:defRPr sz="14848" spc="0"/>
            </a:lvl1pPr>
          </a:lstStyle>
          <a:p>
            <a:r>
              <a:t>Analysis and concept creation </a:t>
            </a:r>
          </a:p>
        </p:txBody>
      </p:sp>
      <p:sp>
        <p:nvSpPr>
          <p:cNvPr id="153" name="DESN2000 Workshop, Week 2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defRPr sz="7333" b="0"/>
            </a:lvl1pPr>
          </a:lstStyle>
          <a:p>
            <a:r>
              <a:rPr dirty="0"/>
              <a:t>DESN2000 Workshop, Week </a:t>
            </a:r>
            <a:r>
              <a:rPr lang="en-AU" dirty="0"/>
              <a:t>5</a:t>
            </a:r>
            <a:endParaRPr sz="12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oda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Today</a:t>
            </a:r>
          </a:p>
        </p:txBody>
      </p:sp>
      <p:sp>
        <p:nvSpPr>
          <p:cNvPr id="157" name="This workshop runs you through a process from data to a concept…"/>
          <p:cNvSpPr txBox="1">
            <a:spLocks noGrp="1"/>
          </p:cNvSpPr>
          <p:nvPr>
            <p:ph type="body" sz="half" idx="1"/>
          </p:nvPr>
        </p:nvSpPr>
        <p:spPr>
          <a:xfrm>
            <a:off x="1206500" y="4248504"/>
            <a:ext cx="21971000" cy="6081667"/>
          </a:xfrm>
          <a:prstGeom prst="rect">
            <a:avLst/>
          </a:prstGeom>
        </p:spPr>
        <p:txBody>
          <a:bodyPr/>
          <a:lstStyle/>
          <a:p>
            <a:r>
              <a:t>This workshop runs you through a process from data to a concept</a:t>
            </a:r>
          </a:p>
          <a:p>
            <a:r>
              <a:t>The steps are at the bottom of this page</a:t>
            </a:r>
          </a:p>
          <a:p>
            <a:r>
              <a:t>Why a process like this? Its steps can be traced afterwards, and you can explain your decisions</a:t>
            </a:r>
          </a:p>
        </p:txBody>
      </p:sp>
      <p:sp>
        <p:nvSpPr>
          <p:cNvPr id="158" name="Line"/>
          <p:cNvSpPr/>
          <p:nvPr/>
        </p:nvSpPr>
        <p:spPr>
          <a:xfrm>
            <a:off x="341092" y="11121181"/>
            <a:ext cx="23701817" cy="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59" name="Line"/>
          <p:cNvSpPr/>
          <p:nvPr/>
        </p:nvSpPr>
        <p:spPr>
          <a:xfrm flipV="1">
            <a:off x="378275" y="11121181"/>
            <a:ext cx="1901496" cy="1"/>
          </a:xfrm>
          <a:prstGeom prst="line">
            <a:avLst/>
          </a:prstGeom>
          <a:ln w="1016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grpSp>
        <p:nvGrpSpPr>
          <p:cNvPr id="184" name="Group"/>
          <p:cNvGrpSpPr/>
          <p:nvPr/>
        </p:nvGrpSpPr>
        <p:grpSpPr>
          <a:xfrm>
            <a:off x="590795" y="11435545"/>
            <a:ext cx="23202408" cy="1827515"/>
            <a:chOff x="-1" y="-1"/>
            <a:chExt cx="23202408" cy="1827512"/>
          </a:xfrm>
        </p:grpSpPr>
        <p:sp>
          <p:nvSpPr>
            <p:cNvPr id="160" name="Intro"/>
            <p:cNvSpPr txBox="1"/>
            <p:nvPr/>
          </p:nvSpPr>
          <p:spPr>
            <a:xfrm>
              <a:off x="-1" y="596306"/>
              <a:ext cx="1037388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>
                  <a:solidFill>
                    <a:schemeClr val="accent4"/>
                  </a:solidFill>
                </a:defRPr>
              </a:lvl1pPr>
            </a:lstStyle>
            <a:p>
              <a:r>
                <a:t>Intro</a:t>
              </a:r>
            </a:p>
          </p:txBody>
        </p:sp>
        <p:sp>
          <p:nvSpPr>
            <p:cNvPr id="161" name="Organise data"/>
            <p:cNvSpPr txBox="1"/>
            <p:nvPr/>
          </p:nvSpPr>
          <p:spPr>
            <a:xfrm>
              <a:off x="1563989" y="596306"/>
              <a:ext cx="2972258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Organise data</a:t>
              </a:r>
            </a:p>
          </p:txBody>
        </p:sp>
        <p:sp>
          <p:nvSpPr>
            <p:cNvPr id="162" name="Analysis"/>
            <p:cNvSpPr txBox="1"/>
            <p:nvPr/>
          </p:nvSpPr>
          <p:spPr>
            <a:xfrm>
              <a:off x="4912787" y="596306"/>
              <a:ext cx="1799083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Analysis</a:t>
              </a:r>
            </a:p>
          </p:txBody>
        </p:sp>
        <p:sp>
          <p:nvSpPr>
            <p:cNvPr id="163" name="Ideation"/>
            <p:cNvSpPr txBox="1"/>
            <p:nvPr/>
          </p:nvSpPr>
          <p:spPr>
            <a:xfrm>
              <a:off x="11970350" y="595150"/>
              <a:ext cx="1757021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Ideation</a:t>
              </a:r>
            </a:p>
          </p:txBody>
        </p:sp>
        <p:sp>
          <p:nvSpPr>
            <p:cNvPr id="164" name="Select concept"/>
            <p:cNvSpPr txBox="1"/>
            <p:nvPr/>
          </p:nvSpPr>
          <p:spPr>
            <a:xfrm>
              <a:off x="14562001" y="596306"/>
              <a:ext cx="3188057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Select concept</a:t>
              </a:r>
            </a:p>
          </p:txBody>
        </p:sp>
        <p:sp>
          <p:nvSpPr>
            <p:cNvPr id="165" name="Wrap-up"/>
            <p:cNvSpPr txBox="1"/>
            <p:nvPr/>
          </p:nvSpPr>
          <p:spPr>
            <a:xfrm>
              <a:off x="21300911" y="596306"/>
              <a:ext cx="1901496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Wrap-up</a:t>
              </a:r>
            </a:p>
          </p:txBody>
        </p:sp>
        <p:sp>
          <p:nvSpPr>
            <p:cNvPr id="166" name="5 min"/>
            <p:cNvSpPr txBox="1"/>
            <p:nvPr/>
          </p:nvSpPr>
          <p:spPr>
            <a:xfrm>
              <a:off x="23266" y="-1"/>
              <a:ext cx="99085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5 min</a:t>
              </a:r>
            </a:p>
          </p:txBody>
        </p:sp>
        <p:sp>
          <p:nvSpPr>
            <p:cNvPr id="167" name="15 min"/>
            <p:cNvSpPr txBox="1"/>
            <p:nvPr/>
          </p:nvSpPr>
          <p:spPr>
            <a:xfrm>
              <a:off x="2455834" y="0"/>
              <a:ext cx="1188569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15 min</a:t>
              </a:r>
            </a:p>
          </p:txBody>
        </p:sp>
        <p:sp>
          <p:nvSpPr>
            <p:cNvPr id="168" name="15 min"/>
            <p:cNvSpPr txBox="1"/>
            <p:nvPr/>
          </p:nvSpPr>
          <p:spPr>
            <a:xfrm>
              <a:off x="5218044" y="0"/>
              <a:ext cx="1188568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15 min</a:t>
              </a:r>
            </a:p>
          </p:txBody>
        </p:sp>
        <p:sp>
          <p:nvSpPr>
            <p:cNvPr id="169" name="20 min"/>
            <p:cNvSpPr txBox="1"/>
            <p:nvPr/>
          </p:nvSpPr>
          <p:spPr>
            <a:xfrm>
              <a:off x="12254576" y="1156"/>
              <a:ext cx="118856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20 min</a:t>
              </a:r>
            </a:p>
          </p:txBody>
        </p:sp>
        <p:sp>
          <p:nvSpPr>
            <p:cNvPr id="170" name="15 min"/>
            <p:cNvSpPr txBox="1"/>
            <p:nvPr/>
          </p:nvSpPr>
          <p:spPr>
            <a:xfrm>
              <a:off x="15561745" y="1156"/>
              <a:ext cx="118856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15 min</a:t>
              </a:r>
            </a:p>
          </p:txBody>
        </p:sp>
        <p:sp>
          <p:nvSpPr>
            <p:cNvPr id="171" name="5 min"/>
            <p:cNvSpPr txBox="1"/>
            <p:nvPr/>
          </p:nvSpPr>
          <p:spPr>
            <a:xfrm>
              <a:off x="21756231" y="-1"/>
              <a:ext cx="99085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5 min</a:t>
              </a:r>
            </a:p>
          </p:txBody>
        </p:sp>
        <p:sp>
          <p:nvSpPr>
            <p:cNvPr id="172" name="All"/>
            <p:cNvSpPr txBox="1"/>
            <p:nvPr/>
          </p:nvSpPr>
          <p:spPr>
            <a:xfrm>
              <a:off x="267385" y="1304066"/>
              <a:ext cx="502616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All</a:t>
              </a:r>
            </a:p>
          </p:txBody>
        </p:sp>
        <p:sp>
          <p:nvSpPr>
            <p:cNvPr id="173" name="Team"/>
            <p:cNvSpPr txBox="1"/>
            <p:nvPr/>
          </p:nvSpPr>
          <p:spPr>
            <a:xfrm>
              <a:off x="2568026" y="1304066"/>
              <a:ext cx="96418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174" name="Team"/>
            <p:cNvSpPr txBox="1"/>
            <p:nvPr/>
          </p:nvSpPr>
          <p:spPr>
            <a:xfrm>
              <a:off x="5330235" y="1304066"/>
              <a:ext cx="96418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175" name="Team"/>
            <p:cNvSpPr txBox="1"/>
            <p:nvPr/>
          </p:nvSpPr>
          <p:spPr>
            <a:xfrm>
              <a:off x="12366768" y="1302911"/>
              <a:ext cx="96418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176" name="Team"/>
            <p:cNvSpPr txBox="1"/>
            <p:nvPr/>
          </p:nvSpPr>
          <p:spPr>
            <a:xfrm>
              <a:off x="15673937" y="1304066"/>
              <a:ext cx="96418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177" name="All"/>
            <p:cNvSpPr txBox="1"/>
            <p:nvPr/>
          </p:nvSpPr>
          <p:spPr>
            <a:xfrm>
              <a:off x="22000351" y="1304066"/>
              <a:ext cx="502616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All</a:t>
              </a:r>
            </a:p>
          </p:txBody>
        </p:sp>
        <p:sp>
          <p:nvSpPr>
            <p:cNvPr id="178" name="Subsystems"/>
            <p:cNvSpPr txBox="1"/>
            <p:nvPr/>
          </p:nvSpPr>
          <p:spPr>
            <a:xfrm>
              <a:off x="18345100" y="596306"/>
              <a:ext cx="2629815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Subsystems</a:t>
              </a:r>
            </a:p>
          </p:txBody>
        </p:sp>
        <p:sp>
          <p:nvSpPr>
            <p:cNvPr id="179" name="20 min"/>
            <p:cNvSpPr txBox="1"/>
            <p:nvPr/>
          </p:nvSpPr>
          <p:spPr>
            <a:xfrm>
              <a:off x="19065723" y="0"/>
              <a:ext cx="1188569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20 min</a:t>
              </a:r>
            </a:p>
          </p:txBody>
        </p:sp>
        <p:sp>
          <p:nvSpPr>
            <p:cNvPr id="180" name="Team"/>
            <p:cNvSpPr txBox="1"/>
            <p:nvPr/>
          </p:nvSpPr>
          <p:spPr>
            <a:xfrm>
              <a:off x="19177915" y="1304066"/>
              <a:ext cx="96418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181" name="Value proposition"/>
            <p:cNvSpPr txBox="1"/>
            <p:nvPr/>
          </p:nvSpPr>
          <p:spPr>
            <a:xfrm>
              <a:off x="7490006" y="595150"/>
              <a:ext cx="3645714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Value proposition</a:t>
              </a:r>
            </a:p>
          </p:txBody>
        </p:sp>
        <p:sp>
          <p:nvSpPr>
            <p:cNvPr id="182" name="10 min"/>
            <p:cNvSpPr txBox="1"/>
            <p:nvPr/>
          </p:nvSpPr>
          <p:spPr>
            <a:xfrm>
              <a:off x="8609820" y="1156"/>
              <a:ext cx="1188568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10 min</a:t>
              </a:r>
            </a:p>
          </p:txBody>
        </p:sp>
        <p:sp>
          <p:nvSpPr>
            <p:cNvPr id="183" name="Team"/>
            <p:cNvSpPr txBox="1"/>
            <p:nvPr/>
          </p:nvSpPr>
          <p:spPr>
            <a:xfrm>
              <a:off x="8722012" y="1302911"/>
              <a:ext cx="96418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</p:grp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Organize data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Organize data</a:t>
            </a:r>
          </a:p>
        </p:txBody>
      </p:sp>
      <p:sp>
        <p:nvSpPr>
          <p:cNvPr id="187" name="Over the last few days, you have collected a wealth of data, but it is probably still in bits and pieces: it is data, not information…"/>
          <p:cNvSpPr txBox="1">
            <a:spLocks noGrp="1"/>
          </p:cNvSpPr>
          <p:nvPr>
            <p:ph type="body" sz="half" idx="1"/>
          </p:nvPr>
        </p:nvSpPr>
        <p:spPr>
          <a:xfrm>
            <a:off x="1206500" y="3687189"/>
            <a:ext cx="21971000" cy="6081666"/>
          </a:xfrm>
          <a:prstGeom prst="rect">
            <a:avLst/>
          </a:prstGeom>
        </p:spPr>
        <p:txBody>
          <a:bodyPr/>
          <a:lstStyle/>
          <a:p>
            <a:pPr marL="524255" indent="-524255" defTabSz="2096971">
              <a:spcBef>
                <a:spcPts val="3800"/>
              </a:spcBef>
              <a:defRPr sz="4128"/>
            </a:pPr>
            <a:r>
              <a:rPr dirty="0"/>
              <a:t>Over the last few </a:t>
            </a:r>
            <a:r>
              <a:rPr lang="en-AU" dirty="0"/>
              <a:t>weeks</a:t>
            </a:r>
            <a:r>
              <a:rPr dirty="0"/>
              <a:t>, you have collected a wealth of data, but it is probably still in bits and pieces: it is data, not information</a:t>
            </a:r>
          </a:p>
          <a:p>
            <a:pPr marL="524255" indent="-524255" defTabSz="2096971">
              <a:spcBef>
                <a:spcPts val="3800"/>
              </a:spcBef>
              <a:defRPr sz="4128"/>
            </a:pPr>
            <a:r>
              <a:rPr dirty="0"/>
              <a:t>In next 10 min</a:t>
            </a:r>
          </a:p>
          <a:p>
            <a:pPr marL="1048511" lvl="1" indent="-524255" defTabSz="2096971">
              <a:spcBef>
                <a:spcPts val="3800"/>
              </a:spcBef>
              <a:defRPr sz="4128"/>
            </a:pPr>
            <a:r>
              <a:rPr dirty="0"/>
              <a:t>Each team member should tell what they have collected, and share it</a:t>
            </a:r>
          </a:p>
          <a:p>
            <a:pPr marL="1048511" lvl="1" indent="-524255" defTabSz="2096971">
              <a:spcBef>
                <a:spcPts val="3800"/>
              </a:spcBef>
              <a:defRPr sz="4128"/>
            </a:pPr>
            <a:r>
              <a:rPr dirty="0"/>
              <a:t>Use A4s, </a:t>
            </a:r>
            <a:r>
              <a:rPr dirty="0" err="1"/>
              <a:t>post-its</a:t>
            </a:r>
            <a:r>
              <a:rPr dirty="0"/>
              <a:t>, or a digital platform like Miro, Canva or OneNote to map what you have</a:t>
            </a:r>
          </a:p>
          <a:p>
            <a:pPr marL="1048511" lvl="1" indent="-524255" defTabSz="2096971">
              <a:spcBef>
                <a:spcPts val="3800"/>
              </a:spcBef>
              <a:defRPr sz="4128"/>
            </a:pPr>
            <a:r>
              <a:rPr dirty="0"/>
              <a:t>Also write down notes about what you think is missing</a:t>
            </a:r>
          </a:p>
        </p:txBody>
      </p:sp>
      <p:sp>
        <p:nvSpPr>
          <p:cNvPr id="188" name="Line"/>
          <p:cNvSpPr/>
          <p:nvPr/>
        </p:nvSpPr>
        <p:spPr>
          <a:xfrm>
            <a:off x="341092" y="11121181"/>
            <a:ext cx="23701817" cy="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89" name="Line"/>
          <p:cNvSpPr/>
          <p:nvPr/>
        </p:nvSpPr>
        <p:spPr>
          <a:xfrm flipV="1">
            <a:off x="2722264" y="11121181"/>
            <a:ext cx="1901496" cy="1"/>
          </a:xfrm>
          <a:prstGeom prst="line">
            <a:avLst/>
          </a:prstGeom>
          <a:ln w="1016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grpSp>
        <p:nvGrpSpPr>
          <p:cNvPr id="214" name="Group"/>
          <p:cNvGrpSpPr/>
          <p:nvPr/>
        </p:nvGrpSpPr>
        <p:grpSpPr>
          <a:xfrm>
            <a:off x="590795" y="11435545"/>
            <a:ext cx="23202408" cy="1827515"/>
            <a:chOff x="-1" y="-1"/>
            <a:chExt cx="23202408" cy="1827512"/>
          </a:xfrm>
        </p:grpSpPr>
        <p:sp>
          <p:nvSpPr>
            <p:cNvPr id="190" name="Intro"/>
            <p:cNvSpPr txBox="1"/>
            <p:nvPr/>
          </p:nvSpPr>
          <p:spPr>
            <a:xfrm>
              <a:off x="-1" y="596306"/>
              <a:ext cx="1037388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Intro</a:t>
              </a:r>
            </a:p>
          </p:txBody>
        </p:sp>
        <p:sp>
          <p:nvSpPr>
            <p:cNvPr id="191" name="Organise data"/>
            <p:cNvSpPr txBox="1"/>
            <p:nvPr/>
          </p:nvSpPr>
          <p:spPr>
            <a:xfrm>
              <a:off x="1563989" y="596306"/>
              <a:ext cx="2972258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>
                  <a:solidFill>
                    <a:schemeClr val="accent4"/>
                  </a:solidFill>
                </a:defRPr>
              </a:lvl1pPr>
            </a:lstStyle>
            <a:p>
              <a:r>
                <a:t>Organise data</a:t>
              </a:r>
            </a:p>
          </p:txBody>
        </p:sp>
        <p:sp>
          <p:nvSpPr>
            <p:cNvPr id="192" name="Analysis"/>
            <p:cNvSpPr txBox="1"/>
            <p:nvPr/>
          </p:nvSpPr>
          <p:spPr>
            <a:xfrm>
              <a:off x="4912787" y="596306"/>
              <a:ext cx="1799083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Analysis</a:t>
              </a:r>
            </a:p>
          </p:txBody>
        </p:sp>
        <p:sp>
          <p:nvSpPr>
            <p:cNvPr id="193" name="Ideation"/>
            <p:cNvSpPr txBox="1"/>
            <p:nvPr/>
          </p:nvSpPr>
          <p:spPr>
            <a:xfrm>
              <a:off x="11970350" y="595150"/>
              <a:ext cx="1757021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Ideation</a:t>
              </a:r>
            </a:p>
          </p:txBody>
        </p:sp>
        <p:sp>
          <p:nvSpPr>
            <p:cNvPr id="194" name="Select concept"/>
            <p:cNvSpPr txBox="1"/>
            <p:nvPr/>
          </p:nvSpPr>
          <p:spPr>
            <a:xfrm>
              <a:off x="14562001" y="596306"/>
              <a:ext cx="3188057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Select concept</a:t>
              </a:r>
            </a:p>
          </p:txBody>
        </p:sp>
        <p:sp>
          <p:nvSpPr>
            <p:cNvPr id="195" name="Wrap-up"/>
            <p:cNvSpPr txBox="1"/>
            <p:nvPr/>
          </p:nvSpPr>
          <p:spPr>
            <a:xfrm>
              <a:off x="21300911" y="596306"/>
              <a:ext cx="1901496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Wrap-up</a:t>
              </a:r>
            </a:p>
          </p:txBody>
        </p:sp>
        <p:sp>
          <p:nvSpPr>
            <p:cNvPr id="196" name="5 min"/>
            <p:cNvSpPr txBox="1"/>
            <p:nvPr/>
          </p:nvSpPr>
          <p:spPr>
            <a:xfrm>
              <a:off x="23266" y="-1"/>
              <a:ext cx="99085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5 min</a:t>
              </a:r>
            </a:p>
          </p:txBody>
        </p:sp>
        <p:sp>
          <p:nvSpPr>
            <p:cNvPr id="197" name="10 min"/>
            <p:cNvSpPr txBox="1"/>
            <p:nvPr/>
          </p:nvSpPr>
          <p:spPr>
            <a:xfrm>
              <a:off x="2455834" y="0"/>
              <a:ext cx="1188569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10 min</a:t>
              </a:r>
            </a:p>
          </p:txBody>
        </p:sp>
        <p:sp>
          <p:nvSpPr>
            <p:cNvPr id="198" name="15 min"/>
            <p:cNvSpPr txBox="1"/>
            <p:nvPr/>
          </p:nvSpPr>
          <p:spPr>
            <a:xfrm>
              <a:off x="5218044" y="0"/>
              <a:ext cx="1188568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15 min</a:t>
              </a:r>
            </a:p>
          </p:txBody>
        </p:sp>
        <p:sp>
          <p:nvSpPr>
            <p:cNvPr id="199" name="20 min"/>
            <p:cNvSpPr txBox="1"/>
            <p:nvPr/>
          </p:nvSpPr>
          <p:spPr>
            <a:xfrm>
              <a:off x="12254576" y="1156"/>
              <a:ext cx="118856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20 min</a:t>
              </a:r>
            </a:p>
          </p:txBody>
        </p:sp>
        <p:sp>
          <p:nvSpPr>
            <p:cNvPr id="200" name="15 min"/>
            <p:cNvSpPr txBox="1"/>
            <p:nvPr/>
          </p:nvSpPr>
          <p:spPr>
            <a:xfrm>
              <a:off x="15561745" y="1156"/>
              <a:ext cx="118856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15 min</a:t>
              </a:r>
            </a:p>
          </p:txBody>
        </p:sp>
        <p:sp>
          <p:nvSpPr>
            <p:cNvPr id="201" name="5 min"/>
            <p:cNvSpPr txBox="1"/>
            <p:nvPr/>
          </p:nvSpPr>
          <p:spPr>
            <a:xfrm>
              <a:off x="21756231" y="-1"/>
              <a:ext cx="99085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5 min</a:t>
              </a:r>
            </a:p>
          </p:txBody>
        </p:sp>
        <p:sp>
          <p:nvSpPr>
            <p:cNvPr id="202" name="All"/>
            <p:cNvSpPr txBox="1"/>
            <p:nvPr/>
          </p:nvSpPr>
          <p:spPr>
            <a:xfrm>
              <a:off x="267385" y="1304066"/>
              <a:ext cx="502616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All</a:t>
              </a:r>
            </a:p>
          </p:txBody>
        </p:sp>
        <p:sp>
          <p:nvSpPr>
            <p:cNvPr id="203" name="Team"/>
            <p:cNvSpPr txBox="1"/>
            <p:nvPr/>
          </p:nvSpPr>
          <p:spPr>
            <a:xfrm>
              <a:off x="2568026" y="1304066"/>
              <a:ext cx="96418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204" name="Team"/>
            <p:cNvSpPr txBox="1"/>
            <p:nvPr/>
          </p:nvSpPr>
          <p:spPr>
            <a:xfrm>
              <a:off x="5330235" y="1304066"/>
              <a:ext cx="96418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205" name="Team"/>
            <p:cNvSpPr txBox="1"/>
            <p:nvPr/>
          </p:nvSpPr>
          <p:spPr>
            <a:xfrm>
              <a:off x="12366768" y="1302911"/>
              <a:ext cx="96418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206" name="Team"/>
            <p:cNvSpPr txBox="1"/>
            <p:nvPr/>
          </p:nvSpPr>
          <p:spPr>
            <a:xfrm>
              <a:off x="15673937" y="1304066"/>
              <a:ext cx="96418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207" name="All"/>
            <p:cNvSpPr txBox="1"/>
            <p:nvPr/>
          </p:nvSpPr>
          <p:spPr>
            <a:xfrm>
              <a:off x="22000351" y="1304066"/>
              <a:ext cx="502616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All</a:t>
              </a:r>
            </a:p>
          </p:txBody>
        </p:sp>
        <p:sp>
          <p:nvSpPr>
            <p:cNvPr id="208" name="Subsystems"/>
            <p:cNvSpPr txBox="1"/>
            <p:nvPr/>
          </p:nvSpPr>
          <p:spPr>
            <a:xfrm>
              <a:off x="18345100" y="596306"/>
              <a:ext cx="2629815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Subsystems</a:t>
              </a:r>
            </a:p>
          </p:txBody>
        </p:sp>
        <p:sp>
          <p:nvSpPr>
            <p:cNvPr id="209" name="20 min"/>
            <p:cNvSpPr txBox="1"/>
            <p:nvPr/>
          </p:nvSpPr>
          <p:spPr>
            <a:xfrm>
              <a:off x="19065723" y="0"/>
              <a:ext cx="1188569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20 min</a:t>
              </a:r>
            </a:p>
          </p:txBody>
        </p:sp>
        <p:sp>
          <p:nvSpPr>
            <p:cNvPr id="210" name="Team"/>
            <p:cNvSpPr txBox="1"/>
            <p:nvPr/>
          </p:nvSpPr>
          <p:spPr>
            <a:xfrm>
              <a:off x="19177915" y="1304066"/>
              <a:ext cx="96418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211" name="Value proposition"/>
            <p:cNvSpPr txBox="1"/>
            <p:nvPr/>
          </p:nvSpPr>
          <p:spPr>
            <a:xfrm>
              <a:off x="7490006" y="595150"/>
              <a:ext cx="3645714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Value proposition</a:t>
              </a:r>
            </a:p>
          </p:txBody>
        </p:sp>
        <p:sp>
          <p:nvSpPr>
            <p:cNvPr id="212" name="15 min"/>
            <p:cNvSpPr txBox="1"/>
            <p:nvPr/>
          </p:nvSpPr>
          <p:spPr>
            <a:xfrm>
              <a:off x="8609820" y="1156"/>
              <a:ext cx="1188568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15 min</a:t>
              </a:r>
            </a:p>
          </p:txBody>
        </p:sp>
        <p:sp>
          <p:nvSpPr>
            <p:cNvPr id="213" name="Team"/>
            <p:cNvSpPr txBox="1"/>
            <p:nvPr/>
          </p:nvSpPr>
          <p:spPr>
            <a:xfrm>
              <a:off x="8722012" y="1302911"/>
              <a:ext cx="96418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</p:grp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Analysis 1/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Analysis 1/2</a:t>
            </a:r>
          </a:p>
        </p:txBody>
      </p:sp>
      <p:sp>
        <p:nvSpPr>
          <p:cNvPr id="217" name="Next step is analysis, or steps that turn your data into an informative signal…"/>
          <p:cNvSpPr txBox="1">
            <a:spLocks noGrp="1"/>
          </p:cNvSpPr>
          <p:nvPr>
            <p:ph type="body" idx="1"/>
          </p:nvPr>
        </p:nvSpPr>
        <p:spPr>
          <a:xfrm>
            <a:off x="1206500" y="3402064"/>
            <a:ext cx="21971000" cy="7156122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dirty="0"/>
              <a:t>Next step is analysis, or steps that turn your data into an informative signal</a:t>
            </a:r>
            <a:r>
              <a:rPr lang="en-AU" dirty="0"/>
              <a:t>s</a:t>
            </a:r>
            <a:endParaRPr dirty="0"/>
          </a:p>
          <a:p>
            <a:r>
              <a:rPr dirty="0"/>
              <a:t>In your team, please</a:t>
            </a:r>
          </a:p>
          <a:p>
            <a:pPr lvl="1"/>
            <a:r>
              <a:rPr dirty="0"/>
              <a:t>First, each team member runs through his/her bit of data and tells what is interesting in them</a:t>
            </a:r>
          </a:p>
          <a:p>
            <a:pPr marL="1219200" lvl="2" indent="0">
              <a:buNone/>
            </a:pPr>
            <a:r>
              <a:rPr lang="en-AU" dirty="0"/>
              <a:t>**</a:t>
            </a:r>
            <a:r>
              <a:rPr dirty="0"/>
              <a:t>Keep notes about these potential observations</a:t>
            </a:r>
            <a:r>
              <a:rPr lang="en-AU" dirty="0"/>
              <a:t> for each person, even if it is the same! </a:t>
            </a:r>
            <a:endParaRPr dirty="0"/>
          </a:p>
          <a:p>
            <a:pPr lvl="1"/>
            <a:r>
              <a:rPr dirty="0"/>
              <a:t>Second, compare these observations to see which observations converge, and which ones remain isolated/random observations</a:t>
            </a:r>
          </a:p>
        </p:txBody>
      </p:sp>
      <p:sp>
        <p:nvSpPr>
          <p:cNvPr id="218" name="Line"/>
          <p:cNvSpPr/>
          <p:nvPr/>
        </p:nvSpPr>
        <p:spPr>
          <a:xfrm>
            <a:off x="341092" y="11121181"/>
            <a:ext cx="23701817" cy="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19" name="Line"/>
          <p:cNvSpPr/>
          <p:nvPr/>
        </p:nvSpPr>
        <p:spPr>
          <a:xfrm flipV="1">
            <a:off x="5522029" y="11121181"/>
            <a:ext cx="1901496" cy="1"/>
          </a:xfrm>
          <a:prstGeom prst="line">
            <a:avLst/>
          </a:prstGeom>
          <a:ln w="1016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grpSp>
        <p:nvGrpSpPr>
          <p:cNvPr id="244" name="Group"/>
          <p:cNvGrpSpPr/>
          <p:nvPr/>
        </p:nvGrpSpPr>
        <p:grpSpPr>
          <a:xfrm>
            <a:off x="590795" y="11435545"/>
            <a:ext cx="23202408" cy="1827515"/>
            <a:chOff x="-1" y="-1"/>
            <a:chExt cx="23202408" cy="1827512"/>
          </a:xfrm>
        </p:grpSpPr>
        <p:sp>
          <p:nvSpPr>
            <p:cNvPr id="220" name="Intro"/>
            <p:cNvSpPr txBox="1"/>
            <p:nvPr/>
          </p:nvSpPr>
          <p:spPr>
            <a:xfrm>
              <a:off x="-1" y="596306"/>
              <a:ext cx="1037388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Intro</a:t>
              </a:r>
            </a:p>
          </p:txBody>
        </p:sp>
        <p:sp>
          <p:nvSpPr>
            <p:cNvPr id="221" name="Organise data"/>
            <p:cNvSpPr txBox="1"/>
            <p:nvPr/>
          </p:nvSpPr>
          <p:spPr>
            <a:xfrm>
              <a:off x="1563989" y="596306"/>
              <a:ext cx="2972258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Organise data</a:t>
              </a:r>
            </a:p>
          </p:txBody>
        </p:sp>
        <p:sp>
          <p:nvSpPr>
            <p:cNvPr id="222" name="Analysis"/>
            <p:cNvSpPr txBox="1"/>
            <p:nvPr/>
          </p:nvSpPr>
          <p:spPr>
            <a:xfrm>
              <a:off x="4912787" y="596306"/>
              <a:ext cx="1799083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>
                  <a:solidFill>
                    <a:schemeClr val="accent4"/>
                  </a:solidFill>
                </a:defRPr>
              </a:lvl1pPr>
            </a:lstStyle>
            <a:p>
              <a:r>
                <a:t>Analysis</a:t>
              </a:r>
            </a:p>
          </p:txBody>
        </p:sp>
        <p:sp>
          <p:nvSpPr>
            <p:cNvPr id="223" name="Ideation"/>
            <p:cNvSpPr txBox="1"/>
            <p:nvPr/>
          </p:nvSpPr>
          <p:spPr>
            <a:xfrm>
              <a:off x="11970350" y="595150"/>
              <a:ext cx="1757021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Ideation</a:t>
              </a:r>
            </a:p>
          </p:txBody>
        </p:sp>
        <p:sp>
          <p:nvSpPr>
            <p:cNvPr id="224" name="Select concept"/>
            <p:cNvSpPr txBox="1"/>
            <p:nvPr/>
          </p:nvSpPr>
          <p:spPr>
            <a:xfrm>
              <a:off x="14562001" y="596306"/>
              <a:ext cx="3188057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Select concept</a:t>
              </a:r>
            </a:p>
          </p:txBody>
        </p:sp>
        <p:sp>
          <p:nvSpPr>
            <p:cNvPr id="225" name="Wrap-up"/>
            <p:cNvSpPr txBox="1"/>
            <p:nvPr/>
          </p:nvSpPr>
          <p:spPr>
            <a:xfrm>
              <a:off x="21300911" y="596306"/>
              <a:ext cx="1901496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Wrap-up</a:t>
              </a:r>
            </a:p>
          </p:txBody>
        </p:sp>
        <p:sp>
          <p:nvSpPr>
            <p:cNvPr id="226" name="5 min"/>
            <p:cNvSpPr txBox="1"/>
            <p:nvPr/>
          </p:nvSpPr>
          <p:spPr>
            <a:xfrm>
              <a:off x="23266" y="-1"/>
              <a:ext cx="99085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5 min</a:t>
              </a:r>
            </a:p>
          </p:txBody>
        </p:sp>
        <p:sp>
          <p:nvSpPr>
            <p:cNvPr id="227" name="15 min"/>
            <p:cNvSpPr txBox="1"/>
            <p:nvPr/>
          </p:nvSpPr>
          <p:spPr>
            <a:xfrm>
              <a:off x="2455834" y="0"/>
              <a:ext cx="1188569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15 min</a:t>
              </a:r>
            </a:p>
          </p:txBody>
        </p:sp>
        <p:sp>
          <p:nvSpPr>
            <p:cNvPr id="228" name="15 min"/>
            <p:cNvSpPr txBox="1"/>
            <p:nvPr/>
          </p:nvSpPr>
          <p:spPr>
            <a:xfrm>
              <a:off x="5218044" y="0"/>
              <a:ext cx="1188568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15 min</a:t>
              </a:r>
            </a:p>
          </p:txBody>
        </p:sp>
        <p:sp>
          <p:nvSpPr>
            <p:cNvPr id="229" name="20 min"/>
            <p:cNvSpPr txBox="1"/>
            <p:nvPr/>
          </p:nvSpPr>
          <p:spPr>
            <a:xfrm>
              <a:off x="12254576" y="1156"/>
              <a:ext cx="118856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20 min</a:t>
              </a:r>
            </a:p>
          </p:txBody>
        </p:sp>
        <p:sp>
          <p:nvSpPr>
            <p:cNvPr id="230" name="15 min"/>
            <p:cNvSpPr txBox="1"/>
            <p:nvPr/>
          </p:nvSpPr>
          <p:spPr>
            <a:xfrm>
              <a:off x="15561745" y="1156"/>
              <a:ext cx="118856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15 min</a:t>
              </a:r>
            </a:p>
          </p:txBody>
        </p:sp>
        <p:sp>
          <p:nvSpPr>
            <p:cNvPr id="231" name="5 min"/>
            <p:cNvSpPr txBox="1"/>
            <p:nvPr/>
          </p:nvSpPr>
          <p:spPr>
            <a:xfrm>
              <a:off x="21756231" y="-1"/>
              <a:ext cx="99085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5 min</a:t>
              </a:r>
            </a:p>
          </p:txBody>
        </p:sp>
        <p:sp>
          <p:nvSpPr>
            <p:cNvPr id="232" name="All"/>
            <p:cNvSpPr txBox="1"/>
            <p:nvPr/>
          </p:nvSpPr>
          <p:spPr>
            <a:xfrm>
              <a:off x="267385" y="1304066"/>
              <a:ext cx="502616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All</a:t>
              </a:r>
            </a:p>
          </p:txBody>
        </p:sp>
        <p:sp>
          <p:nvSpPr>
            <p:cNvPr id="233" name="Team"/>
            <p:cNvSpPr txBox="1"/>
            <p:nvPr/>
          </p:nvSpPr>
          <p:spPr>
            <a:xfrm>
              <a:off x="2568026" y="1304066"/>
              <a:ext cx="96418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234" name="Team"/>
            <p:cNvSpPr txBox="1"/>
            <p:nvPr/>
          </p:nvSpPr>
          <p:spPr>
            <a:xfrm>
              <a:off x="5330235" y="1304066"/>
              <a:ext cx="96418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235" name="Team"/>
            <p:cNvSpPr txBox="1"/>
            <p:nvPr/>
          </p:nvSpPr>
          <p:spPr>
            <a:xfrm>
              <a:off x="12366768" y="1302911"/>
              <a:ext cx="96418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236" name="Team"/>
            <p:cNvSpPr txBox="1"/>
            <p:nvPr/>
          </p:nvSpPr>
          <p:spPr>
            <a:xfrm>
              <a:off x="15673937" y="1304066"/>
              <a:ext cx="96418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237" name="All"/>
            <p:cNvSpPr txBox="1"/>
            <p:nvPr/>
          </p:nvSpPr>
          <p:spPr>
            <a:xfrm>
              <a:off x="22000351" y="1304066"/>
              <a:ext cx="502616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All</a:t>
              </a:r>
            </a:p>
          </p:txBody>
        </p:sp>
        <p:sp>
          <p:nvSpPr>
            <p:cNvPr id="238" name="Subsystems"/>
            <p:cNvSpPr txBox="1"/>
            <p:nvPr/>
          </p:nvSpPr>
          <p:spPr>
            <a:xfrm>
              <a:off x="18345100" y="596306"/>
              <a:ext cx="2629815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Subsystems</a:t>
              </a:r>
            </a:p>
          </p:txBody>
        </p:sp>
        <p:sp>
          <p:nvSpPr>
            <p:cNvPr id="239" name="20 min"/>
            <p:cNvSpPr txBox="1"/>
            <p:nvPr/>
          </p:nvSpPr>
          <p:spPr>
            <a:xfrm>
              <a:off x="19065723" y="0"/>
              <a:ext cx="1188569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20 min</a:t>
              </a:r>
            </a:p>
          </p:txBody>
        </p:sp>
        <p:sp>
          <p:nvSpPr>
            <p:cNvPr id="240" name="Team"/>
            <p:cNvSpPr txBox="1"/>
            <p:nvPr/>
          </p:nvSpPr>
          <p:spPr>
            <a:xfrm>
              <a:off x="19177915" y="1304066"/>
              <a:ext cx="96418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241" name="Value proposition"/>
            <p:cNvSpPr txBox="1"/>
            <p:nvPr/>
          </p:nvSpPr>
          <p:spPr>
            <a:xfrm>
              <a:off x="7490006" y="595150"/>
              <a:ext cx="3645714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Value proposition</a:t>
              </a:r>
            </a:p>
          </p:txBody>
        </p:sp>
        <p:sp>
          <p:nvSpPr>
            <p:cNvPr id="242" name="10 min"/>
            <p:cNvSpPr txBox="1"/>
            <p:nvPr/>
          </p:nvSpPr>
          <p:spPr>
            <a:xfrm>
              <a:off x="8609820" y="1156"/>
              <a:ext cx="1188568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10 min</a:t>
              </a:r>
            </a:p>
          </p:txBody>
        </p:sp>
        <p:sp>
          <p:nvSpPr>
            <p:cNvPr id="243" name="Team"/>
            <p:cNvSpPr txBox="1"/>
            <p:nvPr/>
          </p:nvSpPr>
          <p:spPr>
            <a:xfrm>
              <a:off x="8722012" y="1302911"/>
              <a:ext cx="96418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</p:grp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Analysis 2/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Analysis 2/2</a:t>
            </a:r>
          </a:p>
        </p:txBody>
      </p:sp>
      <p:sp>
        <p:nvSpPr>
          <p:cNvPr id="247" name="Third, when you have identified areas of convergence, place them in front of you to analyse variation within these areas…"/>
          <p:cNvSpPr txBox="1">
            <a:spLocks noGrp="1"/>
          </p:cNvSpPr>
          <p:nvPr>
            <p:ph type="body" idx="1"/>
          </p:nvPr>
        </p:nvSpPr>
        <p:spPr>
          <a:xfrm>
            <a:off x="1206500" y="3402064"/>
            <a:ext cx="21971000" cy="7156122"/>
          </a:xfrm>
          <a:prstGeom prst="rect">
            <a:avLst/>
          </a:prstGeom>
        </p:spPr>
        <p:txBody>
          <a:bodyPr/>
          <a:lstStyle/>
          <a:p>
            <a:pPr lvl="1"/>
            <a:r>
              <a:rPr dirty="0"/>
              <a:t>Third, when you have identified areas of convergence, place them in front of you to </a:t>
            </a:r>
            <a:r>
              <a:rPr dirty="0" err="1"/>
              <a:t>analyse</a:t>
            </a:r>
            <a:r>
              <a:rPr dirty="0"/>
              <a:t> variation within these areas</a:t>
            </a:r>
          </a:p>
          <a:p>
            <a:pPr lvl="2"/>
            <a:r>
              <a:rPr dirty="0"/>
              <a:t>Is there variation?</a:t>
            </a:r>
          </a:p>
          <a:p>
            <a:pPr lvl="2"/>
            <a:r>
              <a:rPr dirty="0"/>
              <a:t>If there is, is it significant enough to lead to a new category?</a:t>
            </a:r>
          </a:p>
        </p:txBody>
      </p:sp>
      <p:sp>
        <p:nvSpPr>
          <p:cNvPr id="248" name="Line"/>
          <p:cNvSpPr/>
          <p:nvPr/>
        </p:nvSpPr>
        <p:spPr>
          <a:xfrm>
            <a:off x="341092" y="11121181"/>
            <a:ext cx="23701817" cy="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49" name="Line"/>
          <p:cNvSpPr/>
          <p:nvPr/>
        </p:nvSpPr>
        <p:spPr>
          <a:xfrm flipV="1">
            <a:off x="5522029" y="11121181"/>
            <a:ext cx="1901496" cy="1"/>
          </a:xfrm>
          <a:prstGeom prst="line">
            <a:avLst/>
          </a:prstGeom>
          <a:ln w="1016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grpSp>
        <p:nvGrpSpPr>
          <p:cNvPr id="274" name="Group"/>
          <p:cNvGrpSpPr/>
          <p:nvPr/>
        </p:nvGrpSpPr>
        <p:grpSpPr>
          <a:xfrm>
            <a:off x="590795" y="11435545"/>
            <a:ext cx="23202408" cy="1827515"/>
            <a:chOff x="-1" y="-1"/>
            <a:chExt cx="23202408" cy="1827512"/>
          </a:xfrm>
        </p:grpSpPr>
        <p:sp>
          <p:nvSpPr>
            <p:cNvPr id="250" name="Intro"/>
            <p:cNvSpPr txBox="1"/>
            <p:nvPr/>
          </p:nvSpPr>
          <p:spPr>
            <a:xfrm>
              <a:off x="-1" y="596306"/>
              <a:ext cx="1037388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Intro</a:t>
              </a:r>
            </a:p>
          </p:txBody>
        </p:sp>
        <p:sp>
          <p:nvSpPr>
            <p:cNvPr id="251" name="Organise data"/>
            <p:cNvSpPr txBox="1"/>
            <p:nvPr/>
          </p:nvSpPr>
          <p:spPr>
            <a:xfrm>
              <a:off x="1563989" y="596306"/>
              <a:ext cx="2972258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Organise data</a:t>
              </a:r>
            </a:p>
          </p:txBody>
        </p:sp>
        <p:sp>
          <p:nvSpPr>
            <p:cNvPr id="252" name="Analysis"/>
            <p:cNvSpPr txBox="1"/>
            <p:nvPr/>
          </p:nvSpPr>
          <p:spPr>
            <a:xfrm>
              <a:off x="4912787" y="596306"/>
              <a:ext cx="1799083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>
                  <a:solidFill>
                    <a:schemeClr val="accent4"/>
                  </a:solidFill>
                </a:defRPr>
              </a:lvl1pPr>
            </a:lstStyle>
            <a:p>
              <a:r>
                <a:t>Analysis</a:t>
              </a:r>
            </a:p>
          </p:txBody>
        </p:sp>
        <p:sp>
          <p:nvSpPr>
            <p:cNvPr id="253" name="Ideation"/>
            <p:cNvSpPr txBox="1"/>
            <p:nvPr/>
          </p:nvSpPr>
          <p:spPr>
            <a:xfrm>
              <a:off x="11970350" y="595150"/>
              <a:ext cx="1757021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Ideation</a:t>
              </a:r>
            </a:p>
          </p:txBody>
        </p:sp>
        <p:sp>
          <p:nvSpPr>
            <p:cNvPr id="254" name="Select concept"/>
            <p:cNvSpPr txBox="1"/>
            <p:nvPr/>
          </p:nvSpPr>
          <p:spPr>
            <a:xfrm>
              <a:off x="14562001" y="596306"/>
              <a:ext cx="3188057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Select concept</a:t>
              </a:r>
            </a:p>
          </p:txBody>
        </p:sp>
        <p:sp>
          <p:nvSpPr>
            <p:cNvPr id="255" name="Wrap-up"/>
            <p:cNvSpPr txBox="1"/>
            <p:nvPr/>
          </p:nvSpPr>
          <p:spPr>
            <a:xfrm>
              <a:off x="21300911" y="596306"/>
              <a:ext cx="1901496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Wrap-up</a:t>
              </a:r>
            </a:p>
          </p:txBody>
        </p:sp>
        <p:sp>
          <p:nvSpPr>
            <p:cNvPr id="256" name="5 min"/>
            <p:cNvSpPr txBox="1"/>
            <p:nvPr/>
          </p:nvSpPr>
          <p:spPr>
            <a:xfrm>
              <a:off x="23266" y="-1"/>
              <a:ext cx="99085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5 min</a:t>
              </a:r>
            </a:p>
          </p:txBody>
        </p:sp>
        <p:sp>
          <p:nvSpPr>
            <p:cNvPr id="257" name="15 min"/>
            <p:cNvSpPr txBox="1"/>
            <p:nvPr/>
          </p:nvSpPr>
          <p:spPr>
            <a:xfrm>
              <a:off x="2455834" y="0"/>
              <a:ext cx="1188569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15 min</a:t>
              </a:r>
            </a:p>
          </p:txBody>
        </p:sp>
        <p:sp>
          <p:nvSpPr>
            <p:cNvPr id="258" name="15 min"/>
            <p:cNvSpPr txBox="1"/>
            <p:nvPr/>
          </p:nvSpPr>
          <p:spPr>
            <a:xfrm>
              <a:off x="5218044" y="0"/>
              <a:ext cx="1188568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15 min</a:t>
              </a:r>
            </a:p>
          </p:txBody>
        </p:sp>
        <p:sp>
          <p:nvSpPr>
            <p:cNvPr id="259" name="20 min"/>
            <p:cNvSpPr txBox="1"/>
            <p:nvPr/>
          </p:nvSpPr>
          <p:spPr>
            <a:xfrm>
              <a:off x="12254576" y="1156"/>
              <a:ext cx="118856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20 min</a:t>
              </a:r>
            </a:p>
          </p:txBody>
        </p:sp>
        <p:sp>
          <p:nvSpPr>
            <p:cNvPr id="260" name="15 min"/>
            <p:cNvSpPr txBox="1"/>
            <p:nvPr/>
          </p:nvSpPr>
          <p:spPr>
            <a:xfrm>
              <a:off x="15561745" y="1156"/>
              <a:ext cx="118856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15 min</a:t>
              </a:r>
            </a:p>
          </p:txBody>
        </p:sp>
        <p:sp>
          <p:nvSpPr>
            <p:cNvPr id="261" name="5 min"/>
            <p:cNvSpPr txBox="1"/>
            <p:nvPr/>
          </p:nvSpPr>
          <p:spPr>
            <a:xfrm>
              <a:off x="21756231" y="-1"/>
              <a:ext cx="99085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5 min</a:t>
              </a:r>
            </a:p>
          </p:txBody>
        </p:sp>
        <p:sp>
          <p:nvSpPr>
            <p:cNvPr id="262" name="All"/>
            <p:cNvSpPr txBox="1"/>
            <p:nvPr/>
          </p:nvSpPr>
          <p:spPr>
            <a:xfrm>
              <a:off x="267385" y="1304066"/>
              <a:ext cx="502616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All</a:t>
              </a:r>
            </a:p>
          </p:txBody>
        </p:sp>
        <p:sp>
          <p:nvSpPr>
            <p:cNvPr id="263" name="Team"/>
            <p:cNvSpPr txBox="1"/>
            <p:nvPr/>
          </p:nvSpPr>
          <p:spPr>
            <a:xfrm>
              <a:off x="2568026" y="1304066"/>
              <a:ext cx="96418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264" name="Team"/>
            <p:cNvSpPr txBox="1"/>
            <p:nvPr/>
          </p:nvSpPr>
          <p:spPr>
            <a:xfrm>
              <a:off x="5330235" y="1304066"/>
              <a:ext cx="96418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265" name="Team"/>
            <p:cNvSpPr txBox="1"/>
            <p:nvPr/>
          </p:nvSpPr>
          <p:spPr>
            <a:xfrm>
              <a:off x="12366768" y="1302911"/>
              <a:ext cx="96418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266" name="Team"/>
            <p:cNvSpPr txBox="1"/>
            <p:nvPr/>
          </p:nvSpPr>
          <p:spPr>
            <a:xfrm>
              <a:off x="15673937" y="1304066"/>
              <a:ext cx="96418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267" name="All"/>
            <p:cNvSpPr txBox="1"/>
            <p:nvPr/>
          </p:nvSpPr>
          <p:spPr>
            <a:xfrm>
              <a:off x="22000351" y="1304066"/>
              <a:ext cx="502616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All</a:t>
              </a:r>
            </a:p>
          </p:txBody>
        </p:sp>
        <p:sp>
          <p:nvSpPr>
            <p:cNvPr id="268" name="Subsystems"/>
            <p:cNvSpPr txBox="1"/>
            <p:nvPr/>
          </p:nvSpPr>
          <p:spPr>
            <a:xfrm>
              <a:off x="18345100" y="596306"/>
              <a:ext cx="2629815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Subsystems</a:t>
              </a:r>
            </a:p>
          </p:txBody>
        </p:sp>
        <p:sp>
          <p:nvSpPr>
            <p:cNvPr id="269" name="20 min"/>
            <p:cNvSpPr txBox="1"/>
            <p:nvPr/>
          </p:nvSpPr>
          <p:spPr>
            <a:xfrm>
              <a:off x="19065723" y="0"/>
              <a:ext cx="1188569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20 min</a:t>
              </a:r>
            </a:p>
          </p:txBody>
        </p:sp>
        <p:sp>
          <p:nvSpPr>
            <p:cNvPr id="270" name="Team"/>
            <p:cNvSpPr txBox="1"/>
            <p:nvPr/>
          </p:nvSpPr>
          <p:spPr>
            <a:xfrm>
              <a:off x="19177915" y="1304066"/>
              <a:ext cx="96418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271" name="Value proposition"/>
            <p:cNvSpPr txBox="1"/>
            <p:nvPr/>
          </p:nvSpPr>
          <p:spPr>
            <a:xfrm>
              <a:off x="7490006" y="595150"/>
              <a:ext cx="3645714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Value proposition</a:t>
              </a:r>
            </a:p>
          </p:txBody>
        </p:sp>
        <p:sp>
          <p:nvSpPr>
            <p:cNvPr id="272" name="10 min"/>
            <p:cNvSpPr txBox="1"/>
            <p:nvPr/>
          </p:nvSpPr>
          <p:spPr>
            <a:xfrm>
              <a:off x="8609820" y="1156"/>
              <a:ext cx="1188568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10 min</a:t>
              </a:r>
            </a:p>
          </p:txBody>
        </p:sp>
        <p:sp>
          <p:nvSpPr>
            <p:cNvPr id="273" name="Team"/>
            <p:cNvSpPr txBox="1"/>
            <p:nvPr/>
          </p:nvSpPr>
          <p:spPr>
            <a:xfrm>
              <a:off x="8722012" y="1302911"/>
              <a:ext cx="96418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</p:grp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Value proposition"/>
          <p:cNvSpPr txBox="1">
            <a:spLocks noGrp="1"/>
          </p:cNvSpPr>
          <p:nvPr>
            <p:ph type="title"/>
          </p:nvPr>
        </p:nvSpPr>
        <p:spPr>
          <a:xfrm>
            <a:off x="1239157" y="952500"/>
            <a:ext cx="21971000" cy="1433163"/>
          </a:xfrm>
          <a:prstGeom prst="rect">
            <a:avLst/>
          </a:prstGeom>
        </p:spPr>
        <p:txBody>
          <a:bodyPr/>
          <a:lstStyle/>
          <a:p>
            <a:r>
              <a:t>Value proposition</a:t>
            </a:r>
          </a:p>
        </p:txBody>
      </p:sp>
      <p:sp>
        <p:nvSpPr>
          <p:cNvPr id="277" name="Based on your findings, draft a value proposition statement followed by a concept generation session.…"/>
          <p:cNvSpPr txBox="1">
            <a:spLocks noGrp="1"/>
          </p:cNvSpPr>
          <p:nvPr>
            <p:ph type="body" idx="1"/>
          </p:nvPr>
        </p:nvSpPr>
        <p:spPr>
          <a:xfrm>
            <a:off x="1206500" y="2842591"/>
            <a:ext cx="21971000" cy="699714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 defTabSz="2145738">
              <a:spcBef>
                <a:spcPts val="3900"/>
              </a:spcBef>
              <a:buSzTx/>
              <a:buNone/>
              <a:defRPr sz="4224"/>
            </a:pPr>
            <a:r>
              <a:rPr dirty="0"/>
              <a:t>Based on your findings, draft a value proposition statement followed by a concept generation session.</a:t>
            </a:r>
            <a:r>
              <a:rPr lang="en-US" dirty="0"/>
              <a:t> </a:t>
            </a:r>
            <a:r>
              <a:rPr lang="en-US" dirty="0">
                <a:solidFill>
                  <a:schemeClr val="accent4"/>
                </a:solidFill>
              </a:rPr>
              <a:t>This can be a flipped and more specific version of your problem definition!</a:t>
            </a:r>
            <a:endParaRPr dirty="0"/>
          </a:p>
          <a:p>
            <a:pPr marL="0" indent="0" defTabSz="2145738">
              <a:spcBef>
                <a:spcPts val="3900"/>
              </a:spcBef>
              <a:buSzTx/>
              <a:buNone/>
              <a:defRPr sz="4224"/>
            </a:pPr>
            <a:r>
              <a:rPr dirty="0"/>
              <a:t>The proposition should consider:</a:t>
            </a:r>
          </a:p>
          <a:p>
            <a:pPr marL="536447" indent="-536447" defTabSz="2145738">
              <a:spcBef>
                <a:spcPts val="3900"/>
              </a:spcBef>
              <a:defRPr sz="4224"/>
            </a:pPr>
            <a:r>
              <a:rPr dirty="0"/>
              <a:t>What does your solution do that creates the most value for your user? How does it relieve their pains or create gains for them in other ways? </a:t>
            </a:r>
          </a:p>
          <a:p>
            <a:pPr marL="536447" indent="-536447" defTabSz="2145738">
              <a:spcBef>
                <a:spcPts val="3900"/>
              </a:spcBef>
              <a:defRPr sz="4224"/>
            </a:pPr>
            <a:r>
              <a:rPr dirty="0"/>
              <a:t>What does your solution do that others don’t? How does your solution differentiate… what makes it special? Consider other</a:t>
            </a:r>
            <a:r>
              <a:rPr lang="en-US" dirty="0"/>
              <a:t> existing</a:t>
            </a:r>
            <a:r>
              <a:rPr dirty="0"/>
              <a:t> solutions … or what the other teams in this course are developing </a:t>
            </a:r>
          </a:p>
        </p:txBody>
      </p:sp>
      <p:sp>
        <p:nvSpPr>
          <p:cNvPr id="278" name="Line"/>
          <p:cNvSpPr/>
          <p:nvPr/>
        </p:nvSpPr>
        <p:spPr>
          <a:xfrm>
            <a:off x="341092" y="11121181"/>
            <a:ext cx="23701817" cy="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79" name="Line"/>
          <p:cNvSpPr/>
          <p:nvPr/>
        </p:nvSpPr>
        <p:spPr>
          <a:xfrm flipV="1">
            <a:off x="8972902" y="11121181"/>
            <a:ext cx="1901496" cy="1"/>
          </a:xfrm>
          <a:prstGeom prst="line">
            <a:avLst/>
          </a:prstGeom>
          <a:ln w="1016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grpSp>
        <p:nvGrpSpPr>
          <p:cNvPr id="304" name="Group"/>
          <p:cNvGrpSpPr/>
          <p:nvPr/>
        </p:nvGrpSpPr>
        <p:grpSpPr>
          <a:xfrm>
            <a:off x="590795" y="11435545"/>
            <a:ext cx="23202408" cy="1827515"/>
            <a:chOff x="-1" y="-1"/>
            <a:chExt cx="23202408" cy="1827512"/>
          </a:xfrm>
        </p:grpSpPr>
        <p:sp>
          <p:nvSpPr>
            <p:cNvPr id="280" name="Intro"/>
            <p:cNvSpPr txBox="1"/>
            <p:nvPr/>
          </p:nvSpPr>
          <p:spPr>
            <a:xfrm>
              <a:off x="-1" y="596306"/>
              <a:ext cx="1037388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Intro</a:t>
              </a:r>
            </a:p>
          </p:txBody>
        </p:sp>
        <p:sp>
          <p:nvSpPr>
            <p:cNvPr id="281" name="Organise data"/>
            <p:cNvSpPr txBox="1"/>
            <p:nvPr/>
          </p:nvSpPr>
          <p:spPr>
            <a:xfrm>
              <a:off x="1563989" y="596306"/>
              <a:ext cx="2972258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Organise data</a:t>
              </a:r>
            </a:p>
          </p:txBody>
        </p:sp>
        <p:sp>
          <p:nvSpPr>
            <p:cNvPr id="282" name="Analysis"/>
            <p:cNvSpPr txBox="1"/>
            <p:nvPr/>
          </p:nvSpPr>
          <p:spPr>
            <a:xfrm>
              <a:off x="4912787" y="596306"/>
              <a:ext cx="1799083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Analysis</a:t>
              </a:r>
            </a:p>
          </p:txBody>
        </p:sp>
        <p:sp>
          <p:nvSpPr>
            <p:cNvPr id="283" name="Ideation"/>
            <p:cNvSpPr txBox="1"/>
            <p:nvPr/>
          </p:nvSpPr>
          <p:spPr>
            <a:xfrm>
              <a:off x="11970350" y="595150"/>
              <a:ext cx="1757021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Ideation</a:t>
              </a:r>
            </a:p>
          </p:txBody>
        </p:sp>
        <p:sp>
          <p:nvSpPr>
            <p:cNvPr id="284" name="Select concept"/>
            <p:cNvSpPr txBox="1"/>
            <p:nvPr/>
          </p:nvSpPr>
          <p:spPr>
            <a:xfrm>
              <a:off x="14562001" y="596306"/>
              <a:ext cx="3188057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Select concept</a:t>
              </a:r>
            </a:p>
          </p:txBody>
        </p:sp>
        <p:sp>
          <p:nvSpPr>
            <p:cNvPr id="285" name="Wrap-up"/>
            <p:cNvSpPr txBox="1"/>
            <p:nvPr/>
          </p:nvSpPr>
          <p:spPr>
            <a:xfrm>
              <a:off x="21300911" y="596306"/>
              <a:ext cx="1901496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Wrap-up</a:t>
              </a:r>
            </a:p>
          </p:txBody>
        </p:sp>
        <p:sp>
          <p:nvSpPr>
            <p:cNvPr id="286" name="5 min"/>
            <p:cNvSpPr txBox="1"/>
            <p:nvPr/>
          </p:nvSpPr>
          <p:spPr>
            <a:xfrm>
              <a:off x="23266" y="-1"/>
              <a:ext cx="99085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5 min</a:t>
              </a:r>
            </a:p>
          </p:txBody>
        </p:sp>
        <p:sp>
          <p:nvSpPr>
            <p:cNvPr id="287" name="15 min"/>
            <p:cNvSpPr txBox="1"/>
            <p:nvPr/>
          </p:nvSpPr>
          <p:spPr>
            <a:xfrm>
              <a:off x="2455834" y="0"/>
              <a:ext cx="1188569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15 min</a:t>
              </a:r>
            </a:p>
          </p:txBody>
        </p:sp>
        <p:sp>
          <p:nvSpPr>
            <p:cNvPr id="288" name="15 min"/>
            <p:cNvSpPr txBox="1"/>
            <p:nvPr/>
          </p:nvSpPr>
          <p:spPr>
            <a:xfrm>
              <a:off x="5218044" y="0"/>
              <a:ext cx="1188568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15 min</a:t>
              </a:r>
            </a:p>
          </p:txBody>
        </p:sp>
        <p:sp>
          <p:nvSpPr>
            <p:cNvPr id="289" name="20 min"/>
            <p:cNvSpPr txBox="1"/>
            <p:nvPr/>
          </p:nvSpPr>
          <p:spPr>
            <a:xfrm>
              <a:off x="12254576" y="1156"/>
              <a:ext cx="118856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20 min</a:t>
              </a:r>
            </a:p>
          </p:txBody>
        </p:sp>
        <p:sp>
          <p:nvSpPr>
            <p:cNvPr id="290" name="15 min"/>
            <p:cNvSpPr txBox="1"/>
            <p:nvPr/>
          </p:nvSpPr>
          <p:spPr>
            <a:xfrm>
              <a:off x="15561745" y="1156"/>
              <a:ext cx="118856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15 min</a:t>
              </a:r>
            </a:p>
          </p:txBody>
        </p:sp>
        <p:sp>
          <p:nvSpPr>
            <p:cNvPr id="291" name="5 min"/>
            <p:cNvSpPr txBox="1"/>
            <p:nvPr/>
          </p:nvSpPr>
          <p:spPr>
            <a:xfrm>
              <a:off x="21756231" y="-1"/>
              <a:ext cx="99085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5 min</a:t>
              </a:r>
            </a:p>
          </p:txBody>
        </p:sp>
        <p:sp>
          <p:nvSpPr>
            <p:cNvPr id="292" name="All"/>
            <p:cNvSpPr txBox="1"/>
            <p:nvPr/>
          </p:nvSpPr>
          <p:spPr>
            <a:xfrm>
              <a:off x="267385" y="1304066"/>
              <a:ext cx="502616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All</a:t>
              </a:r>
            </a:p>
          </p:txBody>
        </p:sp>
        <p:sp>
          <p:nvSpPr>
            <p:cNvPr id="293" name="Team"/>
            <p:cNvSpPr txBox="1"/>
            <p:nvPr/>
          </p:nvSpPr>
          <p:spPr>
            <a:xfrm>
              <a:off x="2568026" y="1304066"/>
              <a:ext cx="96418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294" name="Team"/>
            <p:cNvSpPr txBox="1"/>
            <p:nvPr/>
          </p:nvSpPr>
          <p:spPr>
            <a:xfrm>
              <a:off x="5330235" y="1304066"/>
              <a:ext cx="96418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295" name="Team"/>
            <p:cNvSpPr txBox="1"/>
            <p:nvPr/>
          </p:nvSpPr>
          <p:spPr>
            <a:xfrm>
              <a:off x="12366768" y="1302911"/>
              <a:ext cx="96418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296" name="Team"/>
            <p:cNvSpPr txBox="1"/>
            <p:nvPr/>
          </p:nvSpPr>
          <p:spPr>
            <a:xfrm>
              <a:off x="15673937" y="1304066"/>
              <a:ext cx="96418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297" name="All"/>
            <p:cNvSpPr txBox="1"/>
            <p:nvPr/>
          </p:nvSpPr>
          <p:spPr>
            <a:xfrm>
              <a:off x="22000351" y="1304066"/>
              <a:ext cx="502616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All</a:t>
              </a:r>
            </a:p>
          </p:txBody>
        </p:sp>
        <p:sp>
          <p:nvSpPr>
            <p:cNvPr id="298" name="Subsystems"/>
            <p:cNvSpPr txBox="1"/>
            <p:nvPr/>
          </p:nvSpPr>
          <p:spPr>
            <a:xfrm>
              <a:off x="18345100" y="596306"/>
              <a:ext cx="2629815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Subsystems</a:t>
              </a:r>
            </a:p>
          </p:txBody>
        </p:sp>
        <p:sp>
          <p:nvSpPr>
            <p:cNvPr id="299" name="20 min"/>
            <p:cNvSpPr txBox="1"/>
            <p:nvPr/>
          </p:nvSpPr>
          <p:spPr>
            <a:xfrm>
              <a:off x="19065723" y="0"/>
              <a:ext cx="1188569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20 min</a:t>
              </a:r>
            </a:p>
          </p:txBody>
        </p:sp>
        <p:sp>
          <p:nvSpPr>
            <p:cNvPr id="300" name="Team"/>
            <p:cNvSpPr txBox="1"/>
            <p:nvPr/>
          </p:nvSpPr>
          <p:spPr>
            <a:xfrm>
              <a:off x="19177915" y="1304066"/>
              <a:ext cx="96418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301" name="Value proposition"/>
            <p:cNvSpPr txBox="1"/>
            <p:nvPr/>
          </p:nvSpPr>
          <p:spPr>
            <a:xfrm>
              <a:off x="7490006" y="595150"/>
              <a:ext cx="3645714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>
                  <a:solidFill>
                    <a:schemeClr val="accent4"/>
                  </a:solidFill>
                </a:defRPr>
              </a:lvl1pPr>
            </a:lstStyle>
            <a:p>
              <a:r>
                <a:t>Value proposition</a:t>
              </a:r>
            </a:p>
          </p:txBody>
        </p:sp>
        <p:sp>
          <p:nvSpPr>
            <p:cNvPr id="302" name="10 min"/>
            <p:cNvSpPr txBox="1"/>
            <p:nvPr/>
          </p:nvSpPr>
          <p:spPr>
            <a:xfrm>
              <a:off x="8609820" y="1156"/>
              <a:ext cx="1188568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10 min</a:t>
              </a:r>
            </a:p>
          </p:txBody>
        </p:sp>
        <p:sp>
          <p:nvSpPr>
            <p:cNvPr id="303" name="Team"/>
            <p:cNvSpPr txBox="1"/>
            <p:nvPr/>
          </p:nvSpPr>
          <p:spPr>
            <a:xfrm>
              <a:off x="8722012" y="1302911"/>
              <a:ext cx="96418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</p:grp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Line"/>
          <p:cNvSpPr/>
          <p:nvPr/>
        </p:nvSpPr>
        <p:spPr>
          <a:xfrm>
            <a:off x="341092" y="11121181"/>
            <a:ext cx="23701817" cy="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07" name="Line"/>
          <p:cNvSpPr/>
          <p:nvPr/>
        </p:nvSpPr>
        <p:spPr>
          <a:xfrm flipV="1">
            <a:off x="8972902" y="11121181"/>
            <a:ext cx="1901496" cy="1"/>
          </a:xfrm>
          <a:prstGeom prst="line">
            <a:avLst/>
          </a:prstGeom>
          <a:ln w="1016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grpSp>
        <p:nvGrpSpPr>
          <p:cNvPr id="332" name="Group"/>
          <p:cNvGrpSpPr/>
          <p:nvPr/>
        </p:nvGrpSpPr>
        <p:grpSpPr>
          <a:xfrm>
            <a:off x="590795" y="11435545"/>
            <a:ext cx="23202408" cy="1827515"/>
            <a:chOff x="-1" y="-1"/>
            <a:chExt cx="23202408" cy="1827512"/>
          </a:xfrm>
        </p:grpSpPr>
        <p:sp>
          <p:nvSpPr>
            <p:cNvPr id="308" name="Intro"/>
            <p:cNvSpPr txBox="1"/>
            <p:nvPr/>
          </p:nvSpPr>
          <p:spPr>
            <a:xfrm>
              <a:off x="-1" y="596306"/>
              <a:ext cx="1037388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Intro</a:t>
              </a:r>
            </a:p>
          </p:txBody>
        </p:sp>
        <p:sp>
          <p:nvSpPr>
            <p:cNvPr id="309" name="Organise data"/>
            <p:cNvSpPr txBox="1"/>
            <p:nvPr/>
          </p:nvSpPr>
          <p:spPr>
            <a:xfrm>
              <a:off x="1563989" y="596306"/>
              <a:ext cx="2972258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Organise data</a:t>
              </a:r>
            </a:p>
          </p:txBody>
        </p:sp>
        <p:sp>
          <p:nvSpPr>
            <p:cNvPr id="310" name="Analysis"/>
            <p:cNvSpPr txBox="1"/>
            <p:nvPr/>
          </p:nvSpPr>
          <p:spPr>
            <a:xfrm>
              <a:off x="4912787" y="596306"/>
              <a:ext cx="1799083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Analysis</a:t>
              </a:r>
            </a:p>
          </p:txBody>
        </p:sp>
        <p:sp>
          <p:nvSpPr>
            <p:cNvPr id="311" name="Ideation"/>
            <p:cNvSpPr txBox="1"/>
            <p:nvPr/>
          </p:nvSpPr>
          <p:spPr>
            <a:xfrm>
              <a:off x="11970350" y="595150"/>
              <a:ext cx="1757021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Ideation</a:t>
              </a:r>
            </a:p>
          </p:txBody>
        </p:sp>
        <p:sp>
          <p:nvSpPr>
            <p:cNvPr id="312" name="Select concept"/>
            <p:cNvSpPr txBox="1"/>
            <p:nvPr/>
          </p:nvSpPr>
          <p:spPr>
            <a:xfrm>
              <a:off x="14562001" y="596306"/>
              <a:ext cx="3188057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Select concept</a:t>
              </a:r>
            </a:p>
          </p:txBody>
        </p:sp>
        <p:sp>
          <p:nvSpPr>
            <p:cNvPr id="313" name="Wrap-up"/>
            <p:cNvSpPr txBox="1"/>
            <p:nvPr/>
          </p:nvSpPr>
          <p:spPr>
            <a:xfrm>
              <a:off x="21300911" y="596306"/>
              <a:ext cx="1901496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Wrap-up</a:t>
              </a:r>
            </a:p>
          </p:txBody>
        </p:sp>
        <p:sp>
          <p:nvSpPr>
            <p:cNvPr id="314" name="5 min"/>
            <p:cNvSpPr txBox="1"/>
            <p:nvPr/>
          </p:nvSpPr>
          <p:spPr>
            <a:xfrm>
              <a:off x="23266" y="-1"/>
              <a:ext cx="99085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5 min</a:t>
              </a:r>
            </a:p>
          </p:txBody>
        </p:sp>
        <p:sp>
          <p:nvSpPr>
            <p:cNvPr id="315" name="15 min"/>
            <p:cNvSpPr txBox="1"/>
            <p:nvPr/>
          </p:nvSpPr>
          <p:spPr>
            <a:xfrm>
              <a:off x="2455834" y="0"/>
              <a:ext cx="1188569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15 min</a:t>
              </a:r>
            </a:p>
          </p:txBody>
        </p:sp>
        <p:sp>
          <p:nvSpPr>
            <p:cNvPr id="316" name="15 min"/>
            <p:cNvSpPr txBox="1"/>
            <p:nvPr/>
          </p:nvSpPr>
          <p:spPr>
            <a:xfrm>
              <a:off x="5218044" y="0"/>
              <a:ext cx="1188568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15 min</a:t>
              </a:r>
            </a:p>
          </p:txBody>
        </p:sp>
        <p:sp>
          <p:nvSpPr>
            <p:cNvPr id="317" name="20 min"/>
            <p:cNvSpPr txBox="1"/>
            <p:nvPr/>
          </p:nvSpPr>
          <p:spPr>
            <a:xfrm>
              <a:off x="12254576" y="1156"/>
              <a:ext cx="118856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20 min</a:t>
              </a:r>
            </a:p>
          </p:txBody>
        </p:sp>
        <p:sp>
          <p:nvSpPr>
            <p:cNvPr id="318" name="15 min"/>
            <p:cNvSpPr txBox="1"/>
            <p:nvPr/>
          </p:nvSpPr>
          <p:spPr>
            <a:xfrm>
              <a:off x="15561745" y="1156"/>
              <a:ext cx="118856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15 min</a:t>
              </a:r>
            </a:p>
          </p:txBody>
        </p:sp>
        <p:sp>
          <p:nvSpPr>
            <p:cNvPr id="319" name="5 min"/>
            <p:cNvSpPr txBox="1"/>
            <p:nvPr/>
          </p:nvSpPr>
          <p:spPr>
            <a:xfrm>
              <a:off x="21756231" y="-1"/>
              <a:ext cx="99085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5 min</a:t>
              </a:r>
            </a:p>
          </p:txBody>
        </p:sp>
        <p:sp>
          <p:nvSpPr>
            <p:cNvPr id="320" name="All"/>
            <p:cNvSpPr txBox="1"/>
            <p:nvPr/>
          </p:nvSpPr>
          <p:spPr>
            <a:xfrm>
              <a:off x="267385" y="1304066"/>
              <a:ext cx="502616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All</a:t>
              </a:r>
            </a:p>
          </p:txBody>
        </p:sp>
        <p:sp>
          <p:nvSpPr>
            <p:cNvPr id="321" name="Team"/>
            <p:cNvSpPr txBox="1"/>
            <p:nvPr/>
          </p:nvSpPr>
          <p:spPr>
            <a:xfrm>
              <a:off x="2568026" y="1304066"/>
              <a:ext cx="96418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322" name="Team"/>
            <p:cNvSpPr txBox="1"/>
            <p:nvPr/>
          </p:nvSpPr>
          <p:spPr>
            <a:xfrm>
              <a:off x="5330235" y="1304066"/>
              <a:ext cx="96418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323" name="Team"/>
            <p:cNvSpPr txBox="1"/>
            <p:nvPr/>
          </p:nvSpPr>
          <p:spPr>
            <a:xfrm>
              <a:off x="12366768" y="1302911"/>
              <a:ext cx="96418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324" name="Team"/>
            <p:cNvSpPr txBox="1"/>
            <p:nvPr/>
          </p:nvSpPr>
          <p:spPr>
            <a:xfrm>
              <a:off x="15673937" y="1304066"/>
              <a:ext cx="96418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325" name="All"/>
            <p:cNvSpPr txBox="1"/>
            <p:nvPr/>
          </p:nvSpPr>
          <p:spPr>
            <a:xfrm>
              <a:off x="22000351" y="1304066"/>
              <a:ext cx="502616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All</a:t>
              </a:r>
            </a:p>
          </p:txBody>
        </p:sp>
        <p:sp>
          <p:nvSpPr>
            <p:cNvPr id="326" name="Subsystems"/>
            <p:cNvSpPr txBox="1"/>
            <p:nvPr/>
          </p:nvSpPr>
          <p:spPr>
            <a:xfrm>
              <a:off x="18345100" y="596306"/>
              <a:ext cx="2629815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Subsystems</a:t>
              </a:r>
            </a:p>
          </p:txBody>
        </p:sp>
        <p:sp>
          <p:nvSpPr>
            <p:cNvPr id="327" name="20 min"/>
            <p:cNvSpPr txBox="1"/>
            <p:nvPr/>
          </p:nvSpPr>
          <p:spPr>
            <a:xfrm>
              <a:off x="19065723" y="0"/>
              <a:ext cx="1188569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20 min</a:t>
              </a:r>
            </a:p>
          </p:txBody>
        </p:sp>
        <p:sp>
          <p:nvSpPr>
            <p:cNvPr id="328" name="Team"/>
            <p:cNvSpPr txBox="1"/>
            <p:nvPr/>
          </p:nvSpPr>
          <p:spPr>
            <a:xfrm>
              <a:off x="19177915" y="1304066"/>
              <a:ext cx="96418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329" name="Value proposition"/>
            <p:cNvSpPr txBox="1"/>
            <p:nvPr/>
          </p:nvSpPr>
          <p:spPr>
            <a:xfrm>
              <a:off x="7490006" y="595150"/>
              <a:ext cx="3645714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>
                  <a:solidFill>
                    <a:schemeClr val="accent4"/>
                  </a:solidFill>
                </a:defRPr>
              </a:lvl1pPr>
            </a:lstStyle>
            <a:p>
              <a:r>
                <a:t>Value proposition</a:t>
              </a:r>
            </a:p>
          </p:txBody>
        </p:sp>
        <p:sp>
          <p:nvSpPr>
            <p:cNvPr id="330" name="10 min"/>
            <p:cNvSpPr txBox="1"/>
            <p:nvPr/>
          </p:nvSpPr>
          <p:spPr>
            <a:xfrm>
              <a:off x="8609820" y="1156"/>
              <a:ext cx="1188568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10 min</a:t>
              </a:r>
            </a:p>
          </p:txBody>
        </p:sp>
        <p:sp>
          <p:nvSpPr>
            <p:cNvPr id="331" name="Team"/>
            <p:cNvSpPr txBox="1"/>
            <p:nvPr/>
          </p:nvSpPr>
          <p:spPr>
            <a:xfrm>
              <a:off x="8722012" y="1302911"/>
              <a:ext cx="96418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</p:grpSp>
      <p:pic>
        <p:nvPicPr>
          <p:cNvPr id="33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6657" y="1290108"/>
            <a:ext cx="13728701" cy="9690101"/>
          </a:xfrm>
          <a:prstGeom prst="rect">
            <a:avLst/>
          </a:prstGeom>
          <a:ln w="12700">
            <a:miter lim="400000"/>
          </a:ln>
        </p:spPr>
      </p:pic>
      <p:sp>
        <p:nvSpPr>
          <p:cNvPr id="334" name="Strategyzer’s Value Proposition Canvas:…"/>
          <p:cNvSpPr txBox="1"/>
          <p:nvPr/>
        </p:nvSpPr>
        <p:spPr>
          <a:xfrm>
            <a:off x="4055108" y="8047883"/>
            <a:ext cx="5475320" cy="3365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r" defTabSz="457200">
              <a:defRPr sz="3600">
                <a:solidFill>
                  <a:schemeClr val="accent2">
                    <a:hueOff val="-206910"/>
                    <a:satOff val="-12829"/>
                    <a:lumOff val="16238"/>
                  </a:schemeClr>
                </a:solidFill>
              </a:defRPr>
            </a:pPr>
            <a:r>
              <a:rPr err="1"/>
              <a:t>Strategyzer’s</a:t>
            </a:r>
            <a:r>
              <a:t> Value Proposition Canvas</a:t>
            </a:r>
            <a:r>
              <a:rPr>
                <a:hlinkClick r:id="rId3"/>
              </a:rPr>
              <a:t>:</a:t>
            </a:r>
          </a:p>
          <a:p>
            <a:pPr algn="r" defTabSz="457200">
              <a:defRPr sz="3600">
                <a:solidFill>
                  <a:schemeClr val="accent2">
                    <a:hueOff val="-206910"/>
                    <a:satOff val="-12829"/>
                    <a:lumOff val="16238"/>
                  </a:schemeClr>
                </a:solidFill>
              </a:defRPr>
            </a:pPr>
            <a:r>
              <a:t>•</a:t>
            </a:r>
            <a:r>
              <a:rPr>
                <a:hlinkClick r:id="rId3"/>
              </a:rPr>
              <a:t>Manual</a:t>
            </a:r>
            <a:r>
              <a:t> (Pdf)</a:t>
            </a:r>
          </a:p>
          <a:p>
            <a:pPr algn="r" defTabSz="457200">
              <a:defRPr sz="3600" u="sng">
                <a:solidFill>
                  <a:schemeClr val="accent2">
                    <a:hueOff val="-206910"/>
                    <a:satOff val="-12829"/>
                    <a:lumOff val="16238"/>
                  </a:schemeClr>
                </a:solidFill>
                <a:uFill>
                  <a:solidFill>
                    <a:srgbClr val="0000EE"/>
                  </a:solidFill>
                </a:uFill>
              </a:defRPr>
            </a:pPr>
            <a:r>
              <a:t>•</a:t>
            </a:r>
            <a:r>
              <a:rPr>
                <a:hlinkClick r:id="rId4"/>
              </a:rPr>
              <a:t>Explained (Youtube) </a:t>
            </a:r>
          </a:p>
          <a:p>
            <a:pPr algn="r" defTabSz="457200">
              <a:defRPr sz="3600" u="sng">
                <a:solidFill>
                  <a:schemeClr val="accent2">
                    <a:hueOff val="-206910"/>
                    <a:satOff val="-12829"/>
                    <a:lumOff val="16238"/>
                  </a:schemeClr>
                </a:solidFill>
                <a:uFill>
                  <a:solidFill>
                    <a:srgbClr val="0000EE"/>
                  </a:solidFill>
                </a:uFill>
              </a:defRPr>
            </a:pPr>
            <a:r>
              <a:t>•</a:t>
            </a:r>
            <a:r>
              <a:rPr>
                <a:hlinkClick r:id="rId5"/>
              </a:rPr>
              <a:t>Blank (Pdf)</a:t>
            </a:r>
            <a:endParaRPr u="none">
              <a:solidFill>
                <a:srgbClr val="000000"/>
              </a:solidFill>
            </a:endParaRPr>
          </a:p>
        </p:txBody>
      </p:sp>
      <p:sp>
        <p:nvSpPr>
          <p:cNvPr id="335" name="Tools like “the value proposition canvas” may help to structure the process of generating the proposition"/>
          <p:cNvSpPr txBox="1"/>
          <p:nvPr/>
        </p:nvSpPr>
        <p:spPr>
          <a:xfrm>
            <a:off x="862718" y="1085853"/>
            <a:ext cx="8702353" cy="3261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>
            <a:spAutoFit/>
          </a:bodyPr>
          <a:lstStyle>
            <a:lvl1pPr algn="l" defTabSz="457200">
              <a:defRPr sz="4200" u="sng">
                <a:uFill>
                  <a:solidFill>
                    <a:srgbClr val="0000EE"/>
                  </a:solidFill>
                </a:uFill>
              </a:defRPr>
            </a:lvl1pPr>
          </a:lstStyle>
          <a:p>
            <a:r>
              <a:t>Tools like “the value proposition canvas” may help to structure the process of generating the proposition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BD1A01-6E66-9D3B-3356-4BE0EC19FD87}"/>
              </a:ext>
            </a:extLst>
          </p:cNvPr>
          <p:cNvSpPr txBox="1"/>
          <p:nvPr/>
        </p:nvSpPr>
        <p:spPr>
          <a:xfrm>
            <a:off x="20688293" y="1969462"/>
            <a:ext cx="3317468" cy="207236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1" i="0" u="none" strike="noStrike" cap="none" spc="0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From User Scenarios &amp; Journey Mapping</a:t>
            </a:r>
            <a:endParaRPr kumimoji="0" lang="en-AU" sz="3200" b="1" i="0" u="none" strike="noStrike" cap="none" spc="0" normalizeH="0" baseline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E8D039-39B7-0840-6B3F-D2928DF61B46}"/>
              </a:ext>
            </a:extLst>
          </p:cNvPr>
          <p:cNvSpPr txBox="1"/>
          <p:nvPr/>
        </p:nvSpPr>
        <p:spPr>
          <a:xfrm>
            <a:off x="10585174" y="8467397"/>
            <a:ext cx="3732993" cy="207236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From broad consideration </a:t>
            </a:r>
            <a:r>
              <a:rPr kumimoji="0" lang="en-US" sz="3200" b="1" i="0" u="none" strike="noStrike" cap="none" spc="0" normalizeH="0" baseline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of what could help your users</a:t>
            </a:r>
            <a:endParaRPr kumimoji="0" lang="en-AU" sz="3200" b="1" i="0" u="none" strike="noStrike" cap="none" spc="0" normalizeH="0" baseline="0" dirty="0">
              <a:ln>
                <a:noFill/>
              </a:ln>
              <a:solidFill>
                <a:schemeClr val="accent5">
                  <a:lumMod val="60000"/>
                  <a:lumOff val="40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Ideation 1/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Ideation 1/1</a:t>
            </a:r>
          </a:p>
        </p:txBody>
      </p:sp>
      <p:sp>
        <p:nvSpPr>
          <p:cNvPr id="338" name="Select an ideation technique from the lecture…"/>
          <p:cNvSpPr txBox="1">
            <a:spLocks noGrp="1"/>
          </p:cNvSpPr>
          <p:nvPr>
            <p:ph type="body" idx="1"/>
          </p:nvPr>
        </p:nvSpPr>
        <p:spPr>
          <a:xfrm>
            <a:off x="1206500" y="3687189"/>
            <a:ext cx="22337122" cy="6081666"/>
          </a:xfrm>
          <a:prstGeom prst="rect">
            <a:avLst/>
          </a:prstGeom>
        </p:spPr>
        <p:txBody>
          <a:bodyPr numCol="2" spcCol="1116856"/>
          <a:lstStyle/>
          <a:p>
            <a:pPr marL="0" indent="0" defTabSz="1950671">
              <a:spcBef>
                <a:spcPts val="3600"/>
              </a:spcBef>
              <a:buSzTx/>
              <a:buNone/>
              <a:defRPr sz="3840" b="1"/>
            </a:pPr>
            <a:r>
              <a:rPr dirty="0"/>
              <a:t>Select an ideation technique from the lecture</a:t>
            </a:r>
          </a:p>
          <a:p>
            <a:pPr marL="0" indent="0" defTabSz="1950671">
              <a:spcBef>
                <a:spcPts val="3600"/>
              </a:spcBef>
              <a:buSzTx/>
              <a:buNone/>
              <a:defRPr sz="3840"/>
            </a:pPr>
            <a:r>
              <a:rPr dirty="0"/>
              <a:t>Appoint a facilitator: keeps the pace, motivates the team</a:t>
            </a:r>
            <a:endParaRPr sz="960" dirty="0">
              <a:solidFill>
                <a:srgbClr val="000000"/>
              </a:solidFill>
            </a:endParaRPr>
          </a:p>
          <a:p>
            <a:pPr marL="0" indent="0" defTabSz="1950671">
              <a:spcBef>
                <a:spcPts val="3600"/>
              </a:spcBef>
              <a:buSzTx/>
              <a:buNone/>
              <a:defRPr sz="3840"/>
            </a:pPr>
            <a:r>
              <a:rPr dirty="0"/>
              <a:t>Keep pressure: don’t stare at a blank canvas for long</a:t>
            </a:r>
            <a:endParaRPr sz="960" dirty="0">
              <a:solidFill>
                <a:srgbClr val="000000"/>
              </a:solidFill>
            </a:endParaRPr>
          </a:p>
          <a:p>
            <a:pPr marL="0" indent="0" defTabSz="1950671">
              <a:spcBef>
                <a:spcPts val="3600"/>
              </a:spcBef>
              <a:buSzTx/>
              <a:buNone/>
              <a:defRPr sz="3840"/>
            </a:pPr>
            <a:r>
              <a:rPr dirty="0"/>
              <a:t>Focus on quantity, not quality</a:t>
            </a:r>
            <a:endParaRPr sz="960" dirty="0">
              <a:solidFill>
                <a:srgbClr val="000000"/>
              </a:solidFill>
            </a:endParaRPr>
          </a:p>
          <a:p>
            <a:pPr marL="0" indent="0" defTabSz="1950671">
              <a:spcBef>
                <a:spcPts val="3600"/>
              </a:spcBef>
              <a:buSzTx/>
              <a:buNone/>
              <a:defRPr sz="3840"/>
            </a:pPr>
            <a:r>
              <a:rPr dirty="0"/>
              <a:t>No criticism at this stage: silly ideas are fine</a:t>
            </a:r>
          </a:p>
          <a:p>
            <a:pPr marL="0" indent="0" defTabSz="1950671">
              <a:spcBef>
                <a:spcPts val="3600"/>
              </a:spcBef>
              <a:buSzTx/>
              <a:buNone/>
              <a:defRPr sz="3840"/>
            </a:pPr>
            <a:r>
              <a:rPr dirty="0"/>
              <a:t>Keep your Value Proposition at the </a:t>
            </a:r>
            <a:r>
              <a:rPr dirty="0" err="1"/>
              <a:t>centre</a:t>
            </a:r>
            <a:r>
              <a:t> of your creative session</a:t>
            </a:r>
            <a:endParaRPr sz="960">
              <a:solidFill>
                <a:srgbClr val="000000"/>
              </a:solidFill>
            </a:endParaRPr>
          </a:p>
          <a:p>
            <a:pPr marL="0" indent="0" defTabSz="1950671">
              <a:spcBef>
                <a:spcPts val="3600"/>
              </a:spcBef>
              <a:buSzTx/>
              <a:buNone/>
              <a:defRPr sz="3840"/>
            </a:pPr>
            <a:r>
              <a:rPr dirty="0"/>
              <a:t>Keep in mind your research findings and what you know so far about your stakeholders</a:t>
            </a:r>
            <a:endParaRPr sz="960" dirty="0">
              <a:solidFill>
                <a:srgbClr val="000000"/>
              </a:solidFill>
            </a:endParaRPr>
          </a:p>
          <a:p>
            <a:pPr marL="0" indent="0" defTabSz="1950671">
              <a:spcBef>
                <a:spcPts val="3600"/>
              </a:spcBef>
              <a:buSzTx/>
              <a:buNone/>
              <a:defRPr sz="3840"/>
            </a:pPr>
            <a:r>
              <a:rPr dirty="0"/>
              <a:t>Read you UVP statement every 10 minutes to make sure you don’t lose the direction!</a:t>
            </a:r>
            <a:endParaRPr sz="960" dirty="0">
              <a:solidFill>
                <a:srgbClr val="000000"/>
              </a:solidFill>
            </a:endParaRPr>
          </a:p>
          <a:p>
            <a:pPr marL="0" indent="0" defTabSz="1950671">
              <a:spcBef>
                <a:spcPts val="3600"/>
              </a:spcBef>
              <a:buSzTx/>
              <a:buNone/>
              <a:defRPr sz="3840"/>
            </a:pPr>
            <a:r>
              <a:rPr dirty="0"/>
              <a:t>Document the outcomes</a:t>
            </a:r>
            <a:r>
              <a:rPr sz="960" dirty="0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339" name="Line"/>
          <p:cNvSpPr/>
          <p:nvPr/>
        </p:nvSpPr>
        <p:spPr>
          <a:xfrm>
            <a:off x="341092" y="11121181"/>
            <a:ext cx="23701817" cy="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40" name="Line"/>
          <p:cNvSpPr/>
          <p:nvPr/>
        </p:nvSpPr>
        <p:spPr>
          <a:xfrm flipV="1">
            <a:off x="12553998" y="11121181"/>
            <a:ext cx="1901495" cy="1"/>
          </a:xfrm>
          <a:prstGeom prst="line">
            <a:avLst/>
          </a:prstGeom>
          <a:ln w="1016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grpSp>
        <p:nvGrpSpPr>
          <p:cNvPr id="365" name="Group"/>
          <p:cNvGrpSpPr/>
          <p:nvPr/>
        </p:nvGrpSpPr>
        <p:grpSpPr>
          <a:xfrm>
            <a:off x="590795" y="11435545"/>
            <a:ext cx="23202408" cy="1827515"/>
            <a:chOff x="-1" y="-1"/>
            <a:chExt cx="23202408" cy="1827512"/>
          </a:xfrm>
        </p:grpSpPr>
        <p:sp>
          <p:nvSpPr>
            <p:cNvPr id="341" name="Intro"/>
            <p:cNvSpPr txBox="1"/>
            <p:nvPr/>
          </p:nvSpPr>
          <p:spPr>
            <a:xfrm>
              <a:off x="-1" y="596306"/>
              <a:ext cx="1037388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Intro</a:t>
              </a:r>
            </a:p>
          </p:txBody>
        </p:sp>
        <p:sp>
          <p:nvSpPr>
            <p:cNvPr id="342" name="Organise data"/>
            <p:cNvSpPr txBox="1"/>
            <p:nvPr/>
          </p:nvSpPr>
          <p:spPr>
            <a:xfrm>
              <a:off x="1563989" y="596306"/>
              <a:ext cx="2972258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Organise data</a:t>
              </a:r>
            </a:p>
          </p:txBody>
        </p:sp>
        <p:sp>
          <p:nvSpPr>
            <p:cNvPr id="343" name="Analysis"/>
            <p:cNvSpPr txBox="1"/>
            <p:nvPr/>
          </p:nvSpPr>
          <p:spPr>
            <a:xfrm>
              <a:off x="4912787" y="596306"/>
              <a:ext cx="1799083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Analysis</a:t>
              </a:r>
            </a:p>
          </p:txBody>
        </p:sp>
        <p:sp>
          <p:nvSpPr>
            <p:cNvPr id="344" name="Ideation"/>
            <p:cNvSpPr txBox="1"/>
            <p:nvPr/>
          </p:nvSpPr>
          <p:spPr>
            <a:xfrm>
              <a:off x="11970350" y="595150"/>
              <a:ext cx="1757021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>
                  <a:solidFill>
                    <a:schemeClr val="accent4"/>
                  </a:solidFill>
                </a:defRPr>
              </a:lvl1pPr>
            </a:lstStyle>
            <a:p>
              <a:r>
                <a:t>Ideation</a:t>
              </a:r>
            </a:p>
          </p:txBody>
        </p:sp>
        <p:sp>
          <p:nvSpPr>
            <p:cNvPr id="345" name="Select concept"/>
            <p:cNvSpPr txBox="1"/>
            <p:nvPr/>
          </p:nvSpPr>
          <p:spPr>
            <a:xfrm>
              <a:off x="14562001" y="596306"/>
              <a:ext cx="3188057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Select concept</a:t>
              </a:r>
            </a:p>
          </p:txBody>
        </p:sp>
        <p:sp>
          <p:nvSpPr>
            <p:cNvPr id="346" name="Wrap-up"/>
            <p:cNvSpPr txBox="1"/>
            <p:nvPr/>
          </p:nvSpPr>
          <p:spPr>
            <a:xfrm>
              <a:off x="21300911" y="596306"/>
              <a:ext cx="1901496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Wrap-up</a:t>
              </a:r>
            </a:p>
          </p:txBody>
        </p:sp>
        <p:sp>
          <p:nvSpPr>
            <p:cNvPr id="347" name="5 min"/>
            <p:cNvSpPr txBox="1"/>
            <p:nvPr/>
          </p:nvSpPr>
          <p:spPr>
            <a:xfrm>
              <a:off x="23266" y="-1"/>
              <a:ext cx="99085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5 min</a:t>
              </a:r>
            </a:p>
          </p:txBody>
        </p:sp>
        <p:sp>
          <p:nvSpPr>
            <p:cNvPr id="348" name="15 min"/>
            <p:cNvSpPr txBox="1"/>
            <p:nvPr/>
          </p:nvSpPr>
          <p:spPr>
            <a:xfrm>
              <a:off x="2455834" y="0"/>
              <a:ext cx="1188569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15 min</a:t>
              </a:r>
            </a:p>
          </p:txBody>
        </p:sp>
        <p:sp>
          <p:nvSpPr>
            <p:cNvPr id="349" name="15 min"/>
            <p:cNvSpPr txBox="1"/>
            <p:nvPr/>
          </p:nvSpPr>
          <p:spPr>
            <a:xfrm>
              <a:off x="5218044" y="0"/>
              <a:ext cx="1188568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15 min</a:t>
              </a:r>
            </a:p>
          </p:txBody>
        </p:sp>
        <p:sp>
          <p:nvSpPr>
            <p:cNvPr id="350" name="20 min"/>
            <p:cNvSpPr txBox="1"/>
            <p:nvPr/>
          </p:nvSpPr>
          <p:spPr>
            <a:xfrm>
              <a:off x="12254576" y="1156"/>
              <a:ext cx="118856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20 min</a:t>
              </a:r>
            </a:p>
          </p:txBody>
        </p:sp>
        <p:sp>
          <p:nvSpPr>
            <p:cNvPr id="351" name="15 min"/>
            <p:cNvSpPr txBox="1"/>
            <p:nvPr/>
          </p:nvSpPr>
          <p:spPr>
            <a:xfrm>
              <a:off x="15561745" y="1156"/>
              <a:ext cx="118856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15 min</a:t>
              </a:r>
            </a:p>
          </p:txBody>
        </p:sp>
        <p:sp>
          <p:nvSpPr>
            <p:cNvPr id="352" name="5 min"/>
            <p:cNvSpPr txBox="1"/>
            <p:nvPr/>
          </p:nvSpPr>
          <p:spPr>
            <a:xfrm>
              <a:off x="21756231" y="-1"/>
              <a:ext cx="99085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5 min</a:t>
              </a:r>
            </a:p>
          </p:txBody>
        </p:sp>
        <p:sp>
          <p:nvSpPr>
            <p:cNvPr id="353" name="All"/>
            <p:cNvSpPr txBox="1"/>
            <p:nvPr/>
          </p:nvSpPr>
          <p:spPr>
            <a:xfrm>
              <a:off x="267385" y="1304066"/>
              <a:ext cx="502616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All</a:t>
              </a:r>
            </a:p>
          </p:txBody>
        </p:sp>
        <p:sp>
          <p:nvSpPr>
            <p:cNvPr id="354" name="Team"/>
            <p:cNvSpPr txBox="1"/>
            <p:nvPr/>
          </p:nvSpPr>
          <p:spPr>
            <a:xfrm>
              <a:off x="2568026" y="1304066"/>
              <a:ext cx="96418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355" name="Team"/>
            <p:cNvSpPr txBox="1"/>
            <p:nvPr/>
          </p:nvSpPr>
          <p:spPr>
            <a:xfrm>
              <a:off x="5330235" y="1304066"/>
              <a:ext cx="96418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356" name="Team"/>
            <p:cNvSpPr txBox="1"/>
            <p:nvPr/>
          </p:nvSpPr>
          <p:spPr>
            <a:xfrm>
              <a:off x="12366768" y="1302911"/>
              <a:ext cx="96418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357" name="Team"/>
            <p:cNvSpPr txBox="1"/>
            <p:nvPr/>
          </p:nvSpPr>
          <p:spPr>
            <a:xfrm>
              <a:off x="15673937" y="1304066"/>
              <a:ext cx="96418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358" name="All"/>
            <p:cNvSpPr txBox="1"/>
            <p:nvPr/>
          </p:nvSpPr>
          <p:spPr>
            <a:xfrm>
              <a:off x="22000351" y="1304066"/>
              <a:ext cx="502616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All</a:t>
              </a:r>
            </a:p>
          </p:txBody>
        </p:sp>
        <p:sp>
          <p:nvSpPr>
            <p:cNvPr id="359" name="Subsystems"/>
            <p:cNvSpPr txBox="1"/>
            <p:nvPr/>
          </p:nvSpPr>
          <p:spPr>
            <a:xfrm>
              <a:off x="18345100" y="596306"/>
              <a:ext cx="2629815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Subsystems</a:t>
              </a:r>
            </a:p>
          </p:txBody>
        </p:sp>
        <p:sp>
          <p:nvSpPr>
            <p:cNvPr id="360" name="20 min"/>
            <p:cNvSpPr txBox="1"/>
            <p:nvPr/>
          </p:nvSpPr>
          <p:spPr>
            <a:xfrm>
              <a:off x="19065723" y="0"/>
              <a:ext cx="1188569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20 min</a:t>
              </a:r>
            </a:p>
          </p:txBody>
        </p:sp>
        <p:sp>
          <p:nvSpPr>
            <p:cNvPr id="361" name="Team"/>
            <p:cNvSpPr txBox="1"/>
            <p:nvPr/>
          </p:nvSpPr>
          <p:spPr>
            <a:xfrm>
              <a:off x="19177915" y="1304066"/>
              <a:ext cx="96418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362" name="Value proposition"/>
            <p:cNvSpPr txBox="1"/>
            <p:nvPr/>
          </p:nvSpPr>
          <p:spPr>
            <a:xfrm>
              <a:off x="7490006" y="595150"/>
              <a:ext cx="3645714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Value proposition</a:t>
              </a:r>
            </a:p>
          </p:txBody>
        </p:sp>
        <p:sp>
          <p:nvSpPr>
            <p:cNvPr id="363" name="10 min"/>
            <p:cNvSpPr txBox="1"/>
            <p:nvPr/>
          </p:nvSpPr>
          <p:spPr>
            <a:xfrm>
              <a:off x="8609820" y="1156"/>
              <a:ext cx="1188568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10 min</a:t>
              </a:r>
            </a:p>
          </p:txBody>
        </p:sp>
        <p:sp>
          <p:nvSpPr>
            <p:cNvPr id="364" name="Team"/>
            <p:cNvSpPr txBox="1"/>
            <p:nvPr/>
          </p:nvSpPr>
          <p:spPr>
            <a:xfrm>
              <a:off x="8722012" y="1302911"/>
              <a:ext cx="96418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</p:grp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Ideation 1/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Ideation 1/2</a:t>
            </a:r>
          </a:p>
        </p:txBody>
      </p:sp>
      <p:sp>
        <p:nvSpPr>
          <p:cNvPr id="368" name="Line"/>
          <p:cNvSpPr/>
          <p:nvPr/>
        </p:nvSpPr>
        <p:spPr>
          <a:xfrm>
            <a:off x="341092" y="11121181"/>
            <a:ext cx="23701817" cy="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69" name="Line"/>
          <p:cNvSpPr/>
          <p:nvPr/>
        </p:nvSpPr>
        <p:spPr>
          <a:xfrm flipV="1">
            <a:off x="12553998" y="11121181"/>
            <a:ext cx="1901495" cy="1"/>
          </a:xfrm>
          <a:prstGeom prst="line">
            <a:avLst/>
          </a:prstGeom>
          <a:ln w="1016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grpSp>
        <p:nvGrpSpPr>
          <p:cNvPr id="394" name="Group"/>
          <p:cNvGrpSpPr/>
          <p:nvPr/>
        </p:nvGrpSpPr>
        <p:grpSpPr>
          <a:xfrm>
            <a:off x="590795" y="11435545"/>
            <a:ext cx="23202408" cy="1827515"/>
            <a:chOff x="-1" y="-1"/>
            <a:chExt cx="23202408" cy="1827512"/>
          </a:xfrm>
        </p:grpSpPr>
        <p:sp>
          <p:nvSpPr>
            <p:cNvPr id="370" name="Intro"/>
            <p:cNvSpPr txBox="1"/>
            <p:nvPr/>
          </p:nvSpPr>
          <p:spPr>
            <a:xfrm>
              <a:off x="-1" y="596306"/>
              <a:ext cx="1037388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Intro</a:t>
              </a:r>
            </a:p>
          </p:txBody>
        </p:sp>
        <p:sp>
          <p:nvSpPr>
            <p:cNvPr id="371" name="Organise data"/>
            <p:cNvSpPr txBox="1"/>
            <p:nvPr/>
          </p:nvSpPr>
          <p:spPr>
            <a:xfrm>
              <a:off x="1563989" y="596306"/>
              <a:ext cx="2972258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Organise data</a:t>
              </a:r>
            </a:p>
          </p:txBody>
        </p:sp>
        <p:sp>
          <p:nvSpPr>
            <p:cNvPr id="372" name="Analysis"/>
            <p:cNvSpPr txBox="1"/>
            <p:nvPr/>
          </p:nvSpPr>
          <p:spPr>
            <a:xfrm>
              <a:off x="4912787" y="596306"/>
              <a:ext cx="1799083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Analysis</a:t>
              </a:r>
            </a:p>
          </p:txBody>
        </p:sp>
        <p:sp>
          <p:nvSpPr>
            <p:cNvPr id="373" name="Ideation"/>
            <p:cNvSpPr txBox="1"/>
            <p:nvPr/>
          </p:nvSpPr>
          <p:spPr>
            <a:xfrm>
              <a:off x="11970350" y="595150"/>
              <a:ext cx="1757021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>
                  <a:solidFill>
                    <a:schemeClr val="accent4"/>
                  </a:solidFill>
                </a:defRPr>
              </a:lvl1pPr>
            </a:lstStyle>
            <a:p>
              <a:r>
                <a:t>Ideation</a:t>
              </a:r>
            </a:p>
          </p:txBody>
        </p:sp>
        <p:sp>
          <p:nvSpPr>
            <p:cNvPr id="374" name="Select concept"/>
            <p:cNvSpPr txBox="1"/>
            <p:nvPr/>
          </p:nvSpPr>
          <p:spPr>
            <a:xfrm>
              <a:off x="14562001" y="596306"/>
              <a:ext cx="3188057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Select concept</a:t>
              </a:r>
            </a:p>
          </p:txBody>
        </p:sp>
        <p:sp>
          <p:nvSpPr>
            <p:cNvPr id="375" name="Wrap-up"/>
            <p:cNvSpPr txBox="1"/>
            <p:nvPr/>
          </p:nvSpPr>
          <p:spPr>
            <a:xfrm>
              <a:off x="21300911" y="596306"/>
              <a:ext cx="1901496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Wrap-up</a:t>
              </a:r>
            </a:p>
          </p:txBody>
        </p:sp>
        <p:sp>
          <p:nvSpPr>
            <p:cNvPr id="376" name="5 min"/>
            <p:cNvSpPr txBox="1"/>
            <p:nvPr/>
          </p:nvSpPr>
          <p:spPr>
            <a:xfrm>
              <a:off x="23266" y="-1"/>
              <a:ext cx="99085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5 min</a:t>
              </a:r>
            </a:p>
          </p:txBody>
        </p:sp>
        <p:sp>
          <p:nvSpPr>
            <p:cNvPr id="377" name="15 min"/>
            <p:cNvSpPr txBox="1"/>
            <p:nvPr/>
          </p:nvSpPr>
          <p:spPr>
            <a:xfrm>
              <a:off x="2455834" y="0"/>
              <a:ext cx="1188569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15 min</a:t>
              </a:r>
            </a:p>
          </p:txBody>
        </p:sp>
        <p:sp>
          <p:nvSpPr>
            <p:cNvPr id="378" name="15 min"/>
            <p:cNvSpPr txBox="1"/>
            <p:nvPr/>
          </p:nvSpPr>
          <p:spPr>
            <a:xfrm>
              <a:off x="5218044" y="0"/>
              <a:ext cx="1188568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15 min</a:t>
              </a:r>
            </a:p>
          </p:txBody>
        </p:sp>
        <p:sp>
          <p:nvSpPr>
            <p:cNvPr id="379" name="20 min"/>
            <p:cNvSpPr txBox="1"/>
            <p:nvPr/>
          </p:nvSpPr>
          <p:spPr>
            <a:xfrm>
              <a:off x="12254576" y="1156"/>
              <a:ext cx="118856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20 min</a:t>
              </a:r>
            </a:p>
          </p:txBody>
        </p:sp>
        <p:sp>
          <p:nvSpPr>
            <p:cNvPr id="380" name="15 min"/>
            <p:cNvSpPr txBox="1"/>
            <p:nvPr/>
          </p:nvSpPr>
          <p:spPr>
            <a:xfrm>
              <a:off x="15561745" y="1156"/>
              <a:ext cx="118856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15 min</a:t>
              </a:r>
            </a:p>
          </p:txBody>
        </p:sp>
        <p:sp>
          <p:nvSpPr>
            <p:cNvPr id="381" name="5 min"/>
            <p:cNvSpPr txBox="1"/>
            <p:nvPr/>
          </p:nvSpPr>
          <p:spPr>
            <a:xfrm>
              <a:off x="21756231" y="-1"/>
              <a:ext cx="99085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5 min</a:t>
              </a:r>
            </a:p>
          </p:txBody>
        </p:sp>
        <p:sp>
          <p:nvSpPr>
            <p:cNvPr id="382" name="All"/>
            <p:cNvSpPr txBox="1"/>
            <p:nvPr/>
          </p:nvSpPr>
          <p:spPr>
            <a:xfrm>
              <a:off x="267385" y="1304066"/>
              <a:ext cx="502616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All</a:t>
              </a:r>
            </a:p>
          </p:txBody>
        </p:sp>
        <p:sp>
          <p:nvSpPr>
            <p:cNvPr id="383" name="Team"/>
            <p:cNvSpPr txBox="1"/>
            <p:nvPr/>
          </p:nvSpPr>
          <p:spPr>
            <a:xfrm>
              <a:off x="2568026" y="1304066"/>
              <a:ext cx="96418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384" name="Team"/>
            <p:cNvSpPr txBox="1"/>
            <p:nvPr/>
          </p:nvSpPr>
          <p:spPr>
            <a:xfrm>
              <a:off x="5330235" y="1304066"/>
              <a:ext cx="96418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385" name="Team"/>
            <p:cNvSpPr txBox="1"/>
            <p:nvPr/>
          </p:nvSpPr>
          <p:spPr>
            <a:xfrm>
              <a:off x="12366768" y="1302911"/>
              <a:ext cx="96418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386" name="Team"/>
            <p:cNvSpPr txBox="1"/>
            <p:nvPr/>
          </p:nvSpPr>
          <p:spPr>
            <a:xfrm>
              <a:off x="15673937" y="1304066"/>
              <a:ext cx="96418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387" name="All"/>
            <p:cNvSpPr txBox="1"/>
            <p:nvPr/>
          </p:nvSpPr>
          <p:spPr>
            <a:xfrm>
              <a:off x="22000351" y="1304066"/>
              <a:ext cx="502616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All</a:t>
              </a:r>
            </a:p>
          </p:txBody>
        </p:sp>
        <p:sp>
          <p:nvSpPr>
            <p:cNvPr id="388" name="Subsystems"/>
            <p:cNvSpPr txBox="1"/>
            <p:nvPr/>
          </p:nvSpPr>
          <p:spPr>
            <a:xfrm>
              <a:off x="18345100" y="596306"/>
              <a:ext cx="2629815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Subsystems</a:t>
              </a:r>
            </a:p>
          </p:txBody>
        </p:sp>
        <p:sp>
          <p:nvSpPr>
            <p:cNvPr id="389" name="20 min"/>
            <p:cNvSpPr txBox="1"/>
            <p:nvPr/>
          </p:nvSpPr>
          <p:spPr>
            <a:xfrm>
              <a:off x="19065723" y="0"/>
              <a:ext cx="1188569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20 min</a:t>
              </a:r>
            </a:p>
          </p:txBody>
        </p:sp>
        <p:sp>
          <p:nvSpPr>
            <p:cNvPr id="390" name="Team"/>
            <p:cNvSpPr txBox="1"/>
            <p:nvPr/>
          </p:nvSpPr>
          <p:spPr>
            <a:xfrm>
              <a:off x="19177915" y="1304066"/>
              <a:ext cx="96418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391" name="Value proposition"/>
            <p:cNvSpPr txBox="1"/>
            <p:nvPr/>
          </p:nvSpPr>
          <p:spPr>
            <a:xfrm>
              <a:off x="7490006" y="595150"/>
              <a:ext cx="3645714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Value proposition</a:t>
              </a:r>
            </a:p>
          </p:txBody>
        </p:sp>
        <p:sp>
          <p:nvSpPr>
            <p:cNvPr id="392" name="10 min"/>
            <p:cNvSpPr txBox="1"/>
            <p:nvPr/>
          </p:nvSpPr>
          <p:spPr>
            <a:xfrm>
              <a:off x="8609820" y="1156"/>
              <a:ext cx="1188568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10 min</a:t>
              </a:r>
            </a:p>
          </p:txBody>
        </p:sp>
        <p:sp>
          <p:nvSpPr>
            <p:cNvPr id="393" name="Team"/>
            <p:cNvSpPr txBox="1"/>
            <p:nvPr/>
          </p:nvSpPr>
          <p:spPr>
            <a:xfrm>
              <a:off x="8722012" y="1302911"/>
              <a:ext cx="96418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</p:grpSp>
      <p:pic>
        <p:nvPicPr>
          <p:cNvPr id="39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4954" y="1583815"/>
            <a:ext cx="11952449" cy="9025704"/>
          </a:xfrm>
          <a:prstGeom prst="rect">
            <a:avLst/>
          </a:prstGeom>
          <a:ln w="12700">
            <a:miter lim="400000"/>
          </a:ln>
        </p:spPr>
      </p:pic>
      <p:sp>
        <p:nvSpPr>
          <p:cNvPr id="396" name="Take the value proposition…"/>
          <p:cNvSpPr txBox="1"/>
          <p:nvPr/>
        </p:nvSpPr>
        <p:spPr>
          <a:xfrm>
            <a:off x="1165888" y="2769523"/>
            <a:ext cx="9883171" cy="5135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>
              <a:lnSpc>
                <a:spcPct val="90000"/>
              </a:lnSpc>
              <a:spcBef>
                <a:spcPts val="4500"/>
              </a:spcBef>
              <a:defRPr sz="4800"/>
            </a:pPr>
            <a:r>
              <a:t>Take the value proposition</a:t>
            </a:r>
            <a:endParaRPr sz="1200">
              <a:solidFill>
                <a:srgbClr val="000000"/>
              </a:solidFill>
            </a:endParaRPr>
          </a:p>
          <a:p>
            <a:pPr algn="l">
              <a:lnSpc>
                <a:spcPct val="90000"/>
              </a:lnSpc>
              <a:spcBef>
                <a:spcPts val="4500"/>
              </a:spcBef>
              <a:defRPr sz="4800"/>
            </a:pPr>
            <a:r>
              <a:t>Have something to write and draw on (whiteboard, A4, post-its)</a:t>
            </a:r>
            <a:endParaRPr sz="1200">
              <a:solidFill>
                <a:srgbClr val="000000"/>
              </a:solidFill>
            </a:endParaRPr>
          </a:p>
          <a:p>
            <a:pPr algn="l">
              <a:lnSpc>
                <a:spcPct val="90000"/>
              </a:lnSpc>
              <a:spcBef>
                <a:spcPts val="4500"/>
              </a:spcBef>
              <a:defRPr sz="4800"/>
            </a:pPr>
            <a:r>
              <a:t>Start a timer for 5 minutes</a:t>
            </a:r>
          </a:p>
          <a:p>
            <a:pPr algn="l">
              <a:lnSpc>
                <a:spcPct val="90000"/>
              </a:lnSpc>
              <a:spcBef>
                <a:spcPts val="4500"/>
              </a:spcBef>
              <a:defRPr sz="4800"/>
            </a:pPr>
            <a:r>
              <a:t>Use a well-known technique</a:t>
            </a:r>
          </a:p>
        </p:txBody>
      </p:sp>
      <p:sp>
        <p:nvSpPr>
          <p:cNvPr id="397" name="Crazy 8s: take an A4, fold it to get 8 rectangles, and fill each rectangle with an idea (right)"/>
          <p:cNvSpPr txBox="1"/>
          <p:nvPr/>
        </p:nvSpPr>
        <p:spPr>
          <a:xfrm>
            <a:off x="4404213" y="8942399"/>
            <a:ext cx="7257795" cy="1620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lnSpc>
                <a:spcPct val="90000"/>
              </a:lnSpc>
              <a:spcBef>
                <a:spcPts val="4500"/>
              </a:spcBef>
              <a:defRPr sz="3600"/>
            </a:lvl1pPr>
          </a:lstStyle>
          <a:p>
            <a:r>
              <a:t>Crazy 8s: take an A4, fold it to get 8 rectangles, and fill each rectangle with an idea (right)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Concept selec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Concept selection</a:t>
            </a:r>
          </a:p>
        </p:txBody>
      </p:sp>
      <p:sp>
        <p:nvSpPr>
          <p:cNvPr id="400" name="Select a concept selection technique from the lecture or from DESN1000…"/>
          <p:cNvSpPr txBox="1">
            <a:spLocks noGrp="1"/>
          </p:cNvSpPr>
          <p:nvPr>
            <p:ph type="body" sz="half" idx="1"/>
          </p:nvPr>
        </p:nvSpPr>
        <p:spPr>
          <a:xfrm>
            <a:off x="1206500" y="4248504"/>
            <a:ext cx="21971000" cy="6081667"/>
          </a:xfrm>
          <a:prstGeom prst="rect">
            <a:avLst/>
          </a:prstGeom>
        </p:spPr>
        <p:txBody>
          <a:bodyPr numCol="2" spcCol="1098550"/>
          <a:lstStyle/>
          <a:p>
            <a:pPr marL="0" indent="0" defTabSz="2048204">
              <a:spcBef>
                <a:spcPts val="3700"/>
              </a:spcBef>
              <a:buSzTx/>
              <a:buNone/>
              <a:defRPr sz="4032"/>
            </a:pPr>
            <a:r>
              <a:rPr dirty="0"/>
              <a:t>Select a concept selection technique from</a:t>
            </a:r>
            <a:r>
              <a:rPr lang="en-AU" dirty="0"/>
              <a:t> the next slide,</a:t>
            </a:r>
            <a:r>
              <a:rPr dirty="0"/>
              <a:t> </a:t>
            </a:r>
            <a:r>
              <a:rPr lang="en-AU" dirty="0"/>
              <a:t>your own research </a:t>
            </a:r>
            <a:r>
              <a:rPr dirty="0"/>
              <a:t>or from DESN1000</a:t>
            </a:r>
          </a:p>
          <a:p>
            <a:pPr marL="0" indent="0" defTabSz="2048204">
              <a:spcBef>
                <a:spcPts val="3700"/>
              </a:spcBef>
              <a:buSzTx/>
              <a:buNone/>
              <a:defRPr sz="4032"/>
            </a:pPr>
            <a:r>
              <a:rPr dirty="0"/>
              <a:t>Reflect on the ideas collected so far</a:t>
            </a:r>
            <a:endParaRPr dirty="0">
              <a:solidFill>
                <a:srgbClr val="000000"/>
              </a:solidFill>
            </a:endParaRPr>
          </a:p>
          <a:p>
            <a:pPr marL="0" indent="0" defTabSz="2048204">
              <a:spcBef>
                <a:spcPts val="3700"/>
              </a:spcBef>
              <a:buSzTx/>
              <a:buNone/>
              <a:defRPr sz="4032"/>
            </a:pPr>
            <a:r>
              <a:rPr dirty="0"/>
              <a:t>What areas (kind of ideas/solutions/challenges) are covered well?</a:t>
            </a:r>
            <a:endParaRPr dirty="0">
              <a:solidFill>
                <a:srgbClr val="000000"/>
              </a:solidFill>
            </a:endParaRPr>
          </a:p>
          <a:p>
            <a:pPr marL="0" indent="0" defTabSz="2048204">
              <a:spcBef>
                <a:spcPts val="3700"/>
              </a:spcBef>
              <a:buSzTx/>
              <a:buNone/>
              <a:defRPr sz="4032"/>
            </a:pPr>
            <a:r>
              <a:rPr dirty="0"/>
              <a:t>Which ideas are answering better to your problem and the needs of your stakeholders?</a:t>
            </a:r>
            <a:endParaRPr dirty="0">
              <a:solidFill>
                <a:srgbClr val="000000"/>
              </a:solidFill>
            </a:endParaRPr>
          </a:p>
          <a:p>
            <a:pPr marL="0" indent="0" defTabSz="2048204">
              <a:spcBef>
                <a:spcPts val="3700"/>
              </a:spcBef>
              <a:buSzTx/>
              <a:buNone/>
              <a:defRPr sz="4032"/>
            </a:pPr>
            <a:r>
              <a:rPr dirty="0"/>
              <a:t>Think of alternative solutions (less is more!)</a:t>
            </a:r>
            <a:endParaRPr dirty="0">
              <a:solidFill>
                <a:srgbClr val="000000"/>
              </a:solidFill>
            </a:endParaRPr>
          </a:p>
          <a:p>
            <a:pPr marL="0" indent="0" defTabSz="2048204">
              <a:spcBef>
                <a:spcPts val="3700"/>
              </a:spcBef>
              <a:buSzTx/>
              <a:buNone/>
              <a:defRPr sz="4032"/>
            </a:pPr>
            <a:r>
              <a:rPr dirty="0"/>
              <a:t>If a challenge feels too big, subdivide and solve the parts</a:t>
            </a:r>
          </a:p>
          <a:p>
            <a:pPr marL="0" indent="0" defTabSz="2048204">
              <a:spcBef>
                <a:spcPts val="3700"/>
              </a:spcBef>
              <a:buSzTx/>
              <a:buNone/>
              <a:defRPr sz="4032"/>
            </a:pPr>
            <a:r>
              <a:rPr dirty="0"/>
              <a:t>It may help to pin up all output on a wall, lay it out on a table, etc. to get a good overview</a:t>
            </a:r>
          </a:p>
        </p:txBody>
      </p:sp>
      <p:sp>
        <p:nvSpPr>
          <p:cNvPr id="401" name="Line"/>
          <p:cNvSpPr/>
          <p:nvPr/>
        </p:nvSpPr>
        <p:spPr>
          <a:xfrm>
            <a:off x="341092" y="11121181"/>
            <a:ext cx="23701817" cy="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402" name="Line"/>
          <p:cNvSpPr/>
          <p:nvPr/>
        </p:nvSpPr>
        <p:spPr>
          <a:xfrm flipV="1">
            <a:off x="15842093" y="11121181"/>
            <a:ext cx="1901496" cy="1"/>
          </a:xfrm>
          <a:prstGeom prst="line">
            <a:avLst/>
          </a:prstGeom>
          <a:ln w="1016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grpSp>
        <p:nvGrpSpPr>
          <p:cNvPr id="427" name="Group"/>
          <p:cNvGrpSpPr/>
          <p:nvPr/>
        </p:nvGrpSpPr>
        <p:grpSpPr>
          <a:xfrm>
            <a:off x="590795" y="11435545"/>
            <a:ext cx="23202408" cy="1827515"/>
            <a:chOff x="-1" y="-1"/>
            <a:chExt cx="23202408" cy="1827512"/>
          </a:xfrm>
        </p:grpSpPr>
        <p:sp>
          <p:nvSpPr>
            <p:cNvPr id="403" name="Intro"/>
            <p:cNvSpPr txBox="1"/>
            <p:nvPr/>
          </p:nvSpPr>
          <p:spPr>
            <a:xfrm>
              <a:off x="-1" y="596306"/>
              <a:ext cx="1037388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Intro</a:t>
              </a:r>
            </a:p>
          </p:txBody>
        </p:sp>
        <p:sp>
          <p:nvSpPr>
            <p:cNvPr id="404" name="Organise data"/>
            <p:cNvSpPr txBox="1"/>
            <p:nvPr/>
          </p:nvSpPr>
          <p:spPr>
            <a:xfrm>
              <a:off x="1563989" y="596306"/>
              <a:ext cx="2972258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Organise data</a:t>
              </a:r>
            </a:p>
          </p:txBody>
        </p:sp>
        <p:sp>
          <p:nvSpPr>
            <p:cNvPr id="405" name="Analysis"/>
            <p:cNvSpPr txBox="1"/>
            <p:nvPr/>
          </p:nvSpPr>
          <p:spPr>
            <a:xfrm>
              <a:off x="4912787" y="596306"/>
              <a:ext cx="1799083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Analysis</a:t>
              </a:r>
            </a:p>
          </p:txBody>
        </p:sp>
        <p:sp>
          <p:nvSpPr>
            <p:cNvPr id="406" name="Ideation"/>
            <p:cNvSpPr txBox="1"/>
            <p:nvPr/>
          </p:nvSpPr>
          <p:spPr>
            <a:xfrm>
              <a:off x="11970350" y="595150"/>
              <a:ext cx="1757021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>
                  <a:solidFill>
                    <a:schemeClr val="accent4"/>
                  </a:solidFill>
                </a:defRPr>
              </a:lvl1pPr>
            </a:lstStyle>
            <a:p>
              <a:r>
                <a:t>Ideation</a:t>
              </a:r>
            </a:p>
          </p:txBody>
        </p:sp>
        <p:sp>
          <p:nvSpPr>
            <p:cNvPr id="407" name="Select concept"/>
            <p:cNvSpPr txBox="1"/>
            <p:nvPr/>
          </p:nvSpPr>
          <p:spPr>
            <a:xfrm>
              <a:off x="14562001" y="596306"/>
              <a:ext cx="3188057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Select concept</a:t>
              </a:r>
            </a:p>
          </p:txBody>
        </p:sp>
        <p:sp>
          <p:nvSpPr>
            <p:cNvPr id="408" name="Wrap-up"/>
            <p:cNvSpPr txBox="1"/>
            <p:nvPr/>
          </p:nvSpPr>
          <p:spPr>
            <a:xfrm>
              <a:off x="21300911" y="596306"/>
              <a:ext cx="1901496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Wrap-up</a:t>
              </a:r>
            </a:p>
          </p:txBody>
        </p:sp>
        <p:sp>
          <p:nvSpPr>
            <p:cNvPr id="409" name="5 min"/>
            <p:cNvSpPr txBox="1"/>
            <p:nvPr/>
          </p:nvSpPr>
          <p:spPr>
            <a:xfrm>
              <a:off x="23266" y="-1"/>
              <a:ext cx="99085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5 min</a:t>
              </a:r>
            </a:p>
          </p:txBody>
        </p:sp>
        <p:sp>
          <p:nvSpPr>
            <p:cNvPr id="410" name="15 min"/>
            <p:cNvSpPr txBox="1"/>
            <p:nvPr/>
          </p:nvSpPr>
          <p:spPr>
            <a:xfrm>
              <a:off x="2455834" y="0"/>
              <a:ext cx="1188569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15 min</a:t>
              </a:r>
            </a:p>
          </p:txBody>
        </p:sp>
        <p:sp>
          <p:nvSpPr>
            <p:cNvPr id="411" name="15 min"/>
            <p:cNvSpPr txBox="1"/>
            <p:nvPr/>
          </p:nvSpPr>
          <p:spPr>
            <a:xfrm>
              <a:off x="5218044" y="0"/>
              <a:ext cx="1188568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15 min</a:t>
              </a:r>
            </a:p>
          </p:txBody>
        </p:sp>
        <p:sp>
          <p:nvSpPr>
            <p:cNvPr id="412" name="20 min"/>
            <p:cNvSpPr txBox="1"/>
            <p:nvPr/>
          </p:nvSpPr>
          <p:spPr>
            <a:xfrm>
              <a:off x="12254576" y="1156"/>
              <a:ext cx="118856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20 min</a:t>
              </a:r>
            </a:p>
          </p:txBody>
        </p:sp>
        <p:sp>
          <p:nvSpPr>
            <p:cNvPr id="413" name="15 min"/>
            <p:cNvSpPr txBox="1"/>
            <p:nvPr/>
          </p:nvSpPr>
          <p:spPr>
            <a:xfrm>
              <a:off x="15561745" y="1156"/>
              <a:ext cx="118856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15 min</a:t>
              </a:r>
            </a:p>
          </p:txBody>
        </p:sp>
        <p:sp>
          <p:nvSpPr>
            <p:cNvPr id="414" name="5 min"/>
            <p:cNvSpPr txBox="1"/>
            <p:nvPr/>
          </p:nvSpPr>
          <p:spPr>
            <a:xfrm>
              <a:off x="21756231" y="-1"/>
              <a:ext cx="99085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5 min</a:t>
              </a:r>
            </a:p>
          </p:txBody>
        </p:sp>
        <p:sp>
          <p:nvSpPr>
            <p:cNvPr id="415" name="All"/>
            <p:cNvSpPr txBox="1"/>
            <p:nvPr/>
          </p:nvSpPr>
          <p:spPr>
            <a:xfrm>
              <a:off x="267385" y="1304066"/>
              <a:ext cx="502616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All</a:t>
              </a:r>
            </a:p>
          </p:txBody>
        </p:sp>
        <p:sp>
          <p:nvSpPr>
            <p:cNvPr id="416" name="Team"/>
            <p:cNvSpPr txBox="1"/>
            <p:nvPr/>
          </p:nvSpPr>
          <p:spPr>
            <a:xfrm>
              <a:off x="2568026" y="1304066"/>
              <a:ext cx="96418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417" name="Team"/>
            <p:cNvSpPr txBox="1"/>
            <p:nvPr/>
          </p:nvSpPr>
          <p:spPr>
            <a:xfrm>
              <a:off x="5330235" y="1304066"/>
              <a:ext cx="96418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418" name="Team"/>
            <p:cNvSpPr txBox="1"/>
            <p:nvPr/>
          </p:nvSpPr>
          <p:spPr>
            <a:xfrm>
              <a:off x="12366768" y="1302911"/>
              <a:ext cx="96418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419" name="Team"/>
            <p:cNvSpPr txBox="1"/>
            <p:nvPr/>
          </p:nvSpPr>
          <p:spPr>
            <a:xfrm>
              <a:off x="15673937" y="1304066"/>
              <a:ext cx="96418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420" name="All"/>
            <p:cNvSpPr txBox="1"/>
            <p:nvPr/>
          </p:nvSpPr>
          <p:spPr>
            <a:xfrm>
              <a:off x="22000351" y="1304066"/>
              <a:ext cx="502616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All</a:t>
              </a:r>
            </a:p>
          </p:txBody>
        </p:sp>
        <p:sp>
          <p:nvSpPr>
            <p:cNvPr id="421" name="Subsystems"/>
            <p:cNvSpPr txBox="1"/>
            <p:nvPr/>
          </p:nvSpPr>
          <p:spPr>
            <a:xfrm>
              <a:off x="18345100" y="596306"/>
              <a:ext cx="2629815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Subsystems</a:t>
              </a:r>
            </a:p>
          </p:txBody>
        </p:sp>
        <p:sp>
          <p:nvSpPr>
            <p:cNvPr id="422" name="20 min"/>
            <p:cNvSpPr txBox="1"/>
            <p:nvPr/>
          </p:nvSpPr>
          <p:spPr>
            <a:xfrm>
              <a:off x="19065723" y="0"/>
              <a:ext cx="1188569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20 min</a:t>
              </a:r>
            </a:p>
          </p:txBody>
        </p:sp>
        <p:sp>
          <p:nvSpPr>
            <p:cNvPr id="423" name="Team"/>
            <p:cNvSpPr txBox="1"/>
            <p:nvPr/>
          </p:nvSpPr>
          <p:spPr>
            <a:xfrm>
              <a:off x="19177915" y="1304066"/>
              <a:ext cx="96418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424" name="Value proposition"/>
            <p:cNvSpPr txBox="1"/>
            <p:nvPr/>
          </p:nvSpPr>
          <p:spPr>
            <a:xfrm>
              <a:off x="7490006" y="595150"/>
              <a:ext cx="3645714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Value proposition</a:t>
              </a:r>
            </a:p>
          </p:txBody>
        </p:sp>
        <p:sp>
          <p:nvSpPr>
            <p:cNvPr id="425" name="10 min"/>
            <p:cNvSpPr txBox="1"/>
            <p:nvPr/>
          </p:nvSpPr>
          <p:spPr>
            <a:xfrm>
              <a:off x="8609820" y="1156"/>
              <a:ext cx="1188568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10 min</a:t>
              </a:r>
            </a:p>
          </p:txBody>
        </p:sp>
        <p:sp>
          <p:nvSpPr>
            <p:cNvPr id="426" name="Team"/>
            <p:cNvSpPr txBox="1"/>
            <p:nvPr/>
          </p:nvSpPr>
          <p:spPr>
            <a:xfrm>
              <a:off x="8722012" y="1302911"/>
              <a:ext cx="96418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</p:grp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Concept selection 1/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Concept selection 1/2</a:t>
            </a:r>
          </a:p>
        </p:txBody>
      </p:sp>
      <p:sp>
        <p:nvSpPr>
          <p:cNvPr id="430" name="Again, use a well-known technique to select your concept…"/>
          <p:cNvSpPr txBox="1">
            <a:spLocks noGrp="1"/>
          </p:cNvSpPr>
          <p:nvPr>
            <p:ph type="body" sz="half" idx="1"/>
          </p:nvPr>
        </p:nvSpPr>
        <p:spPr>
          <a:xfrm>
            <a:off x="1206500" y="4248504"/>
            <a:ext cx="21971000" cy="6081667"/>
          </a:xfrm>
          <a:prstGeom prst="rect">
            <a:avLst/>
          </a:prstGeom>
        </p:spPr>
        <p:txBody>
          <a:bodyPr/>
          <a:lstStyle/>
          <a:p>
            <a:r>
              <a:t>Again, use a well-known technique to select your concept</a:t>
            </a:r>
          </a:p>
          <a:p>
            <a:r>
              <a:t>For example, Clive Dym’s </a:t>
            </a:r>
            <a:r>
              <a:rPr i="1"/>
              <a:t>Engineering Design </a:t>
            </a:r>
            <a:r>
              <a:t>(remember DESN1000?) has descriptions of</a:t>
            </a:r>
          </a:p>
          <a:p>
            <a:pPr lvl="1"/>
            <a:r>
              <a:rPr u="sng">
                <a:solidFill>
                  <a:schemeClr val="accent2">
                    <a:hueOff val="-206910"/>
                    <a:satOff val="-12829"/>
                    <a:lumOff val="16238"/>
                  </a:schemeClr>
                </a:solidFill>
                <a:uFill>
                  <a:solidFill>
                    <a:srgbClr val="0000EE"/>
                  </a:solidFill>
                </a:uFill>
                <a:hlinkClick r:id="rId2"/>
              </a:rPr>
              <a:t>Decision Matrix</a:t>
            </a:r>
            <a:r>
              <a:rPr>
                <a:solidFill>
                  <a:srgbClr val="7DD0FF"/>
                </a:solidFill>
              </a:rPr>
              <a:t> </a:t>
            </a:r>
            <a:r>
              <a:t>– score options against </a:t>
            </a:r>
            <a:r>
              <a:rPr>
                <a:solidFill>
                  <a:srgbClr val="FFE596"/>
                </a:solidFill>
              </a:rPr>
              <a:t>weighted criteria</a:t>
            </a:r>
            <a:endParaRPr sz="1200">
              <a:solidFill>
                <a:srgbClr val="000000"/>
              </a:solidFill>
              <a:latin typeface="Times Roman"/>
              <a:ea typeface="Times Roman"/>
              <a:cs typeface="Times Roman"/>
              <a:sym typeface="Times Roman"/>
            </a:endParaRPr>
          </a:p>
          <a:p>
            <a:pPr lvl="1"/>
            <a:r>
              <a:rPr u="sng">
                <a:solidFill>
                  <a:schemeClr val="accent2">
                    <a:hueOff val="-206910"/>
                    <a:satOff val="-12829"/>
                    <a:lumOff val="16238"/>
                  </a:schemeClr>
                </a:solidFill>
                <a:uFill>
                  <a:solidFill>
                    <a:srgbClr val="0000EE"/>
                  </a:solidFill>
                </a:uFill>
                <a:hlinkClick r:id="rId3"/>
              </a:rPr>
              <a:t>Pairwise Comparison</a:t>
            </a:r>
            <a:r>
              <a:rPr>
                <a:solidFill>
                  <a:srgbClr val="7DD0FF"/>
                </a:solidFill>
              </a:rPr>
              <a:t> </a:t>
            </a:r>
            <a:r>
              <a:t>– score options against </a:t>
            </a:r>
            <a:r>
              <a:rPr>
                <a:solidFill>
                  <a:srgbClr val="FFE596"/>
                </a:solidFill>
              </a:rPr>
              <a:t>each other</a:t>
            </a:r>
          </a:p>
        </p:txBody>
      </p:sp>
      <p:sp>
        <p:nvSpPr>
          <p:cNvPr id="431" name="Line"/>
          <p:cNvSpPr/>
          <p:nvPr/>
        </p:nvSpPr>
        <p:spPr>
          <a:xfrm>
            <a:off x="341092" y="11121181"/>
            <a:ext cx="23701817" cy="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432" name="Line"/>
          <p:cNvSpPr/>
          <p:nvPr/>
        </p:nvSpPr>
        <p:spPr>
          <a:xfrm flipV="1">
            <a:off x="378275" y="11121181"/>
            <a:ext cx="1901496" cy="1"/>
          </a:xfrm>
          <a:prstGeom prst="line">
            <a:avLst/>
          </a:prstGeom>
          <a:ln w="1016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grpSp>
        <p:nvGrpSpPr>
          <p:cNvPr id="457" name="Group"/>
          <p:cNvGrpSpPr/>
          <p:nvPr/>
        </p:nvGrpSpPr>
        <p:grpSpPr>
          <a:xfrm>
            <a:off x="590795" y="11435545"/>
            <a:ext cx="23202408" cy="1827515"/>
            <a:chOff x="-1" y="-1"/>
            <a:chExt cx="23202408" cy="1827512"/>
          </a:xfrm>
        </p:grpSpPr>
        <p:sp>
          <p:nvSpPr>
            <p:cNvPr id="433" name="Intro"/>
            <p:cNvSpPr txBox="1"/>
            <p:nvPr/>
          </p:nvSpPr>
          <p:spPr>
            <a:xfrm>
              <a:off x="-1" y="596306"/>
              <a:ext cx="1037388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Intro</a:t>
              </a:r>
            </a:p>
          </p:txBody>
        </p:sp>
        <p:sp>
          <p:nvSpPr>
            <p:cNvPr id="434" name="Organise data"/>
            <p:cNvSpPr txBox="1"/>
            <p:nvPr/>
          </p:nvSpPr>
          <p:spPr>
            <a:xfrm>
              <a:off x="1563989" y="596306"/>
              <a:ext cx="2972258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Organise data</a:t>
              </a:r>
            </a:p>
          </p:txBody>
        </p:sp>
        <p:sp>
          <p:nvSpPr>
            <p:cNvPr id="435" name="Analysis"/>
            <p:cNvSpPr txBox="1"/>
            <p:nvPr/>
          </p:nvSpPr>
          <p:spPr>
            <a:xfrm>
              <a:off x="4912787" y="596306"/>
              <a:ext cx="1799083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Analysis</a:t>
              </a:r>
            </a:p>
          </p:txBody>
        </p:sp>
        <p:sp>
          <p:nvSpPr>
            <p:cNvPr id="436" name="Ideation"/>
            <p:cNvSpPr txBox="1"/>
            <p:nvPr/>
          </p:nvSpPr>
          <p:spPr>
            <a:xfrm>
              <a:off x="11970350" y="595150"/>
              <a:ext cx="1757021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Ideation</a:t>
              </a:r>
            </a:p>
          </p:txBody>
        </p:sp>
        <p:sp>
          <p:nvSpPr>
            <p:cNvPr id="437" name="Select concept"/>
            <p:cNvSpPr txBox="1"/>
            <p:nvPr/>
          </p:nvSpPr>
          <p:spPr>
            <a:xfrm>
              <a:off x="14562001" y="596306"/>
              <a:ext cx="3188057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>
                  <a:solidFill>
                    <a:schemeClr val="accent4"/>
                  </a:solidFill>
                </a:defRPr>
              </a:lvl1pPr>
            </a:lstStyle>
            <a:p>
              <a:r>
                <a:t>Select concept</a:t>
              </a:r>
            </a:p>
          </p:txBody>
        </p:sp>
        <p:sp>
          <p:nvSpPr>
            <p:cNvPr id="438" name="Wrap-up"/>
            <p:cNvSpPr txBox="1"/>
            <p:nvPr/>
          </p:nvSpPr>
          <p:spPr>
            <a:xfrm>
              <a:off x="21300911" y="596306"/>
              <a:ext cx="1901496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Wrap-up</a:t>
              </a:r>
            </a:p>
          </p:txBody>
        </p:sp>
        <p:sp>
          <p:nvSpPr>
            <p:cNvPr id="439" name="5 min"/>
            <p:cNvSpPr txBox="1"/>
            <p:nvPr/>
          </p:nvSpPr>
          <p:spPr>
            <a:xfrm>
              <a:off x="23266" y="-1"/>
              <a:ext cx="99085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5 min</a:t>
              </a:r>
            </a:p>
          </p:txBody>
        </p:sp>
        <p:sp>
          <p:nvSpPr>
            <p:cNvPr id="440" name="15 min"/>
            <p:cNvSpPr txBox="1"/>
            <p:nvPr/>
          </p:nvSpPr>
          <p:spPr>
            <a:xfrm>
              <a:off x="2455834" y="0"/>
              <a:ext cx="1188569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15 min</a:t>
              </a:r>
            </a:p>
          </p:txBody>
        </p:sp>
        <p:sp>
          <p:nvSpPr>
            <p:cNvPr id="441" name="15 min"/>
            <p:cNvSpPr txBox="1"/>
            <p:nvPr/>
          </p:nvSpPr>
          <p:spPr>
            <a:xfrm>
              <a:off x="5218044" y="0"/>
              <a:ext cx="1188568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15 min</a:t>
              </a:r>
            </a:p>
          </p:txBody>
        </p:sp>
        <p:sp>
          <p:nvSpPr>
            <p:cNvPr id="442" name="20 min"/>
            <p:cNvSpPr txBox="1"/>
            <p:nvPr/>
          </p:nvSpPr>
          <p:spPr>
            <a:xfrm>
              <a:off x="12254576" y="1156"/>
              <a:ext cx="118856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20 min</a:t>
              </a:r>
            </a:p>
          </p:txBody>
        </p:sp>
        <p:sp>
          <p:nvSpPr>
            <p:cNvPr id="443" name="15 min"/>
            <p:cNvSpPr txBox="1"/>
            <p:nvPr/>
          </p:nvSpPr>
          <p:spPr>
            <a:xfrm>
              <a:off x="15561745" y="1156"/>
              <a:ext cx="118856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15 min</a:t>
              </a:r>
            </a:p>
          </p:txBody>
        </p:sp>
        <p:sp>
          <p:nvSpPr>
            <p:cNvPr id="444" name="5 min"/>
            <p:cNvSpPr txBox="1"/>
            <p:nvPr/>
          </p:nvSpPr>
          <p:spPr>
            <a:xfrm>
              <a:off x="21756231" y="-1"/>
              <a:ext cx="99085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5 min</a:t>
              </a:r>
            </a:p>
          </p:txBody>
        </p:sp>
        <p:sp>
          <p:nvSpPr>
            <p:cNvPr id="445" name="All"/>
            <p:cNvSpPr txBox="1"/>
            <p:nvPr/>
          </p:nvSpPr>
          <p:spPr>
            <a:xfrm>
              <a:off x="267385" y="1304066"/>
              <a:ext cx="502616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All</a:t>
              </a:r>
            </a:p>
          </p:txBody>
        </p:sp>
        <p:sp>
          <p:nvSpPr>
            <p:cNvPr id="446" name="Team"/>
            <p:cNvSpPr txBox="1"/>
            <p:nvPr/>
          </p:nvSpPr>
          <p:spPr>
            <a:xfrm>
              <a:off x="2568026" y="1304066"/>
              <a:ext cx="96418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447" name="Team"/>
            <p:cNvSpPr txBox="1"/>
            <p:nvPr/>
          </p:nvSpPr>
          <p:spPr>
            <a:xfrm>
              <a:off x="5330235" y="1304066"/>
              <a:ext cx="96418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448" name="Team"/>
            <p:cNvSpPr txBox="1"/>
            <p:nvPr/>
          </p:nvSpPr>
          <p:spPr>
            <a:xfrm>
              <a:off x="12366768" y="1302911"/>
              <a:ext cx="96418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449" name="Team"/>
            <p:cNvSpPr txBox="1"/>
            <p:nvPr/>
          </p:nvSpPr>
          <p:spPr>
            <a:xfrm>
              <a:off x="15673937" y="1304066"/>
              <a:ext cx="96418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450" name="All"/>
            <p:cNvSpPr txBox="1"/>
            <p:nvPr/>
          </p:nvSpPr>
          <p:spPr>
            <a:xfrm>
              <a:off x="22000351" y="1304066"/>
              <a:ext cx="502616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All</a:t>
              </a:r>
            </a:p>
          </p:txBody>
        </p:sp>
        <p:sp>
          <p:nvSpPr>
            <p:cNvPr id="451" name="Subsystems"/>
            <p:cNvSpPr txBox="1"/>
            <p:nvPr/>
          </p:nvSpPr>
          <p:spPr>
            <a:xfrm>
              <a:off x="18345100" y="596306"/>
              <a:ext cx="2629815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Subsystems</a:t>
              </a:r>
            </a:p>
          </p:txBody>
        </p:sp>
        <p:sp>
          <p:nvSpPr>
            <p:cNvPr id="452" name="20 min"/>
            <p:cNvSpPr txBox="1"/>
            <p:nvPr/>
          </p:nvSpPr>
          <p:spPr>
            <a:xfrm>
              <a:off x="19065723" y="0"/>
              <a:ext cx="1188569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20 min</a:t>
              </a:r>
            </a:p>
          </p:txBody>
        </p:sp>
        <p:sp>
          <p:nvSpPr>
            <p:cNvPr id="453" name="Team"/>
            <p:cNvSpPr txBox="1"/>
            <p:nvPr/>
          </p:nvSpPr>
          <p:spPr>
            <a:xfrm>
              <a:off x="19177915" y="1304066"/>
              <a:ext cx="96418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454" name="Value proposition"/>
            <p:cNvSpPr txBox="1"/>
            <p:nvPr/>
          </p:nvSpPr>
          <p:spPr>
            <a:xfrm>
              <a:off x="7490006" y="595150"/>
              <a:ext cx="3645714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Value proposition</a:t>
              </a:r>
            </a:p>
          </p:txBody>
        </p:sp>
        <p:sp>
          <p:nvSpPr>
            <p:cNvPr id="455" name="10 min"/>
            <p:cNvSpPr txBox="1"/>
            <p:nvPr/>
          </p:nvSpPr>
          <p:spPr>
            <a:xfrm>
              <a:off x="8609820" y="1156"/>
              <a:ext cx="1188568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10 min</a:t>
              </a:r>
            </a:p>
          </p:txBody>
        </p:sp>
        <p:sp>
          <p:nvSpPr>
            <p:cNvPr id="456" name="Team"/>
            <p:cNvSpPr txBox="1"/>
            <p:nvPr/>
          </p:nvSpPr>
          <p:spPr>
            <a:xfrm>
              <a:off x="8722012" y="1302911"/>
              <a:ext cx="96418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</p:grp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Concept selection 2/2"/>
          <p:cNvSpPr txBox="1">
            <a:spLocks noGrp="1"/>
          </p:cNvSpPr>
          <p:nvPr>
            <p:ph type="title"/>
          </p:nvPr>
        </p:nvSpPr>
        <p:spPr>
          <a:xfrm>
            <a:off x="1239157" y="952500"/>
            <a:ext cx="21971000" cy="1433163"/>
          </a:xfrm>
          <a:prstGeom prst="rect">
            <a:avLst/>
          </a:prstGeom>
        </p:spPr>
        <p:txBody>
          <a:bodyPr/>
          <a:lstStyle/>
          <a:p>
            <a:r>
              <a:t>Concept selection 2/2</a:t>
            </a:r>
          </a:p>
        </p:txBody>
      </p:sp>
      <p:sp>
        <p:nvSpPr>
          <p:cNvPr id="460" name="Line"/>
          <p:cNvSpPr/>
          <p:nvPr/>
        </p:nvSpPr>
        <p:spPr>
          <a:xfrm>
            <a:off x="341092" y="11121181"/>
            <a:ext cx="23701817" cy="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461" name="Line"/>
          <p:cNvSpPr/>
          <p:nvPr/>
        </p:nvSpPr>
        <p:spPr>
          <a:xfrm flipV="1">
            <a:off x="378275" y="11121181"/>
            <a:ext cx="1901496" cy="1"/>
          </a:xfrm>
          <a:prstGeom prst="line">
            <a:avLst/>
          </a:prstGeom>
          <a:ln w="1016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grpSp>
        <p:nvGrpSpPr>
          <p:cNvPr id="486" name="Group"/>
          <p:cNvGrpSpPr/>
          <p:nvPr/>
        </p:nvGrpSpPr>
        <p:grpSpPr>
          <a:xfrm>
            <a:off x="590795" y="11435545"/>
            <a:ext cx="23202408" cy="1827515"/>
            <a:chOff x="-1" y="-1"/>
            <a:chExt cx="23202408" cy="1827512"/>
          </a:xfrm>
        </p:grpSpPr>
        <p:sp>
          <p:nvSpPr>
            <p:cNvPr id="462" name="Intro"/>
            <p:cNvSpPr txBox="1"/>
            <p:nvPr/>
          </p:nvSpPr>
          <p:spPr>
            <a:xfrm>
              <a:off x="-1" y="596306"/>
              <a:ext cx="1037388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Intro</a:t>
              </a:r>
            </a:p>
          </p:txBody>
        </p:sp>
        <p:sp>
          <p:nvSpPr>
            <p:cNvPr id="463" name="Organise data"/>
            <p:cNvSpPr txBox="1"/>
            <p:nvPr/>
          </p:nvSpPr>
          <p:spPr>
            <a:xfrm>
              <a:off x="1563989" y="596306"/>
              <a:ext cx="2972258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Organise data</a:t>
              </a:r>
            </a:p>
          </p:txBody>
        </p:sp>
        <p:sp>
          <p:nvSpPr>
            <p:cNvPr id="464" name="Analysis"/>
            <p:cNvSpPr txBox="1"/>
            <p:nvPr/>
          </p:nvSpPr>
          <p:spPr>
            <a:xfrm>
              <a:off x="4912787" y="596306"/>
              <a:ext cx="1799083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Analysis</a:t>
              </a:r>
            </a:p>
          </p:txBody>
        </p:sp>
        <p:sp>
          <p:nvSpPr>
            <p:cNvPr id="465" name="Ideation"/>
            <p:cNvSpPr txBox="1"/>
            <p:nvPr/>
          </p:nvSpPr>
          <p:spPr>
            <a:xfrm>
              <a:off x="11970350" y="595150"/>
              <a:ext cx="1757021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Ideation</a:t>
              </a:r>
            </a:p>
          </p:txBody>
        </p:sp>
        <p:sp>
          <p:nvSpPr>
            <p:cNvPr id="466" name="Select concept"/>
            <p:cNvSpPr txBox="1"/>
            <p:nvPr/>
          </p:nvSpPr>
          <p:spPr>
            <a:xfrm>
              <a:off x="14562001" y="596306"/>
              <a:ext cx="3188057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>
                  <a:solidFill>
                    <a:schemeClr val="accent4"/>
                  </a:solidFill>
                </a:defRPr>
              </a:lvl1pPr>
            </a:lstStyle>
            <a:p>
              <a:r>
                <a:t>Select concept</a:t>
              </a:r>
            </a:p>
          </p:txBody>
        </p:sp>
        <p:sp>
          <p:nvSpPr>
            <p:cNvPr id="467" name="Wrap-up"/>
            <p:cNvSpPr txBox="1"/>
            <p:nvPr/>
          </p:nvSpPr>
          <p:spPr>
            <a:xfrm>
              <a:off x="21300911" y="596306"/>
              <a:ext cx="1901496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Wrap-up</a:t>
              </a:r>
            </a:p>
          </p:txBody>
        </p:sp>
        <p:sp>
          <p:nvSpPr>
            <p:cNvPr id="468" name="5 min"/>
            <p:cNvSpPr txBox="1"/>
            <p:nvPr/>
          </p:nvSpPr>
          <p:spPr>
            <a:xfrm>
              <a:off x="23266" y="-1"/>
              <a:ext cx="99085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5 min</a:t>
              </a:r>
            </a:p>
          </p:txBody>
        </p:sp>
        <p:sp>
          <p:nvSpPr>
            <p:cNvPr id="469" name="15 min"/>
            <p:cNvSpPr txBox="1"/>
            <p:nvPr/>
          </p:nvSpPr>
          <p:spPr>
            <a:xfrm>
              <a:off x="2455834" y="0"/>
              <a:ext cx="1188569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15 min</a:t>
              </a:r>
            </a:p>
          </p:txBody>
        </p:sp>
        <p:sp>
          <p:nvSpPr>
            <p:cNvPr id="470" name="15 min"/>
            <p:cNvSpPr txBox="1"/>
            <p:nvPr/>
          </p:nvSpPr>
          <p:spPr>
            <a:xfrm>
              <a:off x="5218044" y="0"/>
              <a:ext cx="1188568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15 min</a:t>
              </a:r>
            </a:p>
          </p:txBody>
        </p:sp>
        <p:sp>
          <p:nvSpPr>
            <p:cNvPr id="471" name="20 min"/>
            <p:cNvSpPr txBox="1"/>
            <p:nvPr/>
          </p:nvSpPr>
          <p:spPr>
            <a:xfrm>
              <a:off x="12254576" y="1156"/>
              <a:ext cx="118856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20 min</a:t>
              </a:r>
            </a:p>
          </p:txBody>
        </p:sp>
        <p:sp>
          <p:nvSpPr>
            <p:cNvPr id="472" name="15 min"/>
            <p:cNvSpPr txBox="1"/>
            <p:nvPr/>
          </p:nvSpPr>
          <p:spPr>
            <a:xfrm>
              <a:off x="15561745" y="1156"/>
              <a:ext cx="118856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15 min</a:t>
              </a:r>
            </a:p>
          </p:txBody>
        </p:sp>
        <p:sp>
          <p:nvSpPr>
            <p:cNvPr id="473" name="5 min"/>
            <p:cNvSpPr txBox="1"/>
            <p:nvPr/>
          </p:nvSpPr>
          <p:spPr>
            <a:xfrm>
              <a:off x="21756231" y="-1"/>
              <a:ext cx="99085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5 min</a:t>
              </a:r>
            </a:p>
          </p:txBody>
        </p:sp>
        <p:sp>
          <p:nvSpPr>
            <p:cNvPr id="474" name="All"/>
            <p:cNvSpPr txBox="1"/>
            <p:nvPr/>
          </p:nvSpPr>
          <p:spPr>
            <a:xfrm>
              <a:off x="267385" y="1304066"/>
              <a:ext cx="502616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All</a:t>
              </a:r>
            </a:p>
          </p:txBody>
        </p:sp>
        <p:sp>
          <p:nvSpPr>
            <p:cNvPr id="475" name="Team"/>
            <p:cNvSpPr txBox="1"/>
            <p:nvPr/>
          </p:nvSpPr>
          <p:spPr>
            <a:xfrm>
              <a:off x="2568026" y="1304066"/>
              <a:ext cx="96418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476" name="Team"/>
            <p:cNvSpPr txBox="1"/>
            <p:nvPr/>
          </p:nvSpPr>
          <p:spPr>
            <a:xfrm>
              <a:off x="5330235" y="1304066"/>
              <a:ext cx="96418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477" name="Team"/>
            <p:cNvSpPr txBox="1"/>
            <p:nvPr/>
          </p:nvSpPr>
          <p:spPr>
            <a:xfrm>
              <a:off x="12366768" y="1302911"/>
              <a:ext cx="96418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478" name="Team"/>
            <p:cNvSpPr txBox="1"/>
            <p:nvPr/>
          </p:nvSpPr>
          <p:spPr>
            <a:xfrm>
              <a:off x="15673937" y="1304066"/>
              <a:ext cx="96418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479" name="All"/>
            <p:cNvSpPr txBox="1"/>
            <p:nvPr/>
          </p:nvSpPr>
          <p:spPr>
            <a:xfrm>
              <a:off x="22000351" y="1304066"/>
              <a:ext cx="502616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All</a:t>
              </a:r>
            </a:p>
          </p:txBody>
        </p:sp>
        <p:sp>
          <p:nvSpPr>
            <p:cNvPr id="480" name="Subsystems"/>
            <p:cNvSpPr txBox="1"/>
            <p:nvPr/>
          </p:nvSpPr>
          <p:spPr>
            <a:xfrm>
              <a:off x="18345100" y="596306"/>
              <a:ext cx="2629815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Subsystems</a:t>
              </a:r>
            </a:p>
          </p:txBody>
        </p:sp>
        <p:sp>
          <p:nvSpPr>
            <p:cNvPr id="481" name="20 min"/>
            <p:cNvSpPr txBox="1"/>
            <p:nvPr/>
          </p:nvSpPr>
          <p:spPr>
            <a:xfrm>
              <a:off x="19065723" y="0"/>
              <a:ext cx="1188569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20 min</a:t>
              </a:r>
            </a:p>
          </p:txBody>
        </p:sp>
        <p:sp>
          <p:nvSpPr>
            <p:cNvPr id="482" name="Team"/>
            <p:cNvSpPr txBox="1"/>
            <p:nvPr/>
          </p:nvSpPr>
          <p:spPr>
            <a:xfrm>
              <a:off x="19177915" y="1304066"/>
              <a:ext cx="96418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483" name="Value proposition"/>
            <p:cNvSpPr txBox="1"/>
            <p:nvPr/>
          </p:nvSpPr>
          <p:spPr>
            <a:xfrm>
              <a:off x="7490006" y="595150"/>
              <a:ext cx="3645714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Value proposition</a:t>
              </a:r>
            </a:p>
          </p:txBody>
        </p:sp>
        <p:sp>
          <p:nvSpPr>
            <p:cNvPr id="484" name="10 min"/>
            <p:cNvSpPr txBox="1"/>
            <p:nvPr/>
          </p:nvSpPr>
          <p:spPr>
            <a:xfrm>
              <a:off x="8609820" y="1156"/>
              <a:ext cx="1188568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10 min</a:t>
              </a:r>
            </a:p>
          </p:txBody>
        </p:sp>
        <p:sp>
          <p:nvSpPr>
            <p:cNvPr id="485" name="Team"/>
            <p:cNvSpPr txBox="1"/>
            <p:nvPr/>
          </p:nvSpPr>
          <p:spPr>
            <a:xfrm>
              <a:off x="8722012" y="1302911"/>
              <a:ext cx="96418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</p:grpSp>
      <p:pic>
        <p:nvPicPr>
          <p:cNvPr id="487" name="decision matrix.png" descr="decision 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4065" y="2678090"/>
            <a:ext cx="16873306" cy="7553478"/>
          </a:xfrm>
          <a:prstGeom prst="rect">
            <a:avLst/>
          </a:prstGeom>
          <a:ln w="12700">
            <a:miter lim="400000"/>
          </a:ln>
        </p:spPr>
      </p:pic>
      <p:sp>
        <p:nvSpPr>
          <p:cNvPr id="488" name="Simple version…"/>
          <p:cNvSpPr txBox="1"/>
          <p:nvPr/>
        </p:nvSpPr>
        <p:spPr>
          <a:xfrm>
            <a:off x="1165888" y="2769523"/>
            <a:ext cx="6511652" cy="57890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>
              <a:lnSpc>
                <a:spcPct val="90000"/>
              </a:lnSpc>
              <a:spcBef>
                <a:spcPts val="4500"/>
              </a:spcBef>
              <a:defRPr sz="4800"/>
            </a:pPr>
            <a:r>
              <a:t>Simple version</a:t>
            </a:r>
          </a:p>
          <a:p>
            <a:pPr algn="l">
              <a:lnSpc>
                <a:spcPct val="90000"/>
              </a:lnSpc>
              <a:spcBef>
                <a:spcPts val="4500"/>
              </a:spcBef>
              <a:defRPr sz="4800"/>
            </a:pPr>
            <a:r>
              <a:t>Create a list of criteria (rows)</a:t>
            </a:r>
          </a:p>
          <a:p>
            <a:pPr algn="l">
              <a:lnSpc>
                <a:spcPct val="90000"/>
              </a:lnSpc>
              <a:spcBef>
                <a:spcPts val="4500"/>
              </a:spcBef>
              <a:defRPr sz="4800"/>
            </a:pPr>
            <a:r>
              <a:t>Concepts as columns</a:t>
            </a:r>
          </a:p>
          <a:p>
            <a:pPr algn="l">
              <a:lnSpc>
                <a:spcPct val="90000"/>
              </a:lnSpc>
              <a:spcBef>
                <a:spcPts val="4500"/>
              </a:spcBef>
              <a:defRPr sz="4800"/>
            </a:pPr>
            <a:r>
              <a:t>Give points from 1-5 to each concept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Sketching subsystem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Sketching subsystems</a:t>
            </a:r>
          </a:p>
        </p:txBody>
      </p:sp>
      <p:sp>
        <p:nvSpPr>
          <p:cNvPr id="491" name="As soon as you have a concept, break it into subsystems to start mapping solutions…"/>
          <p:cNvSpPr txBox="1">
            <a:spLocks noGrp="1"/>
          </p:cNvSpPr>
          <p:nvPr>
            <p:ph type="body" sz="half" idx="1"/>
          </p:nvPr>
        </p:nvSpPr>
        <p:spPr>
          <a:xfrm>
            <a:off x="1206500" y="3336953"/>
            <a:ext cx="13702054" cy="6081666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554736" indent="-554736" defTabSz="2218888">
              <a:spcBef>
                <a:spcPts val="4000"/>
              </a:spcBef>
              <a:defRPr sz="4368"/>
            </a:pPr>
            <a:r>
              <a:rPr dirty="0"/>
              <a:t>As soon as you have a concept, break it </a:t>
            </a:r>
            <a:br>
              <a:rPr lang="en-AU" dirty="0"/>
            </a:br>
            <a:r>
              <a:rPr dirty="0"/>
              <a:t>into subsystems to start mapping solutions</a:t>
            </a:r>
          </a:p>
          <a:p>
            <a:pPr marL="554736" indent="-554736" defTabSz="2218888">
              <a:spcBef>
                <a:spcPts val="4000"/>
              </a:spcBef>
              <a:defRPr sz="4368"/>
            </a:pPr>
            <a:r>
              <a:rPr dirty="0"/>
              <a:t>Sketch briefly the subsystems and their </a:t>
            </a:r>
            <a:br>
              <a:rPr lang="en-AU" dirty="0"/>
            </a:br>
            <a:r>
              <a:rPr dirty="0"/>
              <a:t>connections</a:t>
            </a:r>
          </a:p>
          <a:p>
            <a:pPr marL="554736" indent="-554736" defTabSz="2218888">
              <a:spcBef>
                <a:spcPts val="4000"/>
              </a:spcBef>
              <a:defRPr sz="4368"/>
            </a:pPr>
            <a:r>
              <a:rPr dirty="0"/>
              <a:t>Discuss briefly materials and technical </a:t>
            </a:r>
            <a:br>
              <a:rPr lang="en-AU" dirty="0"/>
            </a:br>
            <a:r>
              <a:rPr dirty="0"/>
              <a:t>enablers (subcomponents of subsystems)</a:t>
            </a:r>
          </a:p>
          <a:p>
            <a:pPr marL="554736" indent="-554736" defTabSz="2218888">
              <a:spcBef>
                <a:spcPts val="4000"/>
              </a:spcBef>
              <a:defRPr sz="4368"/>
            </a:pPr>
            <a:r>
              <a:rPr dirty="0"/>
              <a:t>This starts to create a map of potential </a:t>
            </a:r>
            <a:br>
              <a:rPr lang="en-AU" dirty="0"/>
            </a:br>
            <a:r>
              <a:rPr dirty="0"/>
              <a:t>tasks ahead and helps in scoping</a:t>
            </a:r>
          </a:p>
        </p:txBody>
      </p:sp>
      <p:sp>
        <p:nvSpPr>
          <p:cNvPr id="492" name="Line"/>
          <p:cNvSpPr/>
          <p:nvPr/>
        </p:nvSpPr>
        <p:spPr>
          <a:xfrm>
            <a:off x="341092" y="11121181"/>
            <a:ext cx="23701817" cy="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493" name="Line"/>
          <p:cNvSpPr/>
          <p:nvPr/>
        </p:nvSpPr>
        <p:spPr>
          <a:xfrm flipV="1">
            <a:off x="19520854" y="11121181"/>
            <a:ext cx="1901496" cy="1"/>
          </a:xfrm>
          <a:prstGeom prst="line">
            <a:avLst/>
          </a:prstGeom>
          <a:ln w="1016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grpSp>
        <p:nvGrpSpPr>
          <p:cNvPr id="518" name="Group"/>
          <p:cNvGrpSpPr/>
          <p:nvPr/>
        </p:nvGrpSpPr>
        <p:grpSpPr>
          <a:xfrm>
            <a:off x="590795" y="11435545"/>
            <a:ext cx="23202408" cy="1827515"/>
            <a:chOff x="-1" y="-1"/>
            <a:chExt cx="23202408" cy="1827512"/>
          </a:xfrm>
        </p:grpSpPr>
        <p:sp>
          <p:nvSpPr>
            <p:cNvPr id="494" name="Intro"/>
            <p:cNvSpPr txBox="1"/>
            <p:nvPr/>
          </p:nvSpPr>
          <p:spPr>
            <a:xfrm>
              <a:off x="-1" y="596306"/>
              <a:ext cx="1037388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Intro</a:t>
              </a:r>
            </a:p>
          </p:txBody>
        </p:sp>
        <p:sp>
          <p:nvSpPr>
            <p:cNvPr id="495" name="Organise data"/>
            <p:cNvSpPr txBox="1"/>
            <p:nvPr/>
          </p:nvSpPr>
          <p:spPr>
            <a:xfrm>
              <a:off x="1563989" y="596306"/>
              <a:ext cx="2972258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Organise data</a:t>
              </a:r>
            </a:p>
          </p:txBody>
        </p:sp>
        <p:sp>
          <p:nvSpPr>
            <p:cNvPr id="496" name="Analysis"/>
            <p:cNvSpPr txBox="1"/>
            <p:nvPr/>
          </p:nvSpPr>
          <p:spPr>
            <a:xfrm>
              <a:off x="4912787" y="596306"/>
              <a:ext cx="1799083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Analysis</a:t>
              </a:r>
            </a:p>
          </p:txBody>
        </p:sp>
        <p:sp>
          <p:nvSpPr>
            <p:cNvPr id="497" name="Ideation"/>
            <p:cNvSpPr txBox="1"/>
            <p:nvPr/>
          </p:nvSpPr>
          <p:spPr>
            <a:xfrm>
              <a:off x="11970350" y="595150"/>
              <a:ext cx="1757021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Ideation</a:t>
              </a:r>
            </a:p>
          </p:txBody>
        </p:sp>
        <p:sp>
          <p:nvSpPr>
            <p:cNvPr id="498" name="Select concept"/>
            <p:cNvSpPr txBox="1"/>
            <p:nvPr/>
          </p:nvSpPr>
          <p:spPr>
            <a:xfrm>
              <a:off x="14562001" y="596306"/>
              <a:ext cx="3188057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Select concept</a:t>
              </a:r>
            </a:p>
          </p:txBody>
        </p:sp>
        <p:sp>
          <p:nvSpPr>
            <p:cNvPr id="499" name="Wrap-up"/>
            <p:cNvSpPr txBox="1"/>
            <p:nvPr/>
          </p:nvSpPr>
          <p:spPr>
            <a:xfrm>
              <a:off x="21300911" y="596306"/>
              <a:ext cx="1901496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Wrap-up</a:t>
              </a:r>
            </a:p>
          </p:txBody>
        </p:sp>
        <p:sp>
          <p:nvSpPr>
            <p:cNvPr id="500" name="5 min"/>
            <p:cNvSpPr txBox="1"/>
            <p:nvPr/>
          </p:nvSpPr>
          <p:spPr>
            <a:xfrm>
              <a:off x="23266" y="-1"/>
              <a:ext cx="99085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5 min</a:t>
              </a:r>
            </a:p>
          </p:txBody>
        </p:sp>
        <p:sp>
          <p:nvSpPr>
            <p:cNvPr id="501" name="15 min"/>
            <p:cNvSpPr txBox="1"/>
            <p:nvPr/>
          </p:nvSpPr>
          <p:spPr>
            <a:xfrm>
              <a:off x="2455834" y="0"/>
              <a:ext cx="1188569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15 min</a:t>
              </a:r>
            </a:p>
          </p:txBody>
        </p:sp>
        <p:sp>
          <p:nvSpPr>
            <p:cNvPr id="502" name="15 min"/>
            <p:cNvSpPr txBox="1"/>
            <p:nvPr/>
          </p:nvSpPr>
          <p:spPr>
            <a:xfrm>
              <a:off x="5218044" y="0"/>
              <a:ext cx="1188568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15 min</a:t>
              </a:r>
            </a:p>
          </p:txBody>
        </p:sp>
        <p:sp>
          <p:nvSpPr>
            <p:cNvPr id="503" name="20 min"/>
            <p:cNvSpPr txBox="1"/>
            <p:nvPr/>
          </p:nvSpPr>
          <p:spPr>
            <a:xfrm>
              <a:off x="12254576" y="1156"/>
              <a:ext cx="118856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20 min</a:t>
              </a:r>
            </a:p>
          </p:txBody>
        </p:sp>
        <p:sp>
          <p:nvSpPr>
            <p:cNvPr id="504" name="15 min"/>
            <p:cNvSpPr txBox="1"/>
            <p:nvPr/>
          </p:nvSpPr>
          <p:spPr>
            <a:xfrm>
              <a:off x="15561745" y="1156"/>
              <a:ext cx="118856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15 min</a:t>
              </a:r>
            </a:p>
          </p:txBody>
        </p:sp>
        <p:sp>
          <p:nvSpPr>
            <p:cNvPr id="505" name="5 min"/>
            <p:cNvSpPr txBox="1"/>
            <p:nvPr/>
          </p:nvSpPr>
          <p:spPr>
            <a:xfrm>
              <a:off x="21756231" y="-1"/>
              <a:ext cx="99085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5 min</a:t>
              </a:r>
            </a:p>
          </p:txBody>
        </p:sp>
        <p:sp>
          <p:nvSpPr>
            <p:cNvPr id="506" name="All"/>
            <p:cNvSpPr txBox="1"/>
            <p:nvPr/>
          </p:nvSpPr>
          <p:spPr>
            <a:xfrm>
              <a:off x="267385" y="1304066"/>
              <a:ext cx="502616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All</a:t>
              </a:r>
            </a:p>
          </p:txBody>
        </p:sp>
        <p:sp>
          <p:nvSpPr>
            <p:cNvPr id="507" name="Team"/>
            <p:cNvSpPr txBox="1"/>
            <p:nvPr/>
          </p:nvSpPr>
          <p:spPr>
            <a:xfrm>
              <a:off x="2568026" y="1304066"/>
              <a:ext cx="96418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508" name="Team"/>
            <p:cNvSpPr txBox="1"/>
            <p:nvPr/>
          </p:nvSpPr>
          <p:spPr>
            <a:xfrm>
              <a:off x="5330235" y="1304066"/>
              <a:ext cx="96418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509" name="Team"/>
            <p:cNvSpPr txBox="1"/>
            <p:nvPr/>
          </p:nvSpPr>
          <p:spPr>
            <a:xfrm>
              <a:off x="12366768" y="1302911"/>
              <a:ext cx="96418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510" name="Team"/>
            <p:cNvSpPr txBox="1"/>
            <p:nvPr/>
          </p:nvSpPr>
          <p:spPr>
            <a:xfrm>
              <a:off x="15673937" y="1304066"/>
              <a:ext cx="96418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511" name="All"/>
            <p:cNvSpPr txBox="1"/>
            <p:nvPr/>
          </p:nvSpPr>
          <p:spPr>
            <a:xfrm>
              <a:off x="22000351" y="1304066"/>
              <a:ext cx="502616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All</a:t>
              </a:r>
            </a:p>
          </p:txBody>
        </p:sp>
        <p:sp>
          <p:nvSpPr>
            <p:cNvPr id="512" name="Subsystems"/>
            <p:cNvSpPr txBox="1"/>
            <p:nvPr/>
          </p:nvSpPr>
          <p:spPr>
            <a:xfrm>
              <a:off x="18345100" y="596306"/>
              <a:ext cx="2629815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>
                  <a:solidFill>
                    <a:schemeClr val="accent4"/>
                  </a:solidFill>
                </a:defRPr>
              </a:lvl1pPr>
            </a:lstStyle>
            <a:p>
              <a:r>
                <a:t>Subsystems</a:t>
              </a:r>
            </a:p>
          </p:txBody>
        </p:sp>
        <p:sp>
          <p:nvSpPr>
            <p:cNvPr id="513" name="20 min"/>
            <p:cNvSpPr txBox="1"/>
            <p:nvPr/>
          </p:nvSpPr>
          <p:spPr>
            <a:xfrm>
              <a:off x="19065723" y="0"/>
              <a:ext cx="1188569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20 min</a:t>
              </a:r>
            </a:p>
          </p:txBody>
        </p:sp>
        <p:sp>
          <p:nvSpPr>
            <p:cNvPr id="514" name="Team"/>
            <p:cNvSpPr txBox="1"/>
            <p:nvPr/>
          </p:nvSpPr>
          <p:spPr>
            <a:xfrm>
              <a:off x="19177915" y="1304066"/>
              <a:ext cx="96418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515" name="Value proposition"/>
            <p:cNvSpPr txBox="1"/>
            <p:nvPr/>
          </p:nvSpPr>
          <p:spPr>
            <a:xfrm>
              <a:off x="7490006" y="595150"/>
              <a:ext cx="3645714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Value proposition</a:t>
              </a:r>
            </a:p>
          </p:txBody>
        </p:sp>
        <p:sp>
          <p:nvSpPr>
            <p:cNvPr id="516" name="10 min"/>
            <p:cNvSpPr txBox="1"/>
            <p:nvPr/>
          </p:nvSpPr>
          <p:spPr>
            <a:xfrm>
              <a:off x="8609820" y="1156"/>
              <a:ext cx="1188568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10 min</a:t>
              </a:r>
            </a:p>
          </p:txBody>
        </p:sp>
        <p:sp>
          <p:nvSpPr>
            <p:cNvPr id="517" name="Team"/>
            <p:cNvSpPr txBox="1"/>
            <p:nvPr/>
          </p:nvSpPr>
          <p:spPr>
            <a:xfrm>
              <a:off x="8722012" y="1302911"/>
              <a:ext cx="96418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</p:grpSp>
      <p:pic>
        <p:nvPicPr>
          <p:cNvPr id="2" name="Picture 4" descr="Prototype Testing: A Step by Step Guide (2023) | Blog">
            <a:extLst>
              <a:ext uri="{FF2B5EF4-FFF2-40B4-BE49-F238E27FC236}">
                <a16:creationId xmlns:a16="http://schemas.microsoft.com/office/drawing/2014/main" id="{4F37E7BC-A392-AFA1-0FE4-CCACC9560C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6" t="2465" r="1180" b="2352"/>
          <a:stretch/>
        </p:blipFill>
        <p:spPr bwMode="auto">
          <a:xfrm>
            <a:off x="12723173" y="3884264"/>
            <a:ext cx="10854377" cy="4655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Wrap-up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Wrap-up</a:t>
            </a:r>
          </a:p>
        </p:txBody>
      </p:sp>
      <p:sp>
        <p:nvSpPr>
          <p:cNvPr id="522" name="•Brief reflection…"/>
          <p:cNvSpPr txBox="1">
            <a:spLocks noGrp="1"/>
          </p:cNvSpPr>
          <p:nvPr>
            <p:ph type="body" sz="half" idx="1"/>
          </p:nvPr>
        </p:nvSpPr>
        <p:spPr>
          <a:xfrm>
            <a:off x="1206500" y="3869771"/>
            <a:ext cx="21971000" cy="6081667"/>
          </a:xfrm>
          <a:prstGeom prst="rect">
            <a:avLst/>
          </a:prstGeom>
        </p:spPr>
        <p:txBody>
          <a:bodyPr/>
          <a:lstStyle/>
          <a:p>
            <a:pPr marL="0" indent="0" defTabSz="1901904">
              <a:spcBef>
                <a:spcPts val="3500"/>
              </a:spcBef>
              <a:buSzTx/>
              <a:buNone/>
              <a:defRPr sz="3743"/>
            </a:pPr>
            <a:r>
              <a:rPr sz="3927" dirty="0">
                <a:solidFill>
                  <a:srgbClr val="000000"/>
                </a:solidFill>
              </a:rPr>
              <a:t>•</a:t>
            </a:r>
            <a:r>
              <a:rPr dirty="0"/>
              <a:t>Brief reflection</a:t>
            </a:r>
            <a:endParaRPr sz="935" dirty="0">
              <a:solidFill>
                <a:srgbClr val="000000"/>
              </a:solidFill>
            </a:endParaRPr>
          </a:p>
          <a:p>
            <a:pPr marL="475487" indent="-475487" defTabSz="1901904">
              <a:spcBef>
                <a:spcPts val="3500"/>
              </a:spcBef>
              <a:defRPr sz="3743"/>
            </a:pPr>
            <a:r>
              <a:rPr dirty="0"/>
              <a:t>Each group to share their progress, use of ideation methods</a:t>
            </a:r>
          </a:p>
          <a:p>
            <a:pPr marL="0" indent="0" defTabSz="1901904">
              <a:spcBef>
                <a:spcPts val="3500"/>
              </a:spcBef>
              <a:buSzTx/>
              <a:buNone/>
              <a:defRPr sz="3743"/>
            </a:pPr>
            <a:endParaRPr dirty="0"/>
          </a:p>
          <a:p>
            <a:pPr marL="0" indent="0" defTabSz="1901904">
              <a:spcBef>
                <a:spcPts val="3500"/>
              </a:spcBef>
              <a:buSzTx/>
              <a:buNone/>
              <a:defRPr sz="3743"/>
            </a:pPr>
            <a:r>
              <a:rPr sz="3927" dirty="0">
                <a:solidFill>
                  <a:srgbClr val="000000"/>
                </a:solidFill>
              </a:rPr>
              <a:t>•</a:t>
            </a:r>
            <a:r>
              <a:rPr dirty="0"/>
              <a:t>Looking ahead</a:t>
            </a:r>
            <a:endParaRPr sz="935" dirty="0">
              <a:solidFill>
                <a:srgbClr val="000000"/>
              </a:solidFill>
            </a:endParaRPr>
          </a:p>
          <a:p>
            <a:pPr marL="475487" indent="-475487" defTabSz="1901904">
              <a:spcBef>
                <a:spcPts val="3500"/>
              </a:spcBef>
              <a:defRPr sz="3743"/>
            </a:pPr>
            <a:r>
              <a:rPr dirty="0"/>
              <a:t>Next step is: go ahead with the best solution</a:t>
            </a:r>
            <a:r>
              <a:rPr lang="en-AU" dirty="0"/>
              <a:t>/s</a:t>
            </a:r>
            <a:endParaRPr dirty="0"/>
          </a:p>
        </p:txBody>
      </p:sp>
      <p:sp>
        <p:nvSpPr>
          <p:cNvPr id="523" name="Line"/>
          <p:cNvSpPr/>
          <p:nvPr/>
        </p:nvSpPr>
        <p:spPr>
          <a:xfrm>
            <a:off x="341092" y="11121181"/>
            <a:ext cx="23701817" cy="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524" name="Line"/>
          <p:cNvSpPr/>
          <p:nvPr/>
        </p:nvSpPr>
        <p:spPr>
          <a:xfrm flipV="1">
            <a:off x="21929954" y="11121181"/>
            <a:ext cx="1901496" cy="1"/>
          </a:xfrm>
          <a:prstGeom prst="line">
            <a:avLst/>
          </a:prstGeom>
          <a:ln w="1016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grpSp>
        <p:nvGrpSpPr>
          <p:cNvPr id="549" name="Group"/>
          <p:cNvGrpSpPr/>
          <p:nvPr/>
        </p:nvGrpSpPr>
        <p:grpSpPr>
          <a:xfrm>
            <a:off x="590795" y="11435545"/>
            <a:ext cx="23202408" cy="1827515"/>
            <a:chOff x="-1" y="-1"/>
            <a:chExt cx="23202408" cy="1827512"/>
          </a:xfrm>
        </p:grpSpPr>
        <p:sp>
          <p:nvSpPr>
            <p:cNvPr id="525" name="Intro"/>
            <p:cNvSpPr txBox="1"/>
            <p:nvPr/>
          </p:nvSpPr>
          <p:spPr>
            <a:xfrm>
              <a:off x="-1" y="596306"/>
              <a:ext cx="1037388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Intro</a:t>
              </a:r>
            </a:p>
          </p:txBody>
        </p:sp>
        <p:sp>
          <p:nvSpPr>
            <p:cNvPr id="526" name="Organise data"/>
            <p:cNvSpPr txBox="1"/>
            <p:nvPr/>
          </p:nvSpPr>
          <p:spPr>
            <a:xfrm>
              <a:off x="1563989" y="596306"/>
              <a:ext cx="2972258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Organise data</a:t>
              </a:r>
            </a:p>
          </p:txBody>
        </p:sp>
        <p:sp>
          <p:nvSpPr>
            <p:cNvPr id="527" name="Analysis"/>
            <p:cNvSpPr txBox="1"/>
            <p:nvPr/>
          </p:nvSpPr>
          <p:spPr>
            <a:xfrm>
              <a:off x="4912787" y="596306"/>
              <a:ext cx="1799083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Analysis</a:t>
              </a:r>
            </a:p>
          </p:txBody>
        </p:sp>
        <p:sp>
          <p:nvSpPr>
            <p:cNvPr id="528" name="Ideation"/>
            <p:cNvSpPr txBox="1"/>
            <p:nvPr/>
          </p:nvSpPr>
          <p:spPr>
            <a:xfrm>
              <a:off x="11970350" y="595150"/>
              <a:ext cx="1757021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Ideation</a:t>
              </a:r>
            </a:p>
          </p:txBody>
        </p:sp>
        <p:sp>
          <p:nvSpPr>
            <p:cNvPr id="529" name="Select concept"/>
            <p:cNvSpPr txBox="1"/>
            <p:nvPr/>
          </p:nvSpPr>
          <p:spPr>
            <a:xfrm>
              <a:off x="14562001" y="596306"/>
              <a:ext cx="3188057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Select concept</a:t>
              </a:r>
            </a:p>
          </p:txBody>
        </p:sp>
        <p:sp>
          <p:nvSpPr>
            <p:cNvPr id="530" name="Wrap-up"/>
            <p:cNvSpPr txBox="1"/>
            <p:nvPr/>
          </p:nvSpPr>
          <p:spPr>
            <a:xfrm>
              <a:off x="21300911" y="596306"/>
              <a:ext cx="1901496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>
                  <a:solidFill>
                    <a:schemeClr val="accent4"/>
                  </a:solidFill>
                </a:defRPr>
              </a:lvl1pPr>
            </a:lstStyle>
            <a:p>
              <a:r>
                <a:t>Wrap-up</a:t>
              </a:r>
            </a:p>
          </p:txBody>
        </p:sp>
        <p:sp>
          <p:nvSpPr>
            <p:cNvPr id="531" name="5 min"/>
            <p:cNvSpPr txBox="1"/>
            <p:nvPr/>
          </p:nvSpPr>
          <p:spPr>
            <a:xfrm>
              <a:off x="23266" y="-1"/>
              <a:ext cx="99085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5 min</a:t>
              </a:r>
            </a:p>
          </p:txBody>
        </p:sp>
        <p:sp>
          <p:nvSpPr>
            <p:cNvPr id="532" name="15 min"/>
            <p:cNvSpPr txBox="1"/>
            <p:nvPr/>
          </p:nvSpPr>
          <p:spPr>
            <a:xfrm>
              <a:off x="2455834" y="0"/>
              <a:ext cx="1188569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15 min</a:t>
              </a:r>
            </a:p>
          </p:txBody>
        </p:sp>
        <p:sp>
          <p:nvSpPr>
            <p:cNvPr id="533" name="15 min"/>
            <p:cNvSpPr txBox="1"/>
            <p:nvPr/>
          </p:nvSpPr>
          <p:spPr>
            <a:xfrm>
              <a:off x="5218044" y="0"/>
              <a:ext cx="1188568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15 min</a:t>
              </a:r>
            </a:p>
          </p:txBody>
        </p:sp>
        <p:sp>
          <p:nvSpPr>
            <p:cNvPr id="534" name="20 min"/>
            <p:cNvSpPr txBox="1"/>
            <p:nvPr/>
          </p:nvSpPr>
          <p:spPr>
            <a:xfrm>
              <a:off x="12254576" y="1156"/>
              <a:ext cx="118856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20 min</a:t>
              </a:r>
            </a:p>
          </p:txBody>
        </p:sp>
        <p:sp>
          <p:nvSpPr>
            <p:cNvPr id="535" name="15 min"/>
            <p:cNvSpPr txBox="1"/>
            <p:nvPr/>
          </p:nvSpPr>
          <p:spPr>
            <a:xfrm>
              <a:off x="15561745" y="1156"/>
              <a:ext cx="1188569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15 min</a:t>
              </a:r>
            </a:p>
          </p:txBody>
        </p:sp>
        <p:sp>
          <p:nvSpPr>
            <p:cNvPr id="536" name="5 min"/>
            <p:cNvSpPr txBox="1"/>
            <p:nvPr/>
          </p:nvSpPr>
          <p:spPr>
            <a:xfrm>
              <a:off x="21756231" y="-1"/>
              <a:ext cx="99085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5 min</a:t>
              </a:r>
            </a:p>
          </p:txBody>
        </p:sp>
        <p:sp>
          <p:nvSpPr>
            <p:cNvPr id="537" name="All"/>
            <p:cNvSpPr txBox="1"/>
            <p:nvPr/>
          </p:nvSpPr>
          <p:spPr>
            <a:xfrm>
              <a:off x="267385" y="1304066"/>
              <a:ext cx="502616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All</a:t>
              </a:r>
            </a:p>
          </p:txBody>
        </p:sp>
        <p:sp>
          <p:nvSpPr>
            <p:cNvPr id="538" name="Team"/>
            <p:cNvSpPr txBox="1"/>
            <p:nvPr/>
          </p:nvSpPr>
          <p:spPr>
            <a:xfrm>
              <a:off x="2568026" y="1304066"/>
              <a:ext cx="96418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539" name="Team"/>
            <p:cNvSpPr txBox="1"/>
            <p:nvPr/>
          </p:nvSpPr>
          <p:spPr>
            <a:xfrm>
              <a:off x="5330235" y="1304066"/>
              <a:ext cx="96418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540" name="Team"/>
            <p:cNvSpPr txBox="1"/>
            <p:nvPr/>
          </p:nvSpPr>
          <p:spPr>
            <a:xfrm>
              <a:off x="12366768" y="1302911"/>
              <a:ext cx="96418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541" name="Team"/>
            <p:cNvSpPr txBox="1"/>
            <p:nvPr/>
          </p:nvSpPr>
          <p:spPr>
            <a:xfrm>
              <a:off x="15673937" y="1304066"/>
              <a:ext cx="96418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542" name="All"/>
            <p:cNvSpPr txBox="1"/>
            <p:nvPr/>
          </p:nvSpPr>
          <p:spPr>
            <a:xfrm>
              <a:off x="22000351" y="1304066"/>
              <a:ext cx="502616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All</a:t>
              </a:r>
            </a:p>
          </p:txBody>
        </p:sp>
        <p:sp>
          <p:nvSpPr>
            <p:cNvPr id="543" name="Subsystems"/>
            <p:cNvSpPr txBox="1"/>
            <p:nvPr/>
          </p:nvSpPr>
          <p:spPr>
            <a:xfrm>
              <a:off x="18345100" y="596306"/>
              <a:ext cx="2629815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Subsystems</a:t>
              </a:r>
            </a:p>
          </p:txBody>
        </p:sp>
        <p:sp>
          <p:nvSpPr>
            <p:cNvPr id="544" name="20 min"/>
            <p:cNvSpPr txBox="1"/>
            <p:nvPr/>
          </p:nvSpPr>
          <p:spPr>
            <a:xfrm>
              <a:off x="19065723" y="0"/>
              <a:ext cx="1188569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20 min</a:t>
              </a:r>
            </a:p>
          </p:txBody>
        </p:sp>
        <p:sp>
          <p:nvSpPr>
            <p:cNvPr id="545" name="Team"/>
            <p:cNvSpPr txBox="1"/>
            <p:nvPr/>
          </p:nvSpPr>
          <p:spPr>
            <a:xfrm>
              <a:off x="19177915" y="1304066"/>
              <a:ext cx="964185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  <p:sp>
          <p:nvSpPr>
            <p:cNvPr id="546" name="Value proposition"/>
            <p:cNvSpPr txBox="1"/>
            <p:nvPr/>
          </p:nvSpPr>
          <p:spPr>
            <a:xfrm>
              <a:off x="7490006" y="595150"/>
              <a:ext cx="3645714" cy="634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Value proposition</a:t>
              </a:r>
            </a:p>
          </p:txBody>
        </p:sp>
        <p:sp>
          <p:nvSpPr>
            <p:cNvPr id="547" name="10 min"/>
            <p:cNvSpPr txBox="1"/>
            <p:nvPr/>
          </p:nvSpPr>
          <p:spPr>
            <a:xfrm>
              <a:off x="8609820" y="1156"/>
              <a:ext cx="1188568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10 min</a:t>
              </a:r>
            </a:p>
          </p:txBody>
        </p:sp>
        <p:sp>
          <p:nvSpPr>
            <p:cNvPr id="548" name="Team"/>
            <p:cNvSpPr txBox="1"/>
            <p:nvPr/>
          </p:nvSpPr>
          <p:spPr>
            <a:xfrm>
              <a:off x="8722012" y="1302911"/>
              <a:ext cx="964185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r>
                <a:t>Team</a:t>
              </a:r>
            </a:p>
          </p:txBody>
        </p:sp>
      </p:grp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0_BasicBlack">
  <a:themeElements>
    <a:clrScheme name="20_Basic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0_BasicBlac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0_Basic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0_BasicBlack">
  <a:themeElements>
    <a:clrScheme name="20_Basic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0_BasicBlac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0_Basic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E9BB2FD6375204DBAC24FEF4229E897" ma:contentTypeVersion="4" ma:contentTypeDescription="Create a new document." ma:contentTypeScope="" ma:versionID="01667488eeef60695f5a9cd53031de87">
  <xsd:schema xmlns:xsd="http://www.w3.org/2001/XMLSchema" xmlns:xs="http://www.w3.org/2001/XMLSchema" xmlns:p="http://schemas.microsoft.com/office/2006/metadata/properties" xmlns:ns2="9238188c-e4c5-4144-9773-cc55033100ac" targetNamespace="http://schemas.microsoft.com/office/2006/metadata/properties" ma:root="true" ma:fieldsID="2df43d877d67a42c09b07c4a362eba71" ns2:_="">
    <xsd:import namespace="9238188c-e4c5-4144-9773-cc55033100a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38188c-e4c5-4144-9773-cc55033100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CF555B2-6CF4-4C4C-901A-E25B6DF1A0A1}">
  <ds:schemaRefs>
    <ds:schemaRef ds:uri="9238188c-e4c5-4144-9773-cc55033100a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AD73853-9D60-4CA5-87AC-8D431D74850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A115E8-35CB-4EFD-8955-C04D10E5C528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1261</Words>
  <Application>Microsoft Office PowerPoint</Application>
  <PresentationFormat>Custom</PresentationFormat>
  <Paragraphs>392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Helvetica Neue</vt:lpstr>
      <vt:lpstr>Helvetica Neue Medium</vt:lpstr>
      <vt:lpstr>Times Roman</vt:lpstr>
      <vt:lpstr>20_BasicBlack</vt:lpstr>
      <vt:lpstr>Analysis and concept creation </vt:lpstr>
      <vt:lpstr>Today</vt:lpstr>
      <vt:lpstr>Organize data</vt:lpstr>
      <vt:lpstr>Analysis 1/2</vt:lpstr>
      <vt:lpstr>Analysis 2/2</vt:lpstr>
      <vt:lpstr>Value proposition</vt:lpstr>
      <vt:lpstr>PowerPoint Presentation</vt:lpstr>
      <vt:lpstr>Ideation 1/1</vt:lpstr>
      <vt:lpstr>Ideation 1/2</vt:lpstr>
      <vt:lpstr>Concept selection</vt:lpstr>
      <vt:lpstr>Concept selection 1/2</vt:lpstr>
      <vt:lpstr>Concept selection 2/2</vt:lpstr>
      <vt:lpstr>Sketching subsystems</vt:lpstr>
      <vt:lpstr>Wrap-up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and concept creation</dc:title>
  <dc:creator>Lauren Wood</dc:creator>
  <cp:lastModifiedBy>LAUREN WOOD</cp:lastModifiedBy>
  <cp:revision>6</cp:revision>
  <dcterms:modified xsi:type="dcterms:W3CDTF">2026-06-12T22:26:32Z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0x0101003E9BB2FD6375204DBAC24FEF4229E897</vt:lpwstr>
  </property>
  <property fmtid="{D5CDD505-2E9C-101B-9397-08002B2CF9AE}" pid="3" name="MSIP_Label_51a6c3db-1667-4f49-995a-8b9973972958_Enabled">
    <vt:lpwstr>true</vt:lpwstr>
  </property>
  <property fmtid="{D5CDD505-2E9C-101B-9397-08002B2CF9AE}" pid="4" name="MSIP_Label_51a6c3db-1667-4f49-995a-8b9973972958_SetDate">
    <vt:lpwstr>2026-05-28T08:47:01Z</vt:lpwstr>
  </property>
  <property fmtid="{D5CDD505-2E9C-101B-9397-08002B2CF9AE}" pid="5" name="MSIP_Label_51a6c3db-1667-4f49-995a-8b9973972958_Method">
    <vt:lpwstr>Standard</vt:lpwstr>
  </property>
  <property fmtid="{D5CDD505-2E9C-101B-9397-08002B2CF9AE}" pid="6" name="MSIP_Label_51a6c3db-1667-4f49-995a-8b9973972958_Name">
    <vt:lpwstr>UTS-Internal</vt:lpwstr>
  </property>
  <property fmtid="{D5CDD505-2E9C-101B-9397-08002B2CF9AE}" pid="7" name="MSIP_Label_51a6c3db-1667-4f49-995a-8b9973972958_SiteId">
    <vt:lpwstr>e8911c26-cf9f-4a9c-878e-527807be8791</vt:lpwstr>
  </property>
  <property fmtid="{D5CDD505-2E9C-101B-9397-08002B2CF9AE}" pid="8" name="MSIP_Label_51a6c3db-1667-4f49-995a-8b9973972958_ActionId">
    <vt:lpwstr>8a984f4c-a364-49a3-b0a9-e4c05c1e82ae</vt:lpwstr>
  </property>
  <property fmtid="{D5CDD505-2E9C-101B-9397-08002B2CF9AE}" pid="9" name="MSIP_Label_51a6c3db-1667-4f49-995a-8b9973972958_ContentBits">
    <vt:lpwstr>0</vt:lpwstr>
  </property>
  <property fmtid="{D5CDD505-2E9C-101B-9397-08002B2CF9AE}" pid="10" name="MSIP_Label_51a6c3db-1667-4f49-995a-8b9973972958_Tag">
    <vt:lpwstr>10, 3, 0, 1</vt:lpwstr>
  </property>
</Properties>
</file>