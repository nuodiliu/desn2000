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769460abd2b424c" /><Relationship Type="http://schemas.openxmlformats.org/officeDocument/2006/relationships/extended-properties" Target="/docProps/app.xml" Id="R17aad372533f4c81" /><Relationship Type="http://schemas.openxmlformats.org/officeDocument/2006/relationships/officeDocument" Target="/ppt/presentation.xml" Id="Rcb31eb6d74e5471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a44e6ef0564c28"/>
  </p:sldMasterIdLst>
  <p:notesMasterIdLst>
    <p:notesMasterId xmlns:r="http://schemas.openxmlformats.org/officeDocument/2006/relationships" r:id="R7743bff43cf04610"/>
  </p:notesMasterIdLst>
  <p:sldIdLst>
    <p:sldId xmlns:r="http://schemas.openxmlformats.org/officeDocument/2006/relationships" id="256" r:id="R01ab789fb7734fa7"/>
    <p:sldId xmlns:r="http://schemas.openxmlformats.org/officeDocument/2006/relationships" id="257" r:id="R94858e41c96b4f07"/>
    <p:sldId xmlns:r="http://schemas.openxmlformats.org/officeDocument/2006/relationships" id="258" r:id="R529a9ce82b6a49cc"/>
    <p:sldId xmlns:r="http://schemas.openxmlformats.org/officeDocument/2006/relationships" id="259" r:id="R97ec17f99ec346ee"/>
    <p:sldId xmlns:r="http://schemas.openxmlformats.org/officeDocument/2006/relationships" id="260" r:id="Rd40d746528b248c5"/>
    <p:sldId xmlns:r="http://schemas.openxmlformats.org/officeDocument/2006/relationships" id="261" r:id="R6977aff0567b4f09"/>
    <p:sldId xmlns:r="http://schemas.openxmlformats.org/officeDocument/2006/relationships" id="262" r:id="Rca8912ad8c3a41d4"/>
    <p:sldId xmlns:r="http://schemas.openxmlformats.org/officeDocument/2006/relationships" id="263" r:id="R77d725996b084f7d"/>
    <p:sldId xmlns:r="http://schemas.openxmlformats.org/officeDocument/2006/relationships" id="264" r:id="R2db47157ab7a4095"/>
    <p:sldId xmlns:r="http://schemas.openxmlformats.org/officeDocument/2006/relationships" id="265" r:id="Rc989c25458564d08"/>
    <p:sldId xmlns:r="http://schemas.openxmlformats.org/officeDocument/2006/relationships" id="266" r:id="Rba14bcad05bc4c0e"/>
    <p:sldId xmlns:r="http://schemas.openxmlformats.org/officeDocument/2006/relationships" id="267" r:id="R53a35a1947714c1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6faa41f275a4fc0" /><Relationship Type="http://schemas.openxmlformats.org/officeDocument/2006/relationships/slideMaster" Target="/ppt/slideMasters/slideMaster1.xml" Id="Rdaa44e6ef0564c28" /><Relationship Type="http://schemas.openxmlformats.org/officeDocument/2006/relationships/notesMaster" Target="/ppt/notesMasters/notesMaster1.xml" Id="R7743bff43cf04610" /><Relationship Type="http://schemas.openxmlformats.org/officeDocument/2006/relationships/presProps" Target="/ppt/presProps.xml" Id="R19e9b2616ad649f5" /><Relationship Type="http://schemas.openxmlformats.org/officeDocument/2006/relationships/viewProps" Target="/ppt/viewProps.xml" Id="Rac17c8635d31495f" /><Relationship Type="http://schemas.openxmlformats.org/officeDocument/2006/relationships/tableStyles" Target="/ppt/tableStyles.xml" Id="R8f650292de694ec1" /><Relationship Type="http://schemas.openxmlformats.org/officeDocument/2006/relationships/slide" Target="/ppt/slides/slide1.xml" Id="R01ab789fb7734fa7" /><Relationship Type="http://schemas.openxmlformats.org/officeDocument/2006/relationships/slide" Target="/ppt/slides/slide2.xml" Id="R94858e41c96b4f07" /><Relationship Type="http://schemas.openxmlformats.org/officeDocument/2006/relationships/slide" Target="/ppt/slides/slide3.xml" Id="R529a9ce82b6a49cc" /><Relationship Type="http://schemas.openxmlformats.org/officeDocument/2006/relationships/slide" Target="/ppt/slides/slide4.xml" Id="R97ec17f99ec346ee" /><Relationship Type="http://schemas.openxmlformats.org/officeDocument/2006/relationships/slide" Target="/ppt/slides/slide5.xml" Id="Rd40d746528b248c5" /><Relationship Type="http://schemas.openxmlformats.org/officeDocument/2006/relationships/slide" Target="/ppt/slides/slide6.xml" Id="R6977aff0567b4f09" /><Relationship Type="http://schemas.openxmlformats.org/officeDocument/2006/relationships/slide" Target="/ppt/slides/slide7.xml" Id="Rca8912ad8c3a41d4" /><Relationship Type="http://schemas.openxmlformats.org/officeDocument/2006/relationships/slide" Target="/ppt/slides/slide8.xml" Id="R77d725996b084f7d" /><Relationship Type="http://schemas.openxmlformats.org/officeDocument/2006/relationships/slide" Target="/ppt/slides/slide9.xml" Id="R2db47157ab7a4095" /><Relationship Type="http://schemas.openxmlformats.org/officeDocument/2006/relationships/slide" Target="/ppt/slides/slide10.xml" Id="Rc989c25458564d08" /><Relationship Type="http://schemas.openxmlformats.org/officeDocument/2006/relationships/slide" Target="/ppt/slides/slide11.xml" Id="Rba14bcad05bc4c0e" /><Relationship Type="http://schemas.openxmlformats.org/officeDocument/2006/relationships/slide" Target="/ppt/slides/slide12.xml" Id="R53a35a1947714c1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5d1a44f7236482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4817fbbff3140e9" /><Relationship Type="http://schemas.openxmlformats.org/officeDocument/2006/relationships/notesMaster" Target="/ppt/notesMasters/notesMaster1.xml" Id="R20896050116c413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14bdbffe8b44b98" /><Relationship Type="http://schemas.openxmlformats.org/officeDocument/2006/relationships/notesMaster" Target="/ppt/notesMasters/notesMaster1.xml" Id="R0cb9bc3ae5dc4b3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7e2a96e5f894188" /><Relationship Type="http://schemas.openxmlformats.org/officeDocument/2006/relationships/notesMaster" Target="/ppt/notesMasters/notesMaster1.xml" Id="R47b46edaf6834f4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bc9abaa259841a9" /><Relationship Type="http://schemas.openxmlformats.org/officeDocument/2006/relationships/notesMaster" Target="/ppt/notesMasters/notesMaster1.xml" Id="R3717b08981a9427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25e4712bf194138" /><Relationship Type="http://schemas.openxmlformats.org/officeDocument/2006/relationships/notesMaster" Target="/ppt/notesMasters/notesMaster1.xml" Id="R9014b92f58ad42e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1268e8c592c409b" /><Relationship Type="http://schemas.openxmlformats.org/officeDocument/2006/relationships/notesMaster" Target="/ppt/notesMasters/notesMaster1.xml" Id="R9c00e779b91d4ba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6776ac0baf040a6" /><Relationship Type="http://schemas.openxmlformats.org/officeDocument/2006/relationships/notesMaster" Target="/ppt/notesMasters/notesMaster1.xml" Id="R1ba11c4fa37d427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0d08f198a3a4fbc" /><Relationship Type="http://schemas.openxmlformats.org/officeDocument/2006/relationships/notesMaster" Target="/ppt/notesMasters/notesMaster1.xml" Id="Rfbd1171fc59f4c4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fef7a9f50834894" /><Relationship Type="http://schemas.openxmlformats.org/officeDocument/2006/relationships/notesMaster" Target="/ppt/notesMasters/notesMaster1.xml" Id="Re79c882346664c7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40ddbc0d6e7444a" /><Relationship Type="http://schemas.openxmlformats.org/officeDocument/2006/relationships/notesMaster" Target="/ppt/notesMasters/notesMaster1.xml" Id="R9ed51b4720e3427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45c2ae7c9b54aca" /><Relationship Type="http://schemas.openxmlformats.org/officeDocument/2006/relationships/notesMaster" Target="/ppt/notesMasters/notesMaster1.xml" Id="R8bbebc5646b04fe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cbdf88418b140d1" /><Relationship Type="http://schemas.openxmlformats.org/officeDocument/2006/relationships/notesMaster" Target="/ppt/notesMasters/notesMaster1.xml" Id="R879e35a398b9404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Liam · Target time: 15 seconds.</a:t>
            </a:r>
          </a:p>
          <a:p xmlns:a="http://schemas.openxmlformats.org/drawingml/2006/main">
            <a:r>
              <a:t>Opening: RoomMate Haven helps students make a safer shared-home decision before commitment.</a:t>
            </a:r>
          </a:p>
          <a:p xmlns:a="http://schemas.openxmlformats.org/drawingml/2006/main">
            <a:r>
              <a:t>Transition: To understand why this matters, start with the decision students actually face.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Liam · Target time: 35 seconds.</a:t>
            </a:r>
          </a:p>
          <a:p xmlns:a="http://schemas.openxmlformats.org/drawingml/2006/main">
            <a:r>
              <a:t>Keep the problem emotional and concrete: a room can fit the budget but fail as a shared home.</a:t>
            </a:r>
          </a:p>
          <a:p xmlns:a="http://schemas.openxmlformats.org/drawingml/2006/main">
            <a:r>
              <a:t>Transition: Our primary research shows that this is not an isolated concern.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Liam · Target time: 35 seconds.</a:t>
            </a:r>
          </a:p>
          <a:p xmlns:a="http://schemas.openxmlformats.org/drawingml/2006/main">
            <a:r>
              <a:t>Meaning: the housing decision is both transactional and social; verification alone is not enough.</a:t>
            </a:r>
          </a:p>
          <a:p xmlns:a="http://schemas.openxmlformats.org/drawingml/2006/main">
            <a:r>
              <a:t>Transition: Existing products address parts of this decision, but not the connected journey.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Team international student survey (n=16),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Nicky · Target time: 35 seconds.</a:t>
            </a:r>
          </a:p>
          <a:p xmlns:a="http://schemas.openxmlformats.org/drawingml/2006/main">
            <a:r>
              <a:t>Treat this slide as the start of the solution section, not more background.</a:t>
            </a:r>
          </a:p>
          <a:p xmlns:a="http://schemas.openxmlformats.org/drawingml/2006/main">
            <a:r>
              <a:t>Transition: We generated three concepts to close that gap and selected them systematically.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https://www.domain.com.au/</a:t>
            </a:r>
          </a:p>
          <a:p xmlns:a="http://schemas.openxmlformats.org/drawingml/2006/main">
            <a:r>
              <a:t>- https://www.realestate.com.au/</a:t>
            </a:r>
          </a:p>
          <a:p xmlns:a="http://schemas.openxmlformats.org/drawingml/2006/main">
            <a:r>
              <a:t>- https://flatmates.com.au/</a:t>
            </a:r>
          </a:p>
          <a:p xmlns:a="http://schemas.openxmlformats.org/drawingml/2006/main">
            <a:r>
              <a:t>- https://www.facebook.com/marketplace/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Nicky · Target time: 45 seconds.</a:t>
            </a:r>
          </a:p>
          <a:p xmlns:a="http://schemas.openxmlformats.org/drawingml/2006/main">
            <a:r>
              <a:t>State the three scores once: Trust 4.15, Compatibility 4.45, Agreement 4.35.</a:t>
            </a:r>
          </a:p>
          <a:p xmlns:a="http://schemas.openxmlformats.org/drawingml/2006/main">
            <a:r>
              <a:t>Transition: The selected direction becomes a five-step decision journey.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Team weighted decision matrix and concept-development workshop materials.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Nicky · Target time: 45 seconds.</a:t>
            </a:r>
          </a:p>
          <a:p xmlns:a="http://schemas.openxmlformats.org/drawingml/2006/main">
            <a:r>
              <a:t>Walk left to right and explain how each stage removes uncertainty from the previous stage.</a:t>
            </a:r>
          </a:p>
          <a:p xmlns:a="http://schemas.openxmlformats.org/drawingml/2006/main">
            <a:r>
              <a:t>Transition: The next slide demonstrates the same journey in the deployed prototype.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Team Sprint 1 story map and selected RoomMate Haven concept.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Dylan · Target time: 75 seconds.</a:t>
            </a:r>
          </a:p>
          <a:p xmlns:a="http://schemas.openxmlformats.org/drawingml/2006/main">
            <a:r>
              <a:t>Before presenting: insert one 60–75 second MP4 across the three browser frames and set Playback to Automatically.</a:t>
            </a:r>
          </a:p>
          <a:p xmlns:a="http://schemas.openxmlformats.org/drawingml/2006/main">
            <a:r>
              <a:t>Demo path: property search → verification cues → compatibility explanation → safe messaging → house-rule agreement.</a:t>
            </a:r>
          </a:p>
          <a:p xmlns:a="http://schemas.openxmlformats.org/drawingml/2006/main">
            <a:r>
              <a:t>Plan B: if the embedded video fails, narrate the three still frames; if the network fails, use the embedded recording rather than the live site.</a:t>
            </a:r>
          </a:p>
          <a:p xmlns:a="http://schemas.openxmlformats.org/drawingml/2006/main">
            <a:r>
              <a:t>Transition: Behind this journey are modular subsystems that can be validated separately.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http://roommate-haven-dev.eba-2h6p4mxq.ap-southeast-2.elasticbeanstalk.com/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Dylan · Target time: 50 seconds.</a:t>
            </a:r>
          </a:p>
          <a:p xmlns:a="http://schemas.openxmlformats.org/drawingml/2006/main">
            <a:r>
              <a:t>Explain data and decisions, not implementation jargon: preferences feed the fit engine; verification and privacy stay separate.</a:t>
            </a:r>
          </a:p>
          <a:p xmlns:a="http://schemas.openxmlformats.org/drawingml/2006/main">
            <a:r>
              <a:t>Transition: We then tested whether users understood those system states—not only whether they could click through them.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Team subsystem analysis and Sprint 1 prototype mapping.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Dylan · Target time: 55 seconds.</a:t>
            </a:r>
          </a:p>
          <a:p xmlns:a="http://schemas.openxmlformats.org/drawingml/2006/main">
            <a:r>
              <a:t>Method: five participants, two iterations, tablet/laptop/mobile, moderated think-aloud.</a:t>
            </a:r>
          </a:p>
          <a:p xmlns:a="http://schemas.openxmlformats.org/drawingml/2006/main">
            <a:r>
              <a:t>Do not claim overall success. State clearly that verification passed, compatibility meaning remained partial, and rule activation failed.</a:t>
            </a:r>
          </a:p>
          <a:p xmlns:a="http://schemas.openxmlformats.org/drawingml/2006/main">
            <a:r>
              <a:t>Transition: The detailed results show where the revised design worked and where more development is needed.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https://github.com/NuodiLiu/DESN2000/blob/main/part3/finalreport.tex</a:t>
            </a:r>
          </a:p>
          <a:p xmlns:a="http://schemas.openxmlformats.org/drawingml/2006/main">
            <a:r>
              <a:t>- https://github.com/NuodiLiu/DESN2000/blob/main/part3/tests/participant-findings.md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Dylan · Target time: 60 seconds.</a:t>
            </a:r>
          </a:p>
          <a:p xmlns:a="http://schemas.openxmlformats.org/drawingml/2006/main">
            <a:r>
              <a:t>Call out the exact method and the limits. The same five participants completed targeted Iteration 2 retests.</a:t>
            </a:r>
          </a:p>
          <a:p xmlns:a="http://schemas.openxmlformats.org/drawingml/2006/main">
            <a:r>
              <a:t>Automated Playwright review logged 18 independent findings; this supports the need for continued technical hardening.</a:t>
            </a:r>
          </a:p>
          <a:p xmlns:a="http://schemas.openxmlformats.org/drawingml/2006/main">
            <a:r>
              <a:t>Transition: These results clarify what is genuinely innovative about the final design.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https://github.com/NuodiLiu/DESN2000/blob/main/part3/finalreport.tex</a:t>
            </a:r>
          </a:p>
          <a:p xmlns:a="http://schemas.openxmlformats.org/drawingml/2006/main">
            <a:r>
              <a:t>- https://github.com/NuodiLiu/DESN2000/blob/main/part3/tests/roommate-haven-qa-findings.md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Pranav · Target time: 50 seconds.</a:t>
            </a:r>
          </a:p>
          <a:p xmlns:a="http://schemas.openxmlformats.org/drawingml/2006/main">
            <a:r>
              <a:t>Frame innovation honestly: individual features exist elsewhere; the innovation is connecting them before commitment.</a:t>
            </a:r>
          </a:p>
          <a:p xmlns:a="http://schemas.openxmlformats.org/drawingml/2006/main">
            <a:r>
              <a:t>Transition: The final value is a clearer shared-home decision—not simply another listing platform.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Team competitive analysis, concept selection and user-journey mapping.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Pranav · Target time: 45 seconds.</a:t>
            </a:r>
          </a:p>
          <a:p xmlns:a="http://schemas.openxmlformats.org/drawingml/2006/main">
            <a:r>
              <a:t>Close by resolving the opening problem. Invite the audience to try the deployed prototype.</a:t>
            </a:r>
          </a:p>
          <a:p xmlns:a="http://schemas.openxmlformats.org/drawingml/2006/main">
            <a:r>
              <a:t>Team rehearsal target: approximately 9 minutes 10 seconds, leaving a buffer below the 10-minute limit.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http://roommate-haven-dev.eba-2h6p4mxq.ap-southeast-2.elasticbeanstalk.com/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31adc175e24fb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783594ffbb24c8b" /><Relationship Type="http://schemas.openxmlformats.org/officeDocument/2006/relationships/slideLayout" Target="/ppt/slideLayouts/slideLayout1.xml" Id="R1a838adf82d64d1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a838adf82d64d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941b904f3e4caa" /><Relationship Type="http://schemas.openxmlformats.org/officeDocument/2006/relationships/image" Target="/ppt/media/image.png" Id="R166f0eee61c14c6a" /><Relationship Type="http://schemas.openxmlformats.org/officeDocument/2006/relationships/notesSlide" Target="/ppt/notesSlides/notesSlide1.xml" Id="Ref01c62dbb134a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1cdae27df041c5" /><Relationship Type="http://schemas.openxmlformats.org/officeDocument/2006/relationships/image" Target="/ppt/media/image2.png" Id="R9d534dda04f44743" /><Relationship Type="http://schemas.openxmlformats.org/officeDocument/2006/relationships/notesSlide" Target="/ppt/notesSlides/notesSlide2.xml" Id="R057a7ee5bab54a5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7ac2048dc34c8c" /><Relationship Type="http://schemas.openxmlformats.org/officeDocument/2006/relationships/notesSlide" Target="/ppt/notesSlides/notesSlide3.xml" Id="R6f2db2f06b39467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dd9655cb964203" /><Relationship Type="http://schemas.openxmlformats.org/officeDocument/2006/relationships/notesSlide" Target="/ppt/notesSlides/notesSlide4.xml" Id="R00af28674b314ae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ed9fdb00ea4e2c" /><Relationship Type="http://schemas.openxmlformats.org/officeDocument/2006/relationships/notesSlide" Target="/ppt/notesSlides/notesSlide5.xml" Id="R1d905fa62fe941d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9a50de97b94709" /><Relationship Type="http://schemas.openxmlformats.org/officeDocument/2006/relationships/notesSlide" Target="/ppt/notesSlides/notesSlide6.xml" Id="Rd364fb4d0a1c45a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ac597058b24f26" /><Relationship Type="http://schemas.openxmlformats.org/officeDocument/2006/relationships/notesSlide" Target="/ppt/notesSlides/notesSlide7.xml" Id="R946ae9f95a3243f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f6d0c6c70b448f" /><Relationship Type="http://schemas.openxmlformats.org/officeDocument/2006/relationships/notesSlide" Target="/ppt/notesSlides/notesSlide8.xml" Id="Rf45ee706418b4ba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c6d7ac41684ac9" /><Relationship Type="http://schemas.openxmlformats.org/officeDocument/2006/relationships/notesSlide" Target="/ppt/notesSlides/notesSlide9.xml" Id="Red229b58cc894c4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dcb2c8d449492f" /><Relationship Type="http://schemas.openxmlformats.org/officeDocument/2006/relationships/notesSlide" Target="/ppt/notesSlides/notesSlide10.xml" Id="Rd7c30763a56b4f2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fc93b3073142d5" /><Relationship Type="http://schemas.openxmlformats.org/officeDocument/2006/relationships/notesSlide" Target="/ppt/notesSlides/notesSlide11.xml" Id="Rf3385899e64f400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0892c2601147bc" /><Relationship Type="http://schemas.openxmlformats.org/officeDocument/2006/relationships/notesSlide" Target="/ppt/notesSlides/notesSlide12.xml" Id="R4f423a2d4cc5454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图片 3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6f0eee61c14c6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A3E1B4F-E9C5-44A9-AE3D-39D4E1D33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429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A36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689810BE-0253-42D9-B407-27C347E13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B74CF0D5-5B08-4043-8CFD-C3FC62B5F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CD3C515-35E2-4493-961A-65D9DE959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B7001E2-1685-441A-BC61-11736E9EC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D31B60DE-59B2-49BC-8B49-1304C492E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92A877E-B3EE-4377-9B91-358F3A110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08242353-A008-4F08-8DAF-C91AC9961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F14B202-6870-41F4-A0DF-47F3B97DA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D7301E3D-E075-4D3D-9825-91A54206E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73C61E9-7B5C-4F1A-8A33-8DB8673C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429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CE43C3C7-B15B-4117-941E-77306E6EF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"/>
            <a:ext cx="5429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6DDECCF-73D2-478B-A04C-B812E92C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19200"/>
            <a:ext cx="5429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5D35C2CF-03C9-4274-B8C9-BCDE4245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5429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CA52A131-8C19-4F72-980B-6F1D5FB8D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438400"/>
            <a:ext cx="5429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2FE82883-93F9-4D98-B3FE-6B9902661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5429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E007A41A-8D35-49C2-AAF0-89FC2DAD6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57600"/>
            <a:ext cx="5429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6AC7C953-AFC1-4268-8B0E-1195A0E7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67200"/>
            <a:ext cx="5429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2E234CC-5050-4548-A26C-925872202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76800"/>
            <a:ext cx="5429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940690FE-B367-4B9C-AD19-B93EEAC61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5429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E16AD068-8718-41BC-8D25-6F7F46261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5429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008303AA-9118-4BB7-8668-BCFC899A9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5429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0B03A625-A340-41F1-8BAF-1D66F8519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742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D7CF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2E630673-BDAB-4DA6-9022-CD3A0791E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333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5B9B1"/>
                </a:solidFill>
              </a:defRPr>
            </a:pPr>
            <a:r>
              <a:rPr sz="825" b="1">
                <a:solidFill>
                  <a:srgbClr val="55B9B1"/>
                </a:solidFill>
              </a:rPr>
              <a:t>TRUSTED STUDENT HOUSING / FINAL DESIGN</a:t>
            </a:r>
          </a:p>
        </p:txBody>
      </p:sp>
      <p:sp>
        <p:nvSpPr>
          <p:cNvPr id="26" name="deck-title">
            <a:extLst xmlns:a="http://schemas.openxmlformats.org/drawingml/2006/main">
              <a:ext uri="{FF2B5EF4-FFF2-40B4-BE49-F238E27FC236}">
                <a16:creationId xmlns:a16="http://schemas.microsoft.com/office/drawing/2014/main" id="{2D69BB06-CC51-443B-A652-17D84195B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42862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500" b="1">
                <a:solidFill>
                  <a:srgbClr val="FFFFFF"/>
                </a:solidFill>
              </a:defRPr>
            </a:pPr>
            <a:r>
              <a:rPr sz="4500" b="1">
                <a:solidFill>
                  <a:srgbClr val="FFFFFF"/>
                </a:solidFill>
              </a:rPr>
              <a:t>RoomMate</a:t>
            </a:r>
          </a:p>
          <a:p xmlns:a="http://schemas.openxmlformats.org/drawingml/2006/main">
            <a:pPr algn="l">
              <a:buNone/>
              <a:defRPr sz="4500" b="1">
                <a:solidFill>
                  <a:srgbClr val="FFFFFF"/>
                </a:solidFill>
              </a:defRPr>
            </a:pPr>
            <a:r>
              <a:rPr sz="4500" b="1">
                <a:solidFill>
                  <a:srgbClr val="FFFFFF"/>
                </a:solidFill>
              </a:rPr>
              <a:t>Haven</a:t>
            </a:r>
          </a:p>
        </p:txBody>
      </p:sp>
      <p:sp>
        <p:nvSpPr>
          <p:cNvPr id="27" name="deck-subtitle">
            <a:extLst xmlns:a="http://schemas.openxmlformats.org/drawingml/2006/main">
              <a:ext uri="{FF2B5EF4-FFF2-40B4-BE49-F238E27FC236}">
                <a16:creationId xmlns:a16="http://schemas.microsoft.com/office/drawing/2014/main" id="{F8E1AE18-0730-4BCC-993D-18189B805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4095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CDECE8"/>
                </a:solidFill>
              </a:defRPr>
            </a:pPr>
            <a:r>
              <a:rPr sz="1875" b="0">
                <a:solidFill>
                  <a:srgbClr val="CDECE8"/>
                </a:solidFill>
              </a:rPr>
              <a:t>Choose the room. Understand the people.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CDECE8"/>
                </a:solidFill>
              </a:defRPr>
            </a:pPr>
            <a:r>
              <a:rPr sz="1875" b="0">
                <a:solidFill>
                  <a:srgbClr val="CDECE8"/>
                </a:solidFill>
              </a:rPr>
              <a:t>Agree how to live.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85A1A6D8-7C6F-4FDF-B23F-2DD4DBA09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ED7CF"/>
                </a:solidFill>
              </a:defRPr>
            </a:pPr>
            <a:r>
              <a:rPr sz="1200" b="1">
                <a:solidFill>
                  <a:srgbClr val="6ED7CF"/>
                </a:solidFill>
              </a:rPr>
              <a:t>DESN2000 Design Presentation</a:t>
            </a:r>
          </a:p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B8D91B11-5BC1-4B83-97D3-20AD16184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CDECE8"/>
                </a:solidFill>
              </a:defRPr>
            </a:pPr>
            <a:r>
              <a:rPr sz="1125" b="0">
                <a:solidFill>
                  <a:srgbClr val="CDECE8"/>
                </a:solidFill>
              </a:rPr>
              <a:t>Liam · Dylan · Nicky · Pranav · Week 10</a:t>
            </a:r>
          </a:p>
        </p:txBody>
      </p:sp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0FC5627A-06C5-42B6-9412-F1931034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5B9B1"/>
                </a:solidFill>
              </a:defRPr>
            </a:pPr>
            <a:r>
              <a:rPr sz="825" b="0">
                <a:solidFill>
                  <a:srgbClr val="55B9B1"/>
                </a:solidFill>
              </a:rPr>
              <a:t>Deployed interactive HTML prototype</a:t>
            </a:r>
          </a:p>
        </p:txBody>
      </p:sp>
    </p:spTree>
    <p:extLst>
      <p:ext uri="{BB962C8B-B14F-4D97-AF65-F5344CB8AC3E}">
        <p14:creationId xmlns:p14="http://schemas.microsoft.com/office/powerpoint/2010/main" val="139234482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EE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椭圆形标注 45">
            <a:extLst xmlns:a="http://schemas.openxmlformats.org/drawingml/2006/main">
              <a:ext uri="{FF2B5EF4-FFF2-40B4-BE49-F238E27FC236}">
                <a16:creationId xmlns:a16="http://schemas.microsoft.com/office/drawing/2014/main" id="{9E1BBF25-62C7-150A-002A-1777D510A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756" y="1790700"/>
            <a:ext cx="3681413" cy="1371600"/>
          </a:xfrm>
          <a:prstGeom xmlns:a="http://schemas.openxmlformats.org/drawingml/2006/main" prst="wedgeEllipseCallout">
            <a:avLst>
              <a:gd name="adj1" fmla="val -34287"/>
              <a:gd name="adj2" fmla="val 54778"/>
            </a:avLst>
          </a:prstGeom>
          <a:solidFill xmlns:a="http://schemas.openxmlformats.org/drawingml/2006/main">
            <a:schemeClr val="bg1"/>
          </a:solidFill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5" name="矩形 44">
            <a:extLst xmlns:a="http://schemas.openxmlformats.org/drawingml/2006/main">
              <a:ext uri="{FF2B5EF4-FFF2-40B4-BE49-F238E27FC236}">
                <a16:creationId xmlns:a16="http://schemas.microsoft.com/office/drawing/2014/main" id="{F982542B-B3AD-4E4F-AD97-629402D8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423A7D13-955E-4944-A148-3F5B5A2B7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71927855-D52A-48F3-925D-7A94EA607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1BA80050-FE9B-4A1E-8A45-B7ED31449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A0CB7C5B-1B62-4570-8B42-24F32542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37BCF7E-79A3-4E89-82DC-76CED4A90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01FB4457-0DA2-4791-950E-404BA16BC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BE96220D-6E0C-4B4C-9DB2-63791BEBB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C99B747-2A96-4713-BD24-581A20756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928A39B-D2AB-4905-963A-7177009D9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77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56662B11-F919-44EE-85C6-13832DC42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0"/>
            <a:ext cx="628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EAA9C86-F796-4D00-B6DA-E4DE16FF0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85800"/>
            <a:ext cx="628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C8A5FBE-DD93-4431-A7A3-97007D2E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71600"/>
            <a:ext cx="628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62E58070-B7DA-4584-BA1B-90333E7CB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57400"/>
            <a:ext cx="628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D5F1FBD3-0ED7-4F46-994B-E61494835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43200"/>
            <a:ext cx="628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FD4F9D4-1A3A-45E2-AD3B-0A5AF2EE1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429000"/>
            <a:ext cx="628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866C45A6-FE0B-4404-B265-9904DAF54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14800"/>
            <a:ext cx="628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0DD23AAB-9F21-4A76-929A-2599DB5FB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800600"/>
            <a:ext cx="628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3DC648BA-2B79-4A3C-A850-0B79AB203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486400"/>
            <a:ext cx="628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4F39C16-5887-4348-A3F9-03260352C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172200"/>
            <a:ext cx="628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997817EF-C0CB-46CF-BF9D-15E2372A6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858000"/>
            <a:ext cx="628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6006D205-7027-4931-B30A-60C6B403E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8B87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3F8508EC-503F-43A2-B601-DCFA02E9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"/>
            <a:ext cx="2743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D7178"/>
                </a:solidFill>
              </a:defRPr>
            </a:pPr>
            <a:r>
              <a:rPr sz="750" b="1">
                <a:solidFill>
                  <a:srgbClr val="5D7178"/>
                </a:solidFill>
              </a:rPr>
              <a:t>ROOMMATE HAVEN / SYSTEM VIEW</a:t>
            </a:r>
          </a:p>
        </p:txBody>
      </p:sp>
      <p:sp>
        <p:nvSpPr>
          <p:cNvPr id="24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BE27BB93-D043-4F24-BE92-558246EB5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8B87"/>
                </a:solidFill>
              </a:defRPr>
            </a:pPr>
            <a:r>
              <a:rPr sz="1050" b="1">
                <a:solidFill>
                  <a:srgbClr val="198B87"/>
                </a:solidFill>
              </a:rPr>
              <a:t>PROBLEM</a:t>
            </a:r>
          </a:p>
        </p:txBody>
      </p:sp>
      <p:sp>
        <p:nvSpPr>
          <p:cNvPr id="2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B14D54C-C644-4651-8B13-424F1D49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2252D"/>
                </a:solidFill>
              </a:defRPr>
            </a:pPr>
            <a:r>
              <a:rPr sz="2850" b="1">
                <a:solidFill>
                  <a:srgbClr val="12252D"/>
                </a:solidFill>
              </a:rPr>
              <a:t>A good room can still become the wrong home.</a:t>
            </a:r>
          </a:p>
        </p:txBody>
      </p:sp>
      <p:sp>
        <p:nvSpPr>
          <p:cNvPr id="2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F4DEAFA-C21F-4FFA-87CA-7571F194F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572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D7178"/>
                </a:solidFill>
              </a:defRPr>
            </a:pPr>
            <a:r>
              <a:rPr sz="975" b="1">
                <a:solidFill>
                  <a:srgbClr val="5D7178"/>
                </a:solidFill>
              </a:rPr>
              <a:t>02</a:t>
            </a:r>
          </a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F2C845AB-548D-477E-B95A-4B8C0F599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3" y="5429250"/>
            <a:ext cx="10177462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sz="2400" b="1"/>
              <a:t>Students must judge the property, the people and the shared rules—often before trust exists.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70A6EBE-DE80-4EC5-869A-C7FBB2549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4381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7178"/>
                </a:solidFill>
              </a:defRPr>
            </a:pPr>
            <a:r>
              <a:t/>
            </a:r>
          </a:p>
        </p:txBody>
      </p:sp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4DC9B374-B5C4-4F39-8BED-C22D2431A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013" y="2247900"/>
            <a:ext cx="3543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2252D"/>
                </a:solidFill>
              </a:defRPr>
            </a:pPr>
            <a:r>
              <a:rPr sz="1650" b="1">
                <a:solidFill>
                  <a:srgbClr val="12252D"/>
                </a:solidFill>
              </a:rPr>
              <a:t>Is the listing genuine—and can I live with this person?</a:t>
            </a:r>
          </a:p>
        </p:txBody>
      </p:sp>
      <p:sp>
        <p:nvSpPr>
          <p:cNvPr id="31" name="椭圆 30">
            <a:extLst xmlns:a="http://schemas.openxmlformats.org/drawingml/2006/main">
              <a:ext uri="{FF2B5EF4-FFF2-40B4-BE49-F238E27FC236}">
                <a16:creationId xmlns:a16="http://schemas.microsoft.com/office/drawing/2014/main" id="{A3569633-706D-45FA-B690-3C15D83AB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669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C9D7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矩形 31">
            <a:extLst xmlns:a="http://schemas.openxmlformats.org/drawingml/2006/main">
              <a:ext uri="{FF2B5EF4-FFF2-40B4-BE49-F238E27FC236}">
                <a16:creationId xmlns:a16="http://schemas.microsoft.com/office/drawing/2014/main" id="{2E79B96B-FC22-4F6E-ADF3-A5B2D5F67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33600"/>
            <a:ext cx="81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98B87"/>
                </a:solidFill>
              </a:defRPr>
            </a:pPr>
            <a:r>
              <a:rPr sz="1350" b="1">
                <a:solidFill>
                  <a:srgbClr val="198B87"/>
                </a:solidFill>
              </a:rPr>
              <a:t>01</a:t>
            </a:r>
          </a:p>
        </p:txBody>
      </p:sp>
      <p:sp>
        <p:nvSpPr>
          <p:cNvPr id="33" name="矩形 32">
            <a:extLst xmlns:a="http://schemas.openxmlformats.org/drawingml/2006/main">
              <a:ext uri="{FF2B5EF4-FFF2-40B4-BE49-F238E27FC236}">
                <a16:creationId xmlns:a16="http://schemas.microsoft.com/office/drawing/2014/main" id="{A43C303E-030A-427C-9288-2CEBBB74B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933575"/>
            <a:ext cx="3752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E2A36"/>
                </a:solidFill>
              </a:defRPr>
            </a:pPr>
            <a:r>
              <a:rPr sz="1800" b="1">
                <a:solidFill>
                  <a:srgbClr val="0E2A36"/>
                </a:solidFill>
              </a:rPr>
              <a:t>Find a real place</a:t>
            </a:r>
          </a:p>
        </p:txBody>
      </p:sp>
      <p:sp>
        <p:nvSpPr>
          <p:cNvPr id="34" name="矩形 33">
            <a:extLst xmlns:a="http://schemas.openxmlformats.org/drawingml/2006/main">
              <a:ext uri="{FF2B5EF4-FFF2-40B4-BE49-F238E27FC236}">
                <a16:creationId xmlns:a16="http://schemas.microsoft.com/office/drawing/2014/main" id="{7016A47B-2C25-433F-8866-3F1439B29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14575"/>
            <a:ext cx="3752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178"/>
                </a:solidFill>
              </a:defRPr>
            </a:pPr>
            <a:r>
              <a:rPr sz="1275" b="0">
                <a:solidFill>
                  <a:srgbClr val="5D7178"/>
                </a:solidFill>
              </a:rPr>
              <a:t>Price, location, verification</a:t>
            </a:r>
          </a:p>
        </p:txBody>
      </p:sp>
      <p:sp>
        <p:nvSpPr>
          <p:cNvPr id="37" name="矩形 36">
            <a:extLst xmlns:a="http://schemas.openxmlformats.org/drawingml/2006/main">
              <a:ext uri="{FF2B5EF4-FFF2-40B4-BE49-F238E27FC236}">
                <a16:creationId xmlns:a16="http://schemas.microsoft.com/office/drawing/2014/main" id="{1FD049C2-AF31-412B-8F73-17D8BE11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171825"/>
            <a:ext cx="3752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E2A36"/>
                </a:solidFill>
              </a:defRPr>
            </a:pPr>
            <a:r>
              <a:rPr sz="1800" b="1">
                <a:solidFill>
                  <a:srgbClr val="0E2A36"/>
                </a:solidFill>
              </a:rPr>
              <a:t>Understand the people</a:t>
            </a:r>
          </a:p>
        </p:txBody>
      </p:sp>
      <p:sp>
        <p:nvSpPr>
          <p:cNvPr id="38" name="矩形 37">
            <a:extLst xmlns:a="http://schemas.openxmlformats.org/drawingml/2006/main">
              <a:ext uri="{FF2B5EF4-FFF2-40B4-BE49-F238E27FC236}">
                <a16:creationId xmlns:a16="http://schemas.microsoft.com/office/drawing/2014/main" id="{7A6A264A-EB41-4B73-B5E9-C31E007A3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552825"/>
            <a:ext cx="3752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178"/>
                </a:solidFill>
              </a:defRPr>
            </a:pPr>
            <a:r>
              <a:rPr sz="1275" b="0">
                <a:solidFill>
                  <a:srgbClr val="5D7178"/>
                </a:solidFill>
              </a:rPr>
              <a:t>Trust signals, habits, fit</a:t>
            </a:r>
          </a:p>
        </p:txBody>
      </p:sp>
      <p:sp>
        <p:nvSpPr>
          <p:cNvPr id="39" name="椭圆 38">
            <a:extLst xmlns:a="http://schemas.openxmlformats.org/drawingml/2006/main">
              <a:ext uri="{FF2B5EF4-FFF2-40B4-BE49-F238E27FC236}">
                <a16:creationId xmlns:a16="http://schemas.microsoft.com/office/drawing/2014/main" id="{DC4042B1-36BD-41BB-BC65-6F316EB2C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3434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C9D7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44D86D97-4A3E-4817-A347-F895EE743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10100"/>
            <a:ext cx="81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98B87"/>
                </a:solidFill>
              </a:defRPr>
            </a:pPr>
            <a:r>
              <a:rPr sz="1350" b="1">
                <a:solidFill>
                  <a:srgbClr val="198B87"/>
                </a:solidFill>
              </a:rPr>
              <a:t>03</a:t>
            </a:r>
          </a:p>
        </p:txBody>
      </p:sp>
      <p:sp>
        <p:nvSpPr>
          <p:cNvPr id="41" name="矩形 40">
            <a:extLst xmlns:a="http://schemas.openxmlformats.org/drawingml/2006/main">
              <a:ext uri="{FF2B5EF4-FFF2-40B4-BE49-F238E27FC236}">
                <a16:creationId xmlns:a16="http://schemas.microsoft.com/office/drawing/2014/main" id="{0735FF79-839C-450A-B268-13EFAA320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0075"/>
            <a:ext cx="3752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E2A36"/>
                </a:solidFill>
              </a:defRPr>
            </a:pPr>
            <a:r>
              <a:rPr sz="1800" b="1">
                <a:solidFill>
                  <a:srgbClr val="0E2A36"/>
                </a:solidFill>
              </a:rPr>
              <a:t>Agree before moving</a:t>
            </a:r>
          </a:p>
        </p:txBody>
      </p:sp>
      <p:sp>
        <p:nvSpPr>
          <p:cNvPr id="42" name="矩形 41">
            <a:extLst xmlns:a="http://schemas.openxmlformats.org/drawingml/2006/main">
              <a:ext uri="{FF2B5EF4-FFF2-40B4-BE49-F238E27FC236}">
                <a16:creationId xmlns:a16="http://schemas.microsoft.com/office/drawing/2014/main" id="{0F7B7C41-FA02-4C88-9369-E38D7711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791075"/>
            <a:ext cx="3752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178"/>
                </a:solidFill>
              </a:defRPr>
            </a:pPr>
            <a:r>
              <a:rPr sz="1275" b="0">
                <a:solidFill>
                  <a:srgbClr val="5D7178"/>
                </a:solidFill>
              </a:rPr>
              <a:t>Bills, chores, privacy, guests</a:t>
            </a:r>
          </a:p>
        </p:txBody>
      </p:sp>
      <p:sp>
        <p:nvSpPr>
          <p:cNvPr id="43" name="矩形 42">
            <a:extLst xmlns:a="http://schemas.openxmlformats.org/drawingml/2006/main">
              <a:ext uri="{FF2B5EF4-FFF2-40B4-BE49-F238E27FC236}">
                <a16:creationId xmlns:a16="http://schemas.microsoft.com/office/drawing/2014/main" id="{A53BD07F-9B0D-4A29-AF4B-E8EE894F1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8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矩形 43">
            <a:extLst xmlns:a="http://schemas.openxmlformats.org/drawingml/2006/main">
              <a:ext uri="{FF2B5EF4-FFF2-40B4-BE49-F238E27FC236}">
                <a16:creationId xmlns:a16="http://schemas.microsoft.com/office/drawing/2014/main" id="{08651247-53B7-4E6B-913D-D197A855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178"/>
                </a:solidFill>
              </a:defRPr>
            </a:pPr>
            <a:r>
              <a:rPr sz="825" b="0">
                <a:solidFill>
                  <a:srgbClr val="5D7178"/>
                </a:solidFill>
              </a:rPr>
              <a:t>RoomMate Haven · Problem context</a:t>
            </a:r>
          </a:p>
        </p:txBody>
      </p:sp>
      <p:pic>
        <p:nvPicPr>
          <p:cNvPr id="92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534dda04f4474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0074" y="2943225"/>
            <a:ext cx="2124075" cy="2124075"/>
          </a:xfrm>
          <a:prstGeom xmlns:a="http://schemas.openxmlformats.org/drawingml/2006/main" prst="rect">
            <a:avLst/>
          </a:prstGeom>
        </p:spPr>
      </p:pic>
      <p:sp>
        <p:nvSpPr>
          <p:cNvPr id="47" name="椭圆 46">
            <a:extLst xmlns:a="http://schemas.openxmlformats.org/drawingml/2006/main">
              <a:ext uri="{FF2B5EF4-FFF2-40B4-BE49-F238E27FC236}">
                <a16:creationId xmlns:a16="http://schemas.microsoft.com/office/drawing/2014/main" id="{C9A83A40-6C5E-AC14-E1AD-F5C5A63D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95625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C9D7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矩形 47">
            <a:extLst xmlns:a="http://schemas.openxmlformats.org/drawingml/2006/main">
              <a:ext uri="{FF2B5EF4-FFF2-40B4-BE49-F238E27FC236}">
                <a16:creationId xmlns:a16="http://schemas.microsoft.com/office/drawing/2014/main" id="{934212E6-B8F6-0421-87D9-E3DB15C22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62325"/>
            <a:ext cx="81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98B87"/>
                </a:solidFill>
              </a:defRPr>
            </a:pPr>
            <a:r>
              <a:rPr sz="1350" b="1">
                <a:solidFill>
                  <a:srgbClr val="198B87"/>
                </a:solidFill>
              </a:rPr>
              <a:t>0</a:t>
            </a:r>
            <a:r>
              <a:rPr sz="1350" b="1">
                <a:solidFill>
                  <a:srgbClr val="198B87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7194954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矩形 61">
            <a:extLst xmlns:a="http://schemas.openxmlformats.org/drawingml/2006/main">
              <a:ext uri="{FF2B5EF4-FFF2-40B4-BE49-F238E27FC236}">
                <a16:creationId xmlns:a16="http://schemas.microsoft.com/office/drawing/2014/main" id="{ECE0E8E1-3AE4-885F-8859-22EE2A41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0809A847-2621-868F-2661-7B4F0AF45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121EAE8B-20A7-474F-1B1D-A6CC3545D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24B2FB8C-726E-8836-F569-AAB504A2A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56305E77-8DFC-8566-4AB0-5B36ADD78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6C08522D-F00A-293E-D6B6-364B5C5EB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84B35A53-D2D8-11AB-4C72-3CDF8A326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4ABBFD32-AC99-B916-F451-F2329E2B8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B6B513F2-25DC-30ED-798D-850BB8C4C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3895E84E-B159-59B5-55B5-46C50BF74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2BA219B5-2691-D608-F311-3AEA8AAE3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2AA73F56-95E4-EFD8-8532-FA4A86388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F92C19A-43ED-9DDE-7786-FE6350459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DEC8C907-04B9-8686-D4AD-EC13BC6A4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BAB803AA-CC5E-0475-367F-3509EB175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C386A137-C98A-2A90-279C-251942F05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9FD7B880-3706-E52F-8C78-16850F85D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D084057-2B80-5A72-449C-3EDE55180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5EDFA96F-8E44-25B7-FD31-35C0A5BE8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8D409A90-061B-205B-F82F-2985EA834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B6ACD41E-743D-08FD-BE6D-7F7907A4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4B736063-E96C-1B37-DB6F-FBBEC26AF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DCFE838D-2669-9628-D734-11DD0D1B8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2C9FDA68-DAA8-A656-87A0-7FA2781F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CE5E1906-B964-A990-D97D-9F3B9C01F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16C49B6D-49F5-698F-AF36-E01E48CE2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F635C875-2487-A540-02BA-08C5AAFBA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890925BD-3A51-3FBB-E8A3-131F45AF8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8B87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4D06D70B-D7FB-02BC-8989-D7DD57E17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"/>
            <a:ext cx="2743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D7178"/>
                </a:solidFill>
              </a:defRPr>
            </a:pPr>
            <a:r>
              <a:rPr sz="750" b="1">
                <a:solidFill>
                  <a:srgbClr val="5D7178"/>
                </a:solidFill>
              </a:rPr>
              <a:t>ROOMMATE HAVEN / SYSTEM VIEW</a:t>
            </a:r>
          </a:p>
        </p:txBody>
      </p:sp>
      <p:sp>
        <p:nvSpPr>
          <p:cNvPr id="30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5923030C-AB04-5340-04C5-42ED6490A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8B87"/>
                </a:solidFill>
              </a:defRPr>
            </a:pPr>
            <a:r>
              <a:rPr sz="1050" b="1">
                <a:solidFill>
                  <a:srgbClr val="198B87"/>
                </a:solidFill>
              </a:rPr>
              <a:t>RESEARCH EVIDENCE</a:t>
            </a:r>
          </a:p>
        </p:txBody>
      </p:sp>
      <p:sp>
        <p:nvSpPr>
          <p:cNvPr id="3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ED87356-CCD5-D56C-3C86-928F22886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2252D"/>
                </a:solidFill>
              </a:defRPr>
            </a:pPr>
            <a:r>
              <a:rPr sz="2850" b="1">
                <a:solidFill>
                  <a:srgbClr val="12252D"/>
                </a:solidFill>
              </a:rPr>
              <a:t>Trust and compatibility shape the housing decision.</a:t>
            </a:r>
          </a:p>
        </p:txBody>
      </p:sp>
      <p:sp>
        <p:nvSpPr>
          <p:cNvPr id="3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22CEF4C-1488-4244-36EF-FE50B171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990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D7178"/>
                </a:solidFill>
              </a:defRPr>
            </a:pPr>
            <a:r>
              <a:rPr sz="1425" b="0">
                <a:solidFill>
                  <a:srgbClr val="5D7178"/>
                </a:solidFill>
              </a:rPr>
              <a:t>Survey of 16 international students currently studying in Australia.</a:t>
            </a:r>
          </a:p>
        </p:txBody>
      </p:sp>
      <p:sp>
        <p:nvSpPr>
          <p:cNvPr id="3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FFF7D56-4428-E1AB-EE82-50A3F3834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572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D7178"/>
                </a:solidFill>
              </a:defRPr>
            </a:pPr>
            <a:r>
              <a:rPr sz="975" b="1">
                <a:solidFill>
                  <a:srgbClr val="5D7178"/>
                </a:solidFill>
              </a:rPr>
              <a:t>03</a:t>
            </a:r>
          </a:p>
        </p:txBody>
      </p:sp>
      <p:sp>
        <p:nvSpPr>
          <p:cNvPr id="34" name="矩形 33">
            <a:extLst xmlns:a="http://schemas.openxmlformats.org/drawingml/2006/main">
              <a:ext uri="{FF2B5EF4-FFF2-40B4-BE49-F238E27FC236}">
                <a16:creationId xmlns:a16="http://schemas.microsoft.com/office/drawing/2014/main" id="{752BC4B3-B014-E47A-E8C3-89398CF2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609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7C64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B1AD9343-10CF-9650-5F90-8B0D26A5B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33650"/>
            <a:ext cx="295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0E2A36"/>
                </a:solidFill>
              </a:defRPr>
            </a:pPr>
            <a:r>
              <a:rPr sz="4050" b="1">
                <a:solidFill>
                  <a:srgbClr val="0E2A36"/>
                </a:solidFill>
              </a:rPr>
              <a:t>100%</a:t>
            </a:r>
          </a:p>
        </p:txBody>
      </p:sp>
      <p:sp>
        <p:nvSpPr>
          <p:cNvPr id="36" name="矩形 35">
            <a:extLst xmlns:a="http://schemas.openxmlformats.org/drawingml/2006/main">
              <a:ext uri="{FF2B5EF4-FFF2-40B4-BE49-F238E27FC236}">
                <a16:creationId xmlns:a16="http://schemas.microsoft.com/office/drawing/2014/main" id="{076FEBF1-8658-EF23-A041-622654E02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295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2252D"/>
                </a:solidFill>
              </a:defRPr>
            </a:pPr>
            <a:r>
              <a:rPr sz="1500" b="1">
                <a:solidFill>
                  <a:srgbClr val="12252D"/>
                </a:solidFill>
              </a:rPr>
              <a:t>concerned about scams</a:t>
            </a:r>
          </a:p>
        </p:txBody>
      </p:sp>
      <p:sp>
        <p:nvSpPr>
          <p:cNvPr id="37" name="矩形 36">
            <a:extLst xmlns:a="http://schemas.openxmlformats.org/drawingml/2006/main">
              <a:ext uri="{FF2B5EF4-FFF2-40B4-BE49-F238E27FC236}">
                <a16:creationId xmlns:a16="http://schemas.microsoft.com/office/drawing/2014/main" id="{98A98891-F213-34D2-E1AD-0D968C074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7178"/>
                </a:solidFill>
              </a:defRPr>
            </a:pPr>
            <a:r>
              <a:rPr sz="1200" b="0">
                <a:solidFill>
                  <a:srgbClr val="5D7178"/>
                </a:solidFill>
              </a:rPr>
              <a:t>All respondents reported some concern</a:t>
            </a:r>
          </a:p>
        </p:txBody>
      </p:sp>
      <p:sp>
        <p:nvSpPr>
          <p:cNvPr id="38" name="矩形 37">
            <a:extLst xmlns:a="http://schemas.openxmlformats.org/drawingml/2006/main">
              <a:ext uri="{FF2B5EF4-FFF2-40B4-BE49-F238E27FC236}">
                <a16:creationId xmlns:a16="http://schemas.microsoft.com/office/drawing/2014/main" id="{3F934788-980A-097B-9D2A-F89629ADC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66950"/>
            <a:ext cx="609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8B87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矩形 38">
            <a:extLst xmlns:a="http://schemas.openxmlformats.org/drawingml/2006/main">
              <a:ext uri="{FF2B5EF4-FFF2-40B4-BE49-F238E27FC236}">
                <a16:creationId xmlns:a16="http://schemas.microsoft.com/office/drawing/2014/main" id="{C991A031-EF28-3789-A422-BF3CB9DBE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33650"/>
            <a:ext cx="295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0E2A36"/>
                </a:solidFill>
              </a:defRPr>
            </a:pPr>
            <a:r>
              <a:rPr sz="4050" b="1">
                <a:solidFill>
                  <a:srgbClr val="0E2A36"/>
                </a:solidFill>
              </a:rPr>
              <a:t>4.44/5</a:t>
            </a:r>
          </a:p>
        </p:txBody>
      </p:sp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8DF83880-CA15-A498-E1EF-FC7AFE78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295650"/>
            <a:ext cx="295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2252D"/>
                </a:solidFill>
              </a:defRPr>
            </a:pPr>
            <a:r>
              <a:rPr sz="1500" b="1">
                <a:solidFill>
                  <a:srgbClr val="12252D"/>
                </a:solidFill>
              </a:rPr>
              <a:t>importance of compatibility</a:t>
            </a:r>
          </a:p>
        </p:txBody>
      </p:sp>
      <p:sp>
        <p:nvSpPr>
          <p:cNvPr id="41" name="矩形 40">
            <a:extLst xmlns:a="http://schemas.openxmlformats.org/drawingml/2006/main">
              <a:ext uri="{FF2B5EF4-FFF2-40B4-BE49-F238E27FC236}">
                <a16:creationId xmlns:a16="http://schemas.microsoft.com/office/drawing/2014/main" id="{4A222FD7-D0D5-1695-5950-D1D1F7AB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2905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7178"/>
                </a:solidFill>
              </a:defRPr>
            </a:pPr>
            <a:r>
              <a:rPr sz="1200" b="0">
                <a:solidFill>
                  <a:srgbClr val="5D7178"/>
                </a:solidFill>
              </a:rPr>
              <a:t>Average rating across respondents</a:t>
            </a:r>
          </a:p>
        </p:txBody>
      </p:sp>
      <p:sp>
        <p:nvSpPr>
          <p:cNvPr id="42" name="矩形 41">
            <a:extLst xmlns:a="http://schemas.openxmlformats.org/drawingml/2006/main">
              <a:ext uri="{FF2B5EF4-FFF2-40B4-BE49-F238E27FC236}">
                <a16:creationId xmlns:a16="http://schemas.microsoft.com/office/drawing/2014/main" id="{998DAABC-5BD7-4315-D453-B728D6ED5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66950"/>
            <a:ext cx="609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B85F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矩形 42">
            <a:extLst xmlns:a="http://schemas.openxmlformats.org/drawingml/2006/main">
              <a:ext uri="{FF2B5EF4-FFF2-40B4-BE49-F238E27FC236}">
                <a16:creationId xmlns:a16="http://schemas.microsoft.com/office/drawing/2014/main" id="{43B97093-38CA-1B1A-44F9-D6500D11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33650"/>
            <a:ext cx="295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0E2A36"/>
                </a:solidFill>
              </a:defRPr>
            </a:pPr>
            <a:r>
              <a:rPr sz="4050" b="1">
                <a:solidFill>
                  <a:srgbClr val="0E2A36"/>
                </a:solidFill>
              </a:rPr>
              <a:t>68.75%</a:t>
            </a:r>
          </a:p>
        </p:txBody>
      </p:sp>
      <p:sp>
        <p:nvSpPr>
          <p:cNvPr id="44" name="矩形 43">
            <a:extLst xmlns:a="http://schemas.openxmlformats.org/drawingml/2006/main">
              <a:ext uri="{FF2B5EF4-FFF2-40B4-BE49-F238E27FC236}">
                <a16:creationId xmlns:a16="http://schemas.microsoft.com/office/drawing/2014/main" id="{68E76066-1833-F164-930D-C39E938E9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295650"/>
            <a:ext cx="295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2252D"/>
                </a:solidFill>
              </a:defRPr>
            </a:pPr>
            <a:r>
              <a:rPr sz="1500" b="1">
                <a:solidFill>
                  <a:srgbClr val="12252D"/>
                </a:solidFill>
              </a:rPr>
              <a:t>experienced housemate conflict</a:t>
            </a:r>
          </a:p>
        </p:txBody>
      </p:sp>
      <p:sp>
        <p:nvSpPr>
          <p:cNvPr id="45" name="矩形 44">
            <a:extLst xmlns:a="http://schemas.openxmlformats.org/drawingml/2006/main">
              <a:ext uri="{FF2B5EF4-FFF2-40B4-BE49-F238E27FC236}">
                <a16:creationId xmlns:a16="http://schemas.microsoft.com/office/drawing/2014/main" id="{48CA8138-4A27-2E5B-8C14-74F54F6EB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82905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7178"/>
                </a:solidFill>
              </a:defRPr>
            </a:pPr>
            <a:r>
              <a:rPr sz="1200" b="0">
                <a:solidFill>
                  <a:srgbClr val="5D7178"/>
                </a:solidFill>
              </a:rPr>
              <a:t>Conflict continues after move-in</a:t>
            </a:r>
          </a:p>
        </p:txBody>
      </p:sp>
      <p:sp>
        <p:nvSpPr>
          <p:cNvPr id="46" name="圆角矩形 45">
            <a:extLst xmlns:a="http://schemas.openxmlformats.org/drawingml/2006/main">
              <a:ext uri="{FF2B5EF4-FFF2-40B4-BE49-F238E27FC236}">
                <a16:creationId xmlns:a16="http://schemas.microsoft.com/office/drawing/2014/main" id="{53537E1A-B30F-B8A9-82D7-E3995EE64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28575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CF1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圆角矩形 46">
            <a:extLst xmlns:a="http://schemas.openxmlformats.org/drawingml/2006/main">
              <a:ext uri="{FF2B5EF4-FFF2-40B4-BE49-F238E27FC236}">
                <a16:creationId xmlns:a16="http://schemas.microsoft.com/office/drawing/2014/main" id="{A60414D4-34E9-C637-8535-3AE1198A9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28575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7C64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椭圆 47">
            <a:extLst xmlns:a="http://schemas.openxmlformats.org/drawingml/2006/main">
              <a:ext uri="{FF2B5EF4-FFF2-40B4-BE49-F238E27FC236}">
                <a16:creationId xmlns:a16="http://schemas.microsoft.com/office/drawing/2014/main" id="{1FF7D9B8-CA75-0F22-8860-5CF1A9BE0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448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E77C6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矩形 48">
            <a:extLst xmlns:a="http://schemas.openxmlformats.org/drawingml/2006/main">
              <a:ext uri="{FF2B5EF4-FFF2-40B4-BE49-F238E27FC236}">
                <a16:creationId xmlns:a16="http://schemas.microsoft.com/office/drawing/2014/main" id="{91981055-FBB2-366B-ACB2-2CD57F897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76775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D7178"/>
                </a:solidFill>
              </a:defRPr>
            </a:pPr>
            <a:r>
              <a:rPr sz="900" b="1">
                <a:solidFill>
                  <a:srgbClr val="5D7178"/>
                </a:solidFill>
              </a:rPr>
              <a:t>16 of 16 respondents</a:t>
            </a:r>
          </a:p>
        </p:txBody>
      </p:sp>
      <p:sp>
        <p:nvSpPr>
          <p:cNvPr id="50" name="圆角矩形 49">
            <a:extLst xmlns:a="http://schemas.openxmlformats.org/drawingml/2006/main">
              <a:ext uri="{FF2B5EF4-FFF2-40B4-BE49-F238E27FC236}">
                <a16:creationId xmlns:a16="http://schemas.microsoft.com/office/drawing/2014/main" id="{5FD3DE66-48A4-735A-63B2-3E9AAD463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76750"/>
            <a:ext cx="28575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CF1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圆角矩形 50">
            <a:extLst xmlns:a="http://schemas.openxmlformats.org/drawingml/2006/main">
              <a:ext uri="{FF2B5EF4-FFF2-40B4-BE49-F238E27FC236}">
                <a16:creationId xmlns:a16="http://schemas.microsoft.com/office/drawing/2014/main" id="{92A55DEA-274F-E3E3-861E-98C3C424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76750"/>
            <a:ext cx="253746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8B87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2" name="椭圆 51">
            <a:extLst xmlns:a="http://schemas.openxmlformats.org/drawingml/2006/main">
              <a:ext uri="{FF2B5EF4-FFF2-40B4-BE49-F238E27FC236}">
                <a16:creationId xmlns:a16="http://schemas.microsoft.com/office/drawing/2014/main" id="{057C7818-E844-6554-6487-16F5C6944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7060" y="4448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98B8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3" name="矩形 52">
            <a:extLst xmlns:a="http://schemas.openxmlformats.org/drawingml/2006/main">
              <a:ext uri="{FF2B5EF4-FFF2-40B4-BE49-F238E27FC236}">
                <a16:creationId xmlns:a16="http://schemas.microsoft.com/office/drawing/2014/main" id="{81CDD3CA-99D8-D0BA-659F-3B209B3A0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76775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D7178"/>
                </a:solidFill>
              </a:defRPr>
            </a:pPr>
            <a:r>
              <a:rPr sz="900" b="1">
                <a:solidFill>
                  <a:srgbClr val="5D7178"/>
                </a:solidFill>
              </a:rPr>
              <a:t>4.44 of 5 average rating</a:t>
            </a:r>
          </a:p>
        </p:txBody>
      </p:sp>
      <p:sp>
        <p:nvSpPr>
          <p:cNvPr id="54" name="圆角矩形 53">
            <a:extLst xmlns:a="http://schemas.openxmlformats.org/drawingml/2006/main">
              <a:ext uri="{FF2B5EF4-FFF2-40B4-BE49-F238E27FC236}">
                <a16:creationId xmlns:a16="http://schemas.microsoft.com/office/drawing/2014/main" id="{752C33A8-0AD4-BB9B-6C2B-AB3D8389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476750"/>
            <a:ext cx="28575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CF1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5" name="圆角矩形 54">
            <a:extLst xmlns:a="http://schemas.openxmlformats.org/drawingml/2006/main">
              <a:ext uri="{FF2B5EF4-FFF2-40B4-BE49-F238E27FC236}">
                <a16:creationId xmlns:a16="http://schemas.microsoft.com/office/drawing/2014/main" id="{542E0A5D-CCA1-0284-EE7C-3AB166160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476750"/>
            <a:ext cx="1964531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B85F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6" name="椭圆 55">
            <a:extLst xmlns:a="http://schemas.openxmlformats.org/drawingml/2006/main">
              <a:ext uri="{FF2B5EF4-FFF2-40B4-BE49-F238E27FC236}">
                <a16:creationId xmlns:a16="http://schemas.microsoft.com/office/drawing/2014/main" id="{01899E6E-66DB-4582-FB97-5E5C2BC80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4131" y="4448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E9B85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7" name="矩形 56">
            <a:extLst xmlns:a="http://schemas.openxmlformats.org/drawingml/2006/main">
              <a:ext uri="{FF2B5EF4-FFF2-40B4-BE49-F238E27FC236}">
                <a16:creationId xmlns:a16="http://schemas.microsoft.com/office/drawing/2014/main" id="{B14B311B-89C3-95FE-3DAD-A16877527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676775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D7178"/>
                </a:solidFill>
              </a:defRPr>
            </a:pPr>
            <a:r>
              <a:rPr sz="900" b="1">
                <a:solidFill>
                  <a:srgbClr val="5D7178"/>
                </a:solidFill>
              </a:rPr>
              <a:t>11 of 16 respondents</a:t>
            </a:r>
          </a:p>
        </p:txBody>
      </p:sp>
      <p:sp>
        <p:nvSpPr>
          <p:cNvPr id="59" name="矩形 58">
            <a:extLst xmlns:a="http://schemas.openxmlformats.org/drawingml/2006/main">
              <a:ext uri="{FF2B5EF4-FFF2-40B4-BE49-F238E27FC236}">
                <a16:creationId xmlns:a16="http://schemas.microsoft.com/office/drawing/2014/main" id="{855AF895-826A-1E10-D957-BE19FE9BA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5780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The design must address trust before contact and conflict before move-in.</a:t>
            </a:r>
          </a:p>
        </p:txBody>
      </p:sp>
      <p:sp>
        <p:nvSpPr>
          <p:cNvPr id="60" name="矩形 59">
            <a:extLst xmlns:a="http://schemas.openxmlformats.org/drawingml/2006/main">
              <a:ext uri="{FF2B5EF4-FFF2-40B4-BE49-F238E27FC236}">
                <a16:creationId xmlns:a16="http://schemas.microsoft.com/office/drawing/2014/main" id="{463BB508-9915-090C-97B2-CC485501F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8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1" name="矩形 60">
            <a:extLst xmlns:a="http://schemas.openxmlformats.org/drawingml/2006/main">
              <a:ext uri="{FF2B5EF4-FFF2-40B4-BE49-F238E27FC236}">
                <a16:creationId xmlns:a16="http://schemas.microsoft.com/office/drawing/2014/main" id="{51747565-5DF1-A177-6CBC-A32A2E847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178"/>
                </a:solidFill>
              </a:defRPr>
            </a:pPr>
            <a:r>
              <a:rPr sz="825" b="0">
                <a:solidFill>
                  <a:srgbClr val="5D7178"/>
                </a:solidFill>
              </a:rPr>
              <a:t>RoomMate Haven · International student survey, n = 16</a:t>
            </a:r>
          </a:p>
        </p:txBody>
      </p:sp>
    </p:spTree>
    <p:extLst>
      <p:ext uri="{BB962C8B-B14F-4D97-AF65-F5344CB8AC3E}">
        <p14:creationId xmlns:p14="http://schemas.microsoft.com/office/powerpoint/2010/main" val="31966786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5ED0B8BF-AD49-4CE7-9B68-99AA2B433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8B87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DDBDF0A8-0D30-4FDF-B5A2-93C1E773E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"/>
            <a:ext cx="2743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D7178"/>
                </a:solidFill>
              </a:defRPr>
            </a:pPr>
            <a:r>
              <a:rPr sz="750" b="1">
                <a:solidFill>
                  <a:srgbClr val="5D7178"/>
                </a:solidFill>
              </a:rPr>
              <a:t>ROOMMATE HAVEN / SYSTEM VIEW</a:t>
            </a:r>
          </a:p>
        </p:txBody>
      </p:sp>
      <p:sp>
        <p:nvSpPr>
          <p:cNvPr id="3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D6D134B3-15EC-4DC2-B2FA-C858F0E7D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8B87"/>
                </a:solidFill>
              </a:defRPr>
            </a:pPr>
            <a:r>
              <a:rPr sz="1050" b="1">
                <a:solidFill>
                  <a:srgbClr val="198B87"/>
                </a:solidFill>
              </a:rPr>
              <a:t>DESIGN GAP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FA23036-DA42-4DEF-9E5F-759065CD4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2252D"/>
                </a:solidFill>
              </a:defRPr>
            </a:pPr>
            <a:r>
              <a:rPr sz="2850" b="1">
                <a:solidFill>
                  <a:srgbClr val="12252D"/>
                </a:solidFill>
              </a:rPr>
              <a:t>Existing tools solve stages—not the whole journey.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B89F05D-A16D-4929-8138-6AC7DBD33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572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D7178"/>
                </a:solidFill>
              </a:defRPr>
            </a:pPr>
            <a:r>
              <a:rPr sz="975" b="1">
                <a:solidFill>
                  <a:srgbClr val="5D7178"/>
                </a:solidFill>
              </a:rPr>
              <a:t>04</a:t>
            </a:r>
          </a:p>
        </p:txBody>
      </p:sp>
      <p:graphicFrame>
        <p:nvGraphicFramePr>
          <p:cNvPr id="18" name="表格 15"/>
          <p:cNvGraphicFramePr/>
          <p:nvPr/>
        </p:nvGraphicFramePr>
        <p:xfrm>
          <a:off xmlns:a="http://schemas.openxmlformats.org/drawingml/2006/main" x="704850" y="1643062"/>
          <a:ext xmlns:a="http://schemas.openxmlformats.org/drawingml/2006/main" cx="10782299" cy="4019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50488"/>
                <a:gridCol w="1776962"/>
                <a:gridCol w="3073400"/>
                <a:gridCol w="3981449"/>
              </a:tblGrid>
              <a:tr h="65722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Tool type</a:t>
                      </a:r>
                    </a:p>
                  </a:txBody>
                  <a:tcPr marL="152400" marR="152400" marT="114300" marB="95250">
                    <a:solidFill>
                      <a:srgbClr val="0E2A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Example</a:t>
                      </a:r>
                    </a:p>
                  </a:txBody>
                  <a:tcPr marL="152400" marR="152400" marT="114300" marB="95250">
                    <a:solidFill>
                      <a:srgbClr val="0E2A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Strong at</a:t>
                      </a:r>
                    </a:p>
                  </a:txBody>
                  <a:tcPr marL="152400" marR="152400" marT="114300" marB="95250">
                    <a:solidFill>
                      <a:srgbClr val="0E2A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Still missing</a:t>
                      </a:r>
                    </a:p>
                  </a:txBody>
                  <a:tcPr marL="152400" marR="152400" marT="114300" marB="95250">
                    <a:solidFill>
                      <a:srgbClr val="0E2A36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r>
                        <a:rPr sz="1400"/>
                        <a:t>Property portals</a:t>
                      </a:r>
                    </a:p>
                  </a:txBody>
                  <a:tcPr marL="152400" marR="152400" marT="104775" marB="85725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Domain / realestate.com.au</a:t>
                      </a:r>
                    </a:p>
                  </a:txBody>
                  <a:tcPr marL="152400" marR="152400" marT="104775" marB="85725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Property detail and inspections</a:t>
                      </a:r>
                    </a:p>
                  </a:txBody>
                  <a:tcPr marL="152400" marR="152400" marT="104775" marB="85725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Housemate fit and shared expectations</a:t>
                      </a:r>
                    </a:p>
                  </a:txBody>
                  <a:tcPr marL="152400" marR="152400" marT="104775" marB="85725">
                    <a:solidFill>
                      <a:srgbClr val="F8FAF9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r>
                        <a:rPr sz="1400"/>
                        <a:t>Social groups</a:t>
                      </a:r>
                    </a:p>
                  </a:txBody>
                  <a:tcPr marL="152400" marR="152400" marT="104775" marB="85725"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Facebook Marketplace / groups</a:t>
                      </a:r>
                    </a:p>
                  </a:txBody>
                  <a:tcPr marL="152400" marR="152400" marT="104775" marB="85725"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Reach and informal contact</a:t>
                      </a:r>
                    </a:p>
                  </a:txBody>
                  <a:tcPr marL="152400" marR="152400" marT="104775" marB="85725"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Verification and safe communication</a:t>
                      </a:r>
                    </a:p>
                  </a:txBody>
                  <a:tcPr marL="152400" marR="152400" marT="104775" marB="85725">
                    <a:solidFill>
                      <a:srgbClr val="F3EEE6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r>
                        <a:rPr sz="1400"/>
                        <a:t>Housemate platforms</a:t>
                      </a:r>
                    </a:p>
                  </a:txBody>
                  <a:tcPr marL="152400" marR="152400" marT="104775" marB="85725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Flatmates</a:t>
                      </a:r>
                    </a:p>
                  </a:txBody>
                  <a:tcPr marL="152400" marR="152400" marT="104775" marB="85725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Profiles and introductions</a:t>
                      </a:r>
                    </a:p>
                  </a:txBody>
                  <a:tcPr marL="152400" marR="152400" marT="104775" marB="85725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Explainable fit and early agreements</a:t>
                      </a:r>
                    </a:p>
                  </a:txBody>
                  <a:tcPr marL="152400" marR="152400" marT="104775" marB="85725">
                    <a:solidFill>
                      <a:srgbClr val="F8FAF9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r>
                        <a:rPr sz="1400"/>
                        <a:t>Household apps</a:t>
                      </a:r>
                    </a:p>
                  </a:txBody>
                  <a:tcPr marL="152400" marR="152400" marT="104775" marB="85725"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Splitwise / Tody</a:t>
                      </a:r>
                    </a:p>
                  </a:txBody>
                  <a:tcPr marL="152400" marR="152400" marT="104775" marB="85725"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Bills and chores</a:t>
                      </a:r>
                    </a:p>
                  </a:txBody>
                  <a:tcPr marL="152400" marR="152400" marT="104775" marB="85725"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Pre-move-in prevention and trust</a:t>
                      </a:r>
                    </a:p>
                  </a:txBody>
                  <a:tcPr marL="152400" marR="152400" marT="104775" marB="85725">
                    <a:solidFill>
                      <a:srgbClr val="F3EEE6"/>
                    </a:solidFill>
                  </a:tcPr>
                </a:tc>
              </a:tr>
            </a:tbl>
          </a:graphicData>
        </a:graphic>
      </p:graphicFrame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9E707726-35B8-4EE2-AFF7-D7521A87A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549" y="5829300"/>
            <a:ext cx="97409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E2A36"/>
                </a:solidFill>
              </a:defRPr>
            </a:pPr>
            <a:r>
              <a:rPr sz="1875" b="1"/>
              <a:t>Design opportunity: connect trust → preference-based fit → shared expectations before commitment.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43F02D7C-6FEF-4E8A-BC26-2F0BD026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8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5A8F7ED-457A-4B52-8C46-2D489F7BE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178"/>
                </a:solidFill>
              </a:defRPr>
            </a:pPr>
            <a:r>
              <a:rPr sz="825" b="0">
                <a:solidFill>
                  <a:srgbClr val="5D7178"/>
                </a:solidFill>
              </a:rPr>
              <a:t>RoomMate Haven · Competitive gap</a:t>
            </a:r>
          </a:p>
        </p:txBody>
      </p:sp>
    </p:spTree>
    <p:extLst>
      <p:ext uri="{BB962C8B-B14F-4D97-AF65-F5344CB8AC3E}">
        <p14:creationId xmlns:p14="http://schemas.microsoft.com/office/powerpoint/2010/main" val="41722778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矩形 37">
            <a:extLst xmlns:a="http://schemas.openxmlformats.org/drawingml/2006/main">
              <a:ext uri="{FF2B5EF4-FFF2-40B4-BE49-F238E27FC236}">
                <a16:creationId xmlns:a16="http://schemas.microsoft.com/office/drawing/2014/main" id="{CB10801B-3FC5-4C90-BDDF-316C4D1C0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8B87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46C7E1D5-EFD0-49D4-800F-79C6E1A6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8B87"/>
                </a:solidFill>
              </a:defRPr>
            </a:pPr>
            <a:r>
              <a:rPr sz="1050" b="1">
                <a:solidFill>
                  <a:srgbClr val="198B87"/>
                </a:solidFill>
              </a:rPr>
              <a:t>CONCEPT SELECTION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2DAC0A4-C128-4893-BA92-7250BA48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2252D"/>
                </a:solidFill>
              </a:defRPr>
            </a:pPr>
            <a:r>
              <a:rPr sz="2625" b="1">
                <a:solidFill>
                  <a:srgbClr val="12252D"/>
                </a:solidFill>
              </a:rPr>
              <a:t>Compatibility leads; trust and agreement complete it.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B82F0D3E-EB7C-4AF7-86CF-09073E693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57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178"/>
                </a:solidFill>
              </a:defRPr>
            </a:pPr>
            <a:r>
              <a:rPr sz="1275" b="0">
                <a:solidFill>
                  <a:srgbClr val="5D7178"/>
                </a:solidFill>
              </a:rPr>
              <a:t>Weighted by evidence fit, user value, feasibility, testability, innovation and privacy.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C89BAB3B-27D8-4C51-858E-3633A1D2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572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D7178"/>
                </a:solidFill>
              </a:defRPr>
            </a:pPr>
            <a:r>
              <a:rPr sz="975" b="1">
                <a:solidFill>
                  <a:srgbClr val="5D7178"/>
                </a:solidFill>
              </a:rPr>
              <a:t>05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45B5ED08-DAF3-4EDF-A927-B31E1CD6F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77C64"/>
                </a:solidFill>
              </a:defRPr>
            </a:pPr>
            <a:r>
              <a:rPr sz="1350" b="1">
                <a:solidFill>
                  <a:srgbClr val="E77C64"/>
                </a:solidFill>
              </a:rPr>
              <a:t>A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ABCD1435-3BD9-4DC7-AEDF-854BE51D9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038350"/>
            <a:ext cx="95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2325" b="1">
                <a:solidFill>
                  <a:srgbClr val="0E2A36"/>
                </a:solidFill>
              </a:defRPr>
            </a:pPr>
            <a:r>
              <a:rPr sz="2325" b="1">
                <a:solidFill>
                  <a:srgbClr val="0E2A36"/>
                </a:solidFill>
              </a:rPr>
              <a:t>4.15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7050EF3A-3270-4DB2-A5BC-AAF2C5328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43840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D7178"/>
                </a:solidFill>
              </a:defRPr>
            </a:pPr>
            <a:r>
              <a:rPr sz="750" b="1">
                <a:solidFill>
                  <a:srgbClr val="5D7178"/>
                </a:solidFill>
              </a:rPr>
              <a:t>OUT OF 5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8B37E97-3C20-4829-9AC0-EBCE8A57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28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77C64"/>
                </a:solidFill>
              </a:defRPr>
            </a:pPr>
            <a:r>
              <a:rPr sz="975" b="1">
                <a:solidFill>
                  <a:srgbClr val="E77C64"/>
                </a:solidFill>
              </a:rPr>
              <a:t>TRUST FLOW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B677C044-F481-46D5-96DD-70679DBD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5275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E2A36"/>
                </a:solidFill>
              </a:defRPr>
            </a:pPr>
            <a:r>
              <a:rPr sz="1875" b="1">
                <a:solidFill>
                  <a:srgbClr val="0E2A36"/>
                </a:solidFill>
              </a:rPr>
              <a:t>Verified accommodation &amp; housemate trust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91369C39-4C71-4557-85A8-F13DC7B5E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7178"/>
                </a:solidFill>
              </a:defRPr>
            </a:pPr>
            <a:r>
              <a:rPr sz="1200" b="0">
                <a:solidFill>
                  <a:srgbClr val="5D7178"/>
                </a:solidFill>
              </a:rPr>
              <a:t>Reduce scam risk through clear verification signals and safer contact.</a:t>
            </a:r>
          </a:p>
        </p:txBody>
      </p:sp>
      <p:sp>
        <p:nvSpPr>
          <p:cNvPr id="12" name="圆角矩形 11">
            <a:extLst xmlns:a="http://schemas.openxmlformats.org/drawingml/2006/main">
              <a:ext uri="{FF2B5EF4-FFF2-40B4-BE49-F238E27FC236}">
                <a16:creationId xmlns:a16="http://schemas.microsoft.com/office/drawing/2014/main" id="{56DFB6AF-7BC7-4FE1-9BA0-E49691ABC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3143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EFF1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圆角矩形 12">
            <a:extLst xmlns:a="http://schemas.openxmlformats.org/drawingml/2006/main">
              <a:ext uri="{FF2B5EF4-FFF2-40B4-BE49-F238E27FC236}">
                <a16:creationId xmlns:a16="http://schemas.microsoft.com/office/drawing/2014/main" id="{A6B50680-F676-4359-90C9-3DA20566D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2608898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7C64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40676050-DFB7-4DCD-BB97-540376FED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924050"/>
            <a:ext cx="3486150" cy="30861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198B87"/>
          </a:solidFill>
          <a:ln xmlns:a="http://schemas.openxmlformats.org/drawingml/2006/main" w="28575">
            <a:solidFill>
              <a:srgbClr val="65D5C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C1CE10C4-04DA-4B93-A47E-85B605A4F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955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5D5CD"/>
                </a:solidFill>
              </a:defRPr>
            </a:pPr>
            <a:r>
              <a:rPr sz="1350" b="1">
                <a:solidFill>
                  <a:srgbClr val="65D5CD"/>
                </a:solidFill>
              </a:rPr>
              <a:t>B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C05DD93A-4715-4CA2-A87B-B55CF568D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38350"/>
            <a:ext cx="95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4.45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6A5AD42-879C-4E19-BC60-BBB818958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3840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D2EFEC"/>
                </a:solidFill>
              </a:defRPr>
            </a:pPr>
            <a:r>
              <a:rPr sz="750" b="1">
                <a:solidFill>
                  <a:srgbClr val="D2EFEC"/>
                </a:solidFill>
              </a:rPr>
              <a:t>OUT OF 5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4AEFD63-6E9A-4DF0-9ED4-C6C8402D9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28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5D5CD"/>
                </a:solidFill>
              </a:defRPr>
            </a:pPr>
            <a:r>
              <a:rPr sz="975" b="1">
                <a:solidFill>
                  <a:srgbClr val="65D5CD"/>
                </a:solidFill>
              </a:rPr>
              <a:t>COMPATIBILITY MATCHING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43DF09D-AAAE-43D9-8BA2-96E0385D8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95275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Lifestyle comparison &amp; explainable fit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A051CBB9-9261-43FD-ACA2-8138C77B1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752850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2EFEC"/>
                </a:solidFill>
              </a:defRPr>
            </a:pPr>
            <a:r>
              <a:rPr sz="1200" b="0">
                <a:solidFill>
                  <a:srgbClr val="D2EFEC"/>
                </a:solidFill>
              </a:rPr>
              <a:t>Compare cleanliness, noise, guests, schedules, chores and bills.</a:t>
            </a:r>
          </a:p>
        </p:txBody>
      </p:sp>
      <p:sp>
        <p:nvSpPr>
          <p:cNvPr id="21" name="圆角矩形 20">
            <a:extLst xmlns:a="http://schemas.openxmlformats.org/drawingml/2006/main">
              <a:ext uri="{FF2B5EF4-FFF2-40B4-BE49-F238E27FC236}">
                <a16:creationId xmlns:a16="http://schemas.microsoft.com/office/drawing/2014/main" id="{3AB192A3-2E78-45E6-AB7B-7F8853FFE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610100"/>
            <a:ext cx="3143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3B47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圆角矩形 21">
            <a:extLst xmlns:a="http://schemas.openxmlformats.org/drawingml/2006/main">
              <a:ext uri="{FF2B5EF4-FFF2-40B4-BE49-F238E27FC236}">
                <a16:creationId xmlns:a16="http://schemas.microsoft.com/office/drawing/2014/main" id="{026E2C33-E4F3-4B69-9DE8-856D74494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610100"/>
            <a:ext cx="2797493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5D5CD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0819DD44-E984-48FA-A6F4-A879FAA18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7815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SELECTED CORE</a:t>
            </a: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66ABC0B2-39B5-427D-B05E-1BA6880D1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955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9B85F"/>
                </a:solidFill>
              </a:defRPr>
            </a:pPr>
            <a:r>
              <a:rPr sz="1350" b="1">
                <a:solidFill>
                  <a:srgbClr val="E9B85F"/>
                </a:solidFill>
              </a:rPr>
              <a:t>C</a:t>
            </a: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90C56010-97E1-4AA7-9B3A-199493CA4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2038350"/>
            <a:ext cx="95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2325" b="1">
                <a:solidFill>
                  <a:srgbClr val="0E2A36"/>
                </a:solidFill>
              </a:defRPr>
            </a:pPr>
            <a:r>
              <a:rPr sz="2325" b="1">
                <a:solidFill>
                  <a:srgbClr val="0E2A36"/>
                </a:solidFill>
              </a:rPr>
              <a:t>4.35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379FF02-3CD1-4262-BA7E-61A193959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243840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D7178"/>
                </a:solidFill>
              </a:defRPr>
            </a:pPr>
            <a:r>
              <a:rPr sz="750" b="1">
                <a:solidFill>
                  <a:srgbClr val="5D7178"/>
                </a:solidFill>
              </a:rPr>
              <a:t>OUT OF 5</a:t>
            </a:r>
          </a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B2E90F59-225D-4222-8D4F-E875B576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28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B85F"/>
                </a:solidFill>
              </a:defRPr>
            </a:pPr>
            <a:r>
              <a:rPr sz="975" b="1">
                <a:solidFill>
                  <a:srgbClr val="E9B85F"/>
                </a:solidFill>
              </a:rPr>
              <a:t>CO-LIVING AGREEMENT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AEB1823D-EDEA-4C11-A6AB-52AD97F9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5275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E2A36"/>
                </a:solidFill>
              </a:defRPr>
            </a:pPr>
            <a:r>
              <a:rPr sz="1875" b="1">
                <a:solidFill>
                  <a:srgbClr val="0E2A36"/>
                </a:solidFill>
              </a:rPr>
              <a:t>Pre-move-in expectations &amp; responsibilities</a:t>
            </a:r>
          </a:p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1D344567-0751-4E2C-9ECD-5C15F03B2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752850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7178"/>
                </a:solidFill>
              </a:defRPr>
            </a:pPr>
            <a:r>
              <a:rPr sz="1200" b="0">
                <a:solidFill>
                  <a:srgbClr val="5D7178"/>
                </a:solidFill>
              </a:rPr>
              <a:t>Clarify chores, bills, privacy and house rules before commitment.</a:t>
            </a:r>
          </a:p>
        </p:txBody>
      </p:sp>
      <p:sp>
        <p:nvSpPr>
          <p:cNvPr id="30" name="圆角矩形 29">
            <a:extLst xmlns:a="http://schemas.openxmlformats.org/drawingml/2006/main">
              <a:ext uri="{FF2B5EF4-FFF2-40B4-BE49-F238E27FC236}">
                <a16:creationId xmlns:a16="http://schemas.microsoft.com/office/drawing/2014/main" id="{8D4FAC7B-D39F-4EF3-84C7-877ABAC45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610100"/>
            <a:ext cx="3143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EFF1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圆角矩形 30">
            <a:extLst xmlns:a="http://schemas.openxmlformats.org/drawingml/2006/main">
              <a:ext uri="{FF2B5EF4-FFF2-40B4-BE49-F238E27FC236}">
                <a16:creationId xmlns:a16="http://schemas.microsoft.com/office/drawing/2014/main" id="{867CAFDA-0354-4CED-AC33-EB600F474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610100"/>
            <a:ext cx="2734627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B85F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圆角矩形 31">
            <a:extLst xmlns:a="http://schemas.openxmlformats.org/drawingml/2006/main">
              <a:ext uri="{FF2B5EF4-FFF2-40B4-BE49-F238E27FC236}">
                <a16:creationId xmlns:a16="http://schemas.microsoft.com/office/drawing/2014/main" id="{93A67F61-1AC8-4E34-B51D-457823F38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95900"/>
            <a:ext cx="108204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E2A36"/>
          </a:solidFill>
          <a:ln xmlns:a="http://schemas.openxmlformats.org/drawingml/2006/main" w="9525">
            <a:solidFill>
              <a:srgbClr val="65D5C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矩形 32">
            <a:extLst xmlns:a="http://schemas.openxmlformats.org/drawingml/2006/main">
              <a:ext uri="{FF2B5EF4-FFF2-40B4-BE49-F238E27FC236}">
                <a16:creationId xmlns:a16="http://schemas.microsoft.com/office/drawing/2014/main" id="{AFF5B169-1451-473E-B5DF-FECDF22A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76875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5D5CD"/>
                </a:solidFill>
              </a:defRPr>
            </a:pPr>
            <a:r>
              <a:rPr sz="975" b="1">
                <a:solidFill>
                  <a:srgbClr val="65D5CD"/>
                </a:solidFill>
              </a:rPr>
              <a:t>FINAL DIRECTION</a:t>
            </a:r>
          </a:p>
        </p:txBody>
      </p:sp>
      <p:sp>
        <p:nvSpPr>
          <p:cNvPr id="34" name="矩形 33">
            <a:extLst xmlns:a="http://schemas.openxmlformats.org/drawingml/2006/main">
              <a:ext uri="{FF2B5EF4-FFF2-40B4-BE49-F238E27FC236}">
                <a16:creationId xmlns:a16="http://schemas.microsoft.com/office/drawing/2014/main" id="{A77E74C1-5213-48F0-B209-863A90B2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429250"/>
            <a:ext cx="8515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Concept B as the core  +  trust indicators from A  +  agreement setup from C</a:t>
            </a:r>
          </a:p>
        </p:txBody>
      </p:sp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275D0AF9-4D9F-4DCD-A6AC-0A4F394ED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791200"/>
            <a:ext cx="851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D2EFEC"/>
                </a:solidFill>
              </a:defRPr>
            </a:pPr>
            <a:r>
              <a:rPr sz="975" b="0">
                <a:solidFill>
                  <a:srgbClr val="D2EFEC"/>
                </a:solidFill>
              </a:rPr>
              <a:t>The result is one focused, feasible and testable product journey.</a:t>
            </a:r>
          </a:p>
        </p:txBody>
      </p:sp>
      <p:sp>
        <p:nvSpPr>
          <p:cNvPr id="36" name="矩形 35">
            <a:extLst xmlns:a="http://schemas.openxmlformats.org/drawingml/2006/main">
              <a:ext uri="{FF2B5EF4-FFF2-40B4-BE49-F238E27FC236}">
                <a16:creationId xmlns:a16="http://schemas.microsoft.com/office/drawing/2014/main" id="{1048F107-0ED4-4A90-9247-4D53FC99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8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矩形 36">
            <a:extLst xmlns:a="http://schemas.openxmlformats.org/drawingml/2006/main">
              <a:ext uri="{FF2B5EF4-FFF2-40B4-BE49-F238E27FC236}">
                <a16:creationId xmlns:a16="http://schemas.microsoft.com/office/drawing/2014/main" id="{0A369475-791F-4BD5-9A3A-81ADB5955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178"/>
                </a:solidFill>
              </a:defRPr>
            </a:pPr>
            <a:r>
              <a:rPr sz="825" b="0">
                <a:solidFill>
                  <a:srgbClr val="5D7178"/>
                </a:solidFill>
              </a:rPr>
              <a:t>RoomMate Haven · Weighted decision matrix</a:t>
            </a:r>
          </a:p>
        </p:txBody>
      </p:sp>
    </p:spTree>
    <p:extLst>
      <p:ext uri="{BB962C8B-B14F-4D97-AF65-F5344CB8AC3E}">
        <p14:creationId xmlns:p14="http://schemas.microsoft.com/office/powerpoint/2010/main" val="6014451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E2A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1" name="矩形 70">
            <a:extLst xmlns:a="http://schemas.openxmlformats.org/drawingml/2006/main">
              <a:ext uri="{FF2B5EF4-FFF2-40B4-BE49-F238E27FC236}">
                <a16:creationId xmlns:a16="http://schemas.microsoft.com/office/drawing/2014/main" id="{B1F598DD-0400-40D4-BA6D-5D0A57C23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6043536-D71E-46E1-9487-A87483EED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4D29F231-06EF-499B-84D1-3CF402627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2E210A42-4958-4732-B39E-044654BD2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1E7304B-C1ED-4663-8AC2-8847D0714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EAED71C1-53D5-435B-A23B-958B58DA3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DD2B2695-8C43-4A7A-81F0-24D14A89B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872BCC30-5019-49D5-AAA1-19790B585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7E2B39CE-0EF2-4A15-82B7-904E931D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732334B-479F-4A8F-911E-BA9E1003B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333E8293-4AE4-4811-98FE-6C968004A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4CFA3EA7-3371-4A9E-9342-662BFFFE8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E53093E-E019-4F40-B365-F0B62E6EC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45B04AF9-089D-4ACE-98D2-534FBC08C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35B6C09-5434-4111-A58E-246830B40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8735F171-B71B-4C15-B22A-1F3D23DFA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AAB037F4-1A58-4A0E-A07B-85578C732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B5ACABE5-11BB-453F-9BCC-CB83B3CDC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0E029672-9770-497D-881F-8209E8695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6F3A6BA-48EF-4D86-B65A-AD0E14BC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669F7413-E46F-4858-9713-29F2C3E9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4CA5830D-51A4-4656-991A-3008D509D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C03768F7-AC24-4E62-9051-771B8D98F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49FF6BA7-56BE-4160-ABAB-480D7CFAE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19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DB2EDF79-8A47-4FD2-A58C-B82DFA4E8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1CCD0E7-E609-46EE-90EF-F10146E7E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438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6457D62A-D38F-4B9B-A9BD-3512668D7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DF4DFE08-5468-4926-ACED-E0C67E5DD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57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0671D5E3-DED2-46FA-8822-C9D11EEE2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67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D75DA4BF-62E6-4A78-8AF8-0875B118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76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矩形 30">
            <a:extLst xmlns:a="http://schemas.openxmlformats.org/drawingml/2006/main">
              <a:ext uri="{FF2B5EF4-FFF2-40B4-BE49-F238E27FC236}">
                <a16:creationId xmlns:a16="http://schemas.microsoft.com/office/drawing/2014/main" id="{B3F093F7-77AD-45BA-B3C9-F912148D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矩形 31">
            <a:extLst xmlns:a="http://schemas.openxmlformats.org/drawingml/2006/main">
              <a:ext uri="{FF2B5EF4-FFF2-40B4-BE49-F238E27FC236}">
                <a16:creationId xmlns:a16="http://schemas.microsoft.com/office/drawing/2014/main" id="{5236AF7B-BCE4-4580-BF52-CE37BD91E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矩形 32">
            <a:extLst xmlns:a="http://schemas.openxmlformats.org/drawingml/2006/main">
              <a:ext uri="{FF2B5EF4-FFF2-40B4-BE49-F238E27FC236}">
                <a16:creationId xmlns:a16="http://schemas.microsoft.com/office/drawing/2014/main" id="{EBFF47FF-7EC1-481E-8799-A91142007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矩形 33">
            <a:extLst xmlns:a="http://schemas.openxmlformats.org/drawingml/2006/main">
              <a:ext uri="{FF2B5EF4-FFF2-40B4-BE49-F238E27FC236}">
                <a16:creationId xmlns:a16="http://schemas.microsoft.com/office/drawing/2014/main" id="{F40ECDA4-92B7-424D-B323-1F5C26043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D7CF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F38A7E21-1476-46E2-BAA8-BA9FBDE08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"/>
            <a:ext cx="2743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5B9B1"/>
                </a:solidFill>
              </a:defRPr>
            </a:pPr>
            <a:r>
              <a:rPr sz="750" b="1">
                <a:solidFill>
                  <a:srgbClr val="55B9B1"/>
                </a:solidFill>
              </a:rPr>
              <a:t>ROOMMATE HAVEN / SYSTEM VIEW</a:t>
            </a:r>
          </a:p>
        </p:txBody>
      </p:sp>
      <p:sp>
        <p:nvSpPr>
          <p:cNvPr id="36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7AB6A495-4452-4B78-8C7F-B30DD07F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5B9B1"/>
                </a:solidFill>
              </a:defRPr>
            </a:pPr>
            <a:r>
              <a:rPr sz="1050" b="1">
                <a:solidFill>
                  <a:srgbClr val="55B9B1"/>
                </a:solidFill>
              </a:rPr>
              <a:t>SELECTED SOLUTION</a:t>
            </a:r>
          </a:p>
        </p:txBody>
      </p:sp>
      <p:sp>
        <p:nvSpPr>
          <p:cNvPr id="3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6563AF6-C65D-4F0D-B79B-18C52E148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Five connected decisions reduce risk before commitment.</a:t>
            </a:r>
          </a:p>
        </p:txBody>
      </p:sp>
      <p:sp>
        <p:nvSpPr>
          <p:cNvPr id="38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6906937-8EEA-4A8B-B193-2B0D3712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990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CDECE8"/>
                </a:solidFill>
              </a:defRPr>
            </a:pPr>
            <a:r>
              <a:rPr sz="1425" b="0">
                <a:solidFill>
                  <a:srgbClr val="CDECE8"/>
                </a:solidFill>
              </a:rPr>
              <a:t>Find home → verify → compare fit → talk safely → agree early.</a:t>
            </a:r>
          </a:p>
        </p:txBody>
      </p:sp>
      <p:sp>
        <p:nvSpPr>
          <p:cNvPr id="39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B737E96-E115-4B21-94C1-C778E2661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572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CDECE8"/>
                </a:solidFill>
              </a:defRPr>
            </a:pPr>
            <a:r>
              <a:rPr sz="975" b="1">
                <a:solidFill>
                  <a:srgbClr val="CDECE8"/>
                </a:solidFill>
              </a:rPr>
              <a:t>06</a:t>
            </a:r>
          </a:p>
        </p:txBody>
      </p:sp>
      <p:sp>
        <p:nvSpPr>
          <p:cNvPr id="40" name="flow-anchor-1">
            <a:extLst xmlns:a="http://schemas.openxmlformats.org/drawingml/2006/main">
              <a:ext uri="{FF2B5EF4-FFF2-40B4-BE49-F238E27FC236}">
                <a16:creationId xmlns:a16="http://schemas.microsoft.com/office/drawing/2014/main" id="{C05723E8-604C-4C2D-B768-8FFB9ACEB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57500"/>
            <a:ext cx="1714500" cy="1524000"/>
          </a:xfrm>
          <a:prstGeom xmlns:a="http://schemas.openxmlformats.org/drawingml/2006/main" prst="roundRect">
            <a:avLst>
              <a:gd name="adj" fmla="val 7500"/>
            </a:avLst>
          </a:prstGeom>
          <a:noFill xmlns:a="http://schemas.openxmlformats.org/drawingml/2006/main"/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flow-anchor-2">
            <a:extLst xmlns:a="http://schemas.openxmlformats.org/drawingml/2006/main">
              <a:ext uri="{FF2B5EF4-FFF2-40B4-BE49-F238E27FC236}">
                <a16:creationId xmlns:a16="http://schemas.microsoft.com/office/drawing/2014/main" id="{4019F432-118B-4E17-9EDB-F23E94746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857500"/>
            <a:ext cx="1714500" cy="1524000"/>
          </a:xfrm>
          <a:prstGeom xmlns:a="http://schemas.openxmlformats.org/drawingml/2006/main" prst="roundRect">
            <a:avLst>
              <a:gd name="adj" fmla="val 7500"/>
            </a:avLst>
          </a:prstGeom>
          <a:noFill xmlns:a="http://schemas.openxmlformats.org/drawingml/2006/main"/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flow-anchor-3">
            <a:extLst xmlns:a="http://schemas.openxmlformats.org/drawingml/2006/main">
              <a:ext uri="{FF2B5EF4-FFF2-40B4-BE49-F238E27FC236}">
                <a16:creationId xmlns:a16="http://schemas.microsoft.com/office/drawing/2014/main" id="{7AA1C0B3-B104-4625-978A-DF47C8D65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857500"/>
            <a:ext cx="1714500" cy="1524000"/>
          </a:xfrm>
          <a:prstGeom xmlns:a="http://schemas.openxmlformats.org/drawingml/2006/main" prst="roundRect">
            <a:avLst>
              <a:gd name="adj" fmla="val 7500"/>
            </a:avLst>
          </a:prstGeom>
          <a:noFill xmlns:a="http://schemas.openxmlformats.org/drawingml/2006/main"/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flow-anchor-4">
            <a:extLst xmlns:a="http://schemas.openxmlformats.org/drawingml/2006/main">
              <a:ext uri="{FF2B5EF4-FFF2-40B4-BE49-F238E27FC236}">
                <a16:creationId xmlns:a16="http://schemas.microsoft.com/office/drawing/2014/main" id="{6F0159E3-BB3E-4D3E-B981-0890C5C3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857500"/>
            <a:ext cx="1714500" cy="1524000"/>
          </a:xfrm>
          <a:prstGeom xmlns:a="http://schemas.openxmlformats.org/drawingml/2006/main" prst="roundRect">
            <a:avLst>
              <a:gd name="adj" fmla="val 7500"/>
            </a:avLst>
          </a:prstGeom>
          <a:noFill xmlns:a="http://schemas.openxmlformats.org/drawingml/2006/main"/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flow-anchor-5">
            <a:extLst xmlns:a="http://schemas.openxmlformats.org/drawingml/2006/main">
              <a:ext uri="{FF2B5EF4-FFF2-40B4-BE49-F238E27FC236}">
                <a16:creationId xmlns:a16="http://schemas.microsoft.com/office/drawing/2014/main" id="{CB45B495-EACF-4A8C-B95D-31EA1A8C4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57500"/>
            <a:ext cx="1714500" cy="1524000"/>
          </a:xfrm>
          <a:prstGeom xmlns:a="http://schemas.openxmlformats.org/drawingml/2006/main" prst="roundRect">
            <a:avLst>
              <a:gd name="adj" fmla="val 7500"/>
            </a:avLst>
          </a:prstGeom>
          <a:noFill xmlns:a="http://schemas.openxmlformats.org/drawingml/2006/main"/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cxnSp>
        <p:nvCxnSpPr>
          <p:cNvPr id="211" name="直线箭头连接符 114"/>
          <p:cNvCxnSpPr>
            <a:stCxn xmlns:a="http://schemas.openxmlformats.org/drawingml/2006/main" id="40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245745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5B9B1"/>
            </a:solidFill>
            <a:prstDash val="solid"/>
            <a:tailEnd type="arrow" w="med" len="med"/>
          </a:ln>
        </p:spPr>
      </p:cxnSp>
      <p:cxnSp>
        <p:nvCxnSpPr>
          <p:cNvPr id="212" name="直线箭头连接符 115"/>
          <p:cNvCxnSpPr>
            <a:stCxn xmlns:a="http://schemas.openxmlformats.org/drawingml/2006/main" id="41" idx="3"/>
            <a:endCxn xmlns:a="http://schemas.openxmlformats.org/drawingml/2006/main" id="42" idx="1"/>
          </p:cNvCxnSpPr>
          <p:nvPr/>
        </p:nvCxnSpPr>
        <p:spPr>
          <a:xfrm xmlns:a="http://schemas.openxmlformats.org/drawingml/2006/main">
            <a:off x="470535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5B9B1"/>
            </a:solidFill>
            <a:prstDash val="solid"/>
            <a:tailEnd type="arrow" w="med" len="med"/>
          </a:ln>
        </p:spPr>
      </p:cxnSp>
      <p:cxnSp>
        <p:nvCxnSpPr>
          <p:cNvPr id="213" name="直线箭头连接符 116"/>
          <p:cNvCxnSpPr>
            <a:stCxn xmlns:a="http://schemas.openxmlformats.org/drawingml/2006/main" id="42" idx="3"/>
            <a:endCxn xmlns:a="http://schemas.openxmlformats.org/drawingml/2006/main" id="43" idx="1"/>
          </p:cNvCxnSpPr>
          <p:nvPr/>
        </p:nvCxnSpPr>
        <p:spPr>
          <a:xfrm xmlns:a="http://schemas.openxmlformats.org/drawingml/2006/main">
            <a:off x="695325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5B9B1"/>
            </a:solidFill>
            <a:prstDash val="solid"/>
            <a:tailEnd type="arrow" w="med" len="med"/>
          </a:ln>
        </p:spPr>
      </p:cxnSp>
      <p:cxnSp>
        <p:nvCxnSpPr>
          <p:cNvPr id="214" name="直线箭头连接符 117"/>
          <p:cNvCxnSpPr>
            <a:stCxn xmlns:a="http://schemas.openxmlformats.org/drawingml/2006/main" id="43" idx="3"/>
            <a:endCxn xmlns:a="http://schemas.openxmlformats.org/drawingml/2006/main" id="44" idx="1"/>
          </p:cNvCxnSpPr>
          <p:nvPr/>
        </p:nvCxnSpPr>
        <p:spPr>
          <a:xfrm xmlns:a="http://schemas.openxmlformats.org/drawingml/2006/main">
            <a:off x="920115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5B9B1"/>
            </a:solidFill>
            <a:prstDash val="solid"/>
            <a:tailEnd type="arrow" w="med" len="med"/>
          </a:ln>
        </p:spPr>
      </p:cxnSp>
      <p:sp>
        <p:nvSpPr>
          <p:cNvPr id="49" name="圆角矩形 48">
            <a:extLst xmlns:a="http://schemas.openxmlformats.org/drawingml/2006/main">
              <a:ext uri="{FF2B5EF4-FFF2-40B4-BE49-F238E27FC236}">
                <a16:creationId xmlns:a16="http://schemas.microsoft.com/office/drawing/2014/main" id="{1D8C6C88-32CF-49C1-88D9-71FCB9D8A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57500"/>
            <a:ext cx="1714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102F3A"/>
          </a:solidFill>
          <a:ln xmlns:a="http://schemas.openxmlformats.org/drawingml/2006/main" w="9525">
            <a:solidFill>
              <a:srgbClr val="2349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矩形 49">
            <a:extLst xmlns:a="http://schemas.openxmlformats.org/drawingml/2006/main">
              <a:ext uri="{FF2B5EF4-FFF2-40B4-BE49-F238E27FC236}">
                <a16:creationId xmlns:a16="http://schemas.microsoft.com/office/drawing/2014/main" id="{57D9E257-2392-4BF2-ACD2-23D4264A0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ED7CF"/>
                </a:solidFill>
              </a:defRPr>
            </a:pPr>
            <a:r>
              <a:rPr sz="1200" b="1">
                <a:solidFill>
                  <a:srgbClr val="6ED7CF"/>
                </a:solidFill>
              </a:rPr>
              <a:t>1</a:t>
            </a:r>
          </a:p>
        </p:txBody>
      </p:sp>
      <p:sp>
        <p:nvSpPr>
          <p:cNvPr id="51" name="矩形 50">
            <a:extLst xmlns:a="http://schemas.openxmlformats.org/drawingml/2006/main">
              <a:ext uri="{FF2B5EF4-FFF2-40B4-BE49-F238E27FC236}">
                <a16:creationId xmlns:a16="http://schemas.microsoft.com/office/drawing/2014/main" id="{03335746-34CD-4E06-8507-22449F8E0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0995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Find home</a:t>
            </a:r>
          </a:p>
        </p:txBody>
      </p:sp>
      <p:sp>
        <p:nvSpPr>
          <p:cNvPr id="52" name="矩形 51">
            <a:extLst xmlns:a="http://schemas.openxmlformats.org/drawingml/2006/main">
              <a:ext uri="{FF2B5EF4-FFF2-40B4-BE49-F238E27FC236}">
                <a16:creationId xmlns:a16="http://schemas.microsoft.com/office/drawing/2014/main" id="{0EBDBA36-370F-43C5-B38B-5F1467D7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86200"/>
            <a:ext cx="138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CDECE8"/>
                </a:solidFill>
              </a:defRPr>
            </a:pPr>
            <a:r>
              <a:rPr sz="1125" b="0">
                <a:solidFill>
                  <a:srgbClr val="CDECE8"/>
                </a:solidFill>
              </a:rPr>
              <a:t>Price + location</a:t>
            </a:r>
          </a:p>
        </p:txBody>
      </p:sp>
      <p:sp>
        <p:nvSpPr>
          <p:cNvPr id="53" name="圆角矩形 52">
            <a:extLst xmlns:a="http://schemas.openxmlformats.org/drawingml/2006/main">
              <a:ext uri="{FF2B5EF4-FFF2-40B4-BE49-F238E27FC236}">
                <a16:creationId xmlns:a16="http://schemas.microsoft.com/office/drawing/2014/main" id="{4B77B21F-8F96-4942-A1BF-E05E7B4CE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857500"/>
            <a:ext cx="1714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102F3A"/>
          </a:solidFill>
          <a:ln xmlns:a="http://schemas.openxmlformats.org/drawingml/2006/main" w="9525">
            <a:solidFill>
              <a:srgbClr val="2349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矩形 53">
            <a:extLst xmlns:a="http://schemas.openxmlformats.org/drawingml/2006/main">
              <a:ext uri="{FF2B5EF4-FFF2-40B4-BE49-F238E27FC236}">
                <a16:creationId xmlns:a16="http://schemas.microsoft.com/office/drawing/2014/main" id="{0BE8D033-6EFC-4861-95A4-A1AC44352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0099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ED7CF"/>
                </a:solidFill>
              </a:defRPr>
            </a:pPr>
            <a:r>
              <a:rPr sz="1200" b="1">
                <a:solidFill>
                  <a:srgbClr val="6ED7CF"/>
                </a:solidFill>
              </a:rPr>
              <a:t>2</a:t>
            </a:r>
          </a:p>
        </p:txBody>
      </p:sp>
      <p:sp>
        <p:nvSpPr>
          <p:cNvPr id="55" name="矩形 54">
            <a:extLst xmlns:a="http://schemas.openxmlformats.org/drawingml/2006/main">
              <a:ext uri="{FF2B5EF4-FFF2-40B4-BE49-F238E27FC236}">
                <a16:creationId xmlns:a16="http://schemas.microsoft.com/office/drawing/2014/main" id="{8B71200A-6649-4499-9FD0-807DE53C3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40995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Verify</a:t>
            </a:r>
          </a:p>
        </p:txBody>
      </p:sp>
      <p:sp>
        <p:nvSpPr>
          <p:cNvPr id="56" name="矩形 55">
            <a:extLst xmlns:a="http://schemas.openxmlformats.org/drawingml/2006/main">
              <a:ext uri="{FF2B5EF4-FFF2-40B4-BE49-F238E27FC236}">
                <a16:creationId xmlns:a16="http://schemas.microsoft.com/office/drawing/2014/main" id="{E9002514-036C-4C64-AA03-28F77C4EB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848100"/>
            <a:ext cx="138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CDECE8"/>
                </a:solidFill>
              </a:defRPr>
            </a:pPr>
            <a:r>
              <a:rPr sz="1125"/>
              <a:t>Listings + people</a:t>
            </a:r>
          </a:p>
        </p:txBody>
      </p:sp>
      <p:sp>
        <p:nvSpPr>
          <p:cNvPr id="57" name="圆角矩形 56">
            <a:extLst xmlns:a="http://schemas.openxmlformats.org/drawingml/2006/main">
              <a:ext uri="{FF2B5EF4-FFF2-40B4-BE49-F238E27FC236}">
                <a16:creationId xmlns:a16="http://schemas.microsoft.com/office/drawing/2014/main" id="{D6C47A6F-7231-45A6-9DFE-0F419BE05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857500"/>
            <a:ext cx="1714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198B87"/>
          </a:solidFill>
          <a:ln xmlns:a="http://schemas.openxmlformats.org/drawingml/2006/main" w="28575">
            <a:solidFill>
              <a:srgbClr val="6ED7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8" name="矩形 57">
            <a:extLst xmlns:a="http://schemas.openxmlformats.org/drawingml/2006/main">
              <a:ext uri="{FF2B5EF4-FFF2-40B4-BE49-F238E27FC236}">
                <a16:creationId xmlns:a16="http://schemas.microsoft.com/office/drawing/2014/main" id="{AE93921F-DE2C-46FF-98A2-770573AFA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0099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59" name="矩形 58">
            <a:extLst xmlns:a="http://schemas.openxmlformats.org/drawingml/2006/main">
              <a:ext uri="{FF2B5EF4-FFF2-40B4-BE49-F238E27FC236}">
                <a16:creationId xmlns:a16="http://schemas.microsoft.com/office/drawing/2014/main" id="{D0CE4D3E-09F8-49B9-97ED-F1C854820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40995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Compare fit</a:t>
            </a:r>
          </a:p>
        </p:txBody>
      </p:sp>
      <p:sp>
        <p:nvSpPr>
          <p:cNvPr id="60" name="矩形 59">
            <a:extLst xmlns:a="http://schemas.openxmlformats.org/drawingml/2006/main">
              <a:ext uri="{FF2B5EF4-FFF2-40B4-BE49-F238E27FC236}">
                <a16:creationId xmlns:a16="http://schemas.microsoft.com/office/drawing/2014/main" id="{FE675648-9812-4846-B437-BDC215ED2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886200"/>
            <a:ext cx="138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CDECE8"/>
                </a:solidFill>
              </a:defRPr>
            </a:pPr>
            <a:r>
              <a:rPr sz="1125" b="0">
                <a:solidFill>
                  <a:srgbClr val="CDECE8"/>
                </a:solidFill>
              </a:rPr>
              <a:t>Habits + gaps</a:t>
            </a:r>
          </a:p>
        </p:txBody>
      </p:sp>
      <p:sp>
        <p:nvSpPr>
          <p:cNvPr id="61" name="圆角矩形 60">
            <a:extLst xmlns:a="http://schemas.openxmlformats.org/drawingml/2006/main">
              <a:ext uri="{FF2B5EF4-FFF2-40B4-BE49-F238E27FC236}">
                <a16:creationId xmlns:a16="http://schemas.microsoft.com/office/drawing/2014/main" id="{3101B0D7-73A7-4ADD-9CC2-7EDFDCDC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857500"/>
            <a:ext cx="1714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102F3A"/>
          </a:solidFill>
          <a:ln xmlns:a="http://schemas.openxmlformats.org/drawingml/2006/main" w="9525">
            <a:solidFill>
              <a:srgbClr val="2349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2" name="矩形 61">
            <a:extLst xmlns:a="http://schemas.openxmlformats.org/drawingml/2006/main">
              <a:ext uri="{FF2B5EF4-FFF2-40B4-BE49-F238E27FC236}">
                <a16:creationId xmlns:a16="http://schemas.microsoft.com/office/drawing/2014/main" id="{E849F923-69C8-4F5A-8BE7-4DE6604BB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0099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ED7CF"/>
                </a:solidFill>
              </a:defRPr>
            </a:pPr>
            <a:r>
              <a:rPr sz="1200" b="1">
                <a:solidFill>
                  <a:srgbClr val="6ED7CF"/>
                </a:solidFill>
              </a:rPr>
              <a:t>4</a:t>
            </a:r>
          </a:p>
        </p:txBody>
      </p:sp>
      <p:sp>
        <p:nvSpPr>
          <p:cNvPr id="63" name="矩形 62">
            <a:extLst xmlns:a="http://schemas.openxmlformats.org/drawingml/2006/main">
              <a:ext uri="{FF2B5EF4-FFF2-40B4-BE49-F238E27FC236}">
                <a16:creationId xmlns:a16="http://schemas.microsoft.com/office/drawing/2014/main" id="{E77BF0CC-63DB-4D74-8641-D80C35A36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40995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Talk safely</a:t>
            </a:r>
          </a:p>
        </p:txBody>
      </p:sp>
      <p:sp>
        <p:nvSpPr>
          <p:cNvPr id="64" name="矩形 63">
            <a:extLst xmlns:a="http://schemas.openxmlformats.org/drawingml/2006/main">
              <a:ext uri="{FF2B5EF4-FFF2-40B4-BE49-F238E27FC236}">
                <a16:creationId xmlns:a16="http://schemas.microsoft.com/office/drawing/2014/main" id="{4E965EB3-08AD-49BE-8D10-9B5187D3B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886200"/>
            <a:ext cx="138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CDECE8"/>
                </a:solidFill>
              </a:defRPr>
            </a:pPr>
            <a:r>
              <a:rPr sz="1125" b="0">
                <a:solidFill>
                  <a:srgbClr val="CDECE8"/>
                </a:solidFill>
              </a:rPr>
              <a:t>Guided messages</a:t>
            </a:r>
          </a:p>
        </p:txBody>
      </p:sp>
      <p:sp>
        <p:nvSpPr>
          <p:cNvPr id="65" name="圆角矩形 64">
            <a:extLst xmlns:a="http://schemas.openxmlformats.org/drawingml/2006/main">
              <a:ext uri="{FF2B5EF4-FFF2-40B4-BE49-F238E27FC236}">
                <a16:creationId xmlns:a16="http://schemas.microsoft.com/office/drawing/2014/main" id="{A540D645-1214-428E-B3C9-EF8E90B4E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57500"/>
            <a:ext cx="1714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102F3A"/>
          </a:solidFill>
          <a:ln xmlns:a="http://schemas.openxmlformats.org/drawingml/2006/main" w="9525">
            <a:solidFill>
              <a:srgbClr val="2349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" name="矩形 65">
            <a:extLst xmlns:a="http://schemas.openxmlformats.org/drawingml/2006/main">
              <a:ext uri="{FF2B5EF4-FFF2-40B4-BE49-F238E27FC236}">
                <a16:creationId xmlns:a16="http://schemas.microsoft.com/office/drawing/2014/main" id="{BFD437A6-5B50-4AF9-B570-A3DF67377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0099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ED7CF"/>
                </a:solidFill>
              </a:defRPr>
            </a:pPr>
            <a:r>
              <a:rPr sz="1200" b="1">
                <a:solidFill>
                  <a:srgbClr val="6ED7CF"/>
                </a:solidFill>
              </a:rPr>
              <a:t>5</a:t>
            </a:r>
          </a:p>
        </p:txBody>
      </p:sp>
      <p:sp>
        <p:nvSpPr>
          <p:cNvPr id="67" name="矩形 66">
            <a:extLst xmlns:a="http://schemas.openxmlformats.org/drawingml/2006/main">
              <a:ext uri="{FF2B5EF4-FFF2-40B4-BE49-F238E27FC236}">
                <a16:creationId xmlns:a16="http://schemas.microsoft.com/office/drawing/2014/main" id="{04FCCC87-F699-4565-9A7C-ACDF1C56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40995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Agree early</a:t>
            </a:r>
          </a:p>
        </p:txBody>
      </p:sp>
      <p:sp>
        <p:nvSpPr>
          <p:cNvPr id="68" name="矩形 67">
            <a:extLst xmlns:a="http://schemas.openxmlformats.org/drawingml/2006/main">
              <a:ext uri="{FF2B5EF4-FFF2-40B4-BE49-F238E27FC236}">
                <a16:creationId xmlns:a16="http://schemas.microsoft.com/office/drawing/2014/main" id="{E5057003-BEA4-4619-A3D3-999F40729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886200"/>
            <a:ext cx="138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CDECE8"/>
                </a:solidFill>
              </a:defRPr>
            </a:pPr>
            <a:r>
              <a:rPr sz="1125" b="0">
                <a:solidFill>
                  <a:srgbClr val="CDECE8"/>
                </a:solidFill>
              </a:rPr>
              <a:t>Rules + consent</a:t>
            </a:r>
          </a:p>
        </p:txBody>
      </p:sp>
      <p:sp>
        <p:nvSpPr>
          <p:cNvPr id="69" name="矩形 68">
            <a:extLst xmlns:a="http://schemas.openxmlformats.org/drawingml/2006/main">
              <a:ext uri="{FF2B5EF4-FFF2-40B4-BE49-F238E27FC236}">
                <a16:creationId xmlns:a16="http://schemas.microsoft.com/office/drawing/2014/main" id="{7B2DC383-F0EC-4E50-AC59-F74520E9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6255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55B9B1"/>
                </a:solidFill>
              </a:defRPr>
            </a:pPr>
            <a:r>
              <a:rPr sz="1425" b="1">
                <a:solidFill>
                  <a:srgbClr val="55B9B1"/>
                </a:solidFill>
              </a:rPr>
              <a:t>TRUST AND FIT ARE DIFFERENT SIGNALS</a:t>
            </a:r>
          </a:p>
        </p:txBody>
      </p:sp>
      <p:sp>
        <p:nvSpPr>
          <p:cNvPr id="70" name="矩形 69">
            <a:extLst xmlns:a="http://schemas.openxmlformats.org/drawingml/2006/main">
              <a:ext uri="{FF2B5EF4-FFF2-40B4-BE49-F238E27FC236}">
                <a16:creationId xmlns:a16="http://schemas.microsoft.com/office/drawing/2014/main" id="{302E0427-57B0-4E1A-895E-E0DF02B06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4355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Verification reduces uncertainty; compatibility supports conversation—not a safety guarantee.</a:t>
            </a:r>
          </a:p>
        </p:txBody>
      </p:sp>
    </p:spTree>
    <p:extLst>
      <p:ext uri="{BB962C8B-B14F-4D97-AF65-F5344CB8AC3E}">
        <p14:creationId xmlns:p14="http://schemas.microsoft.com/office/powerpoint/2010/main" val="8548539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矩形 74">
            <a:extLst xmlns:a="http://schemas.openxmlformats.org/drawingml/2006/main">
              <a:ext uri="{FF2B5EF4-FFF2-40B4-BE49-F238E27FC236}">
                <a16:creationId xmlns:a16="http://schemas.microsoft.com/office/drawing/2014/main" id="{30D2EB98-B843-4901-A269-1BBA771AD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5D39CA5-4E14-46F8-99FB-614E8EE34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115C21D2-D7A5-457F-9023-60B7D5BDB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1361AB9-F157-45D8-B2C0-93E055CE6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CC3ABAE1-DE98-4240-BCE5-82A8B8CC5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7EBC71FA-A0A5-468E-8C18-D4512C00B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1A61FA5-F677-4BEA-A52A-CB43F0AC9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30A905A5-B1DE-4C7C-B95E-ED94D9C71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381CD91-3810-4BEE-B3DA-7764F0BE1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52A6967C-9933-44B2-9078-214F9640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A1B63670-206F-48EF-9AB6-3F1990C95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110B99A9-84F6-4D9A-BE96-0F2DD4A9B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B5B8FA62-6761-4073-BA07-13AAE8E8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5167823B-E93E-434C-90B9-14015446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CC04D838-28D8-4926-B767-E79A61443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3A2242B-8C05-4714-9EA7-F38A5CCED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6E0CA86E-B1B5-4C0A-BA97-34AA3443E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6460E669-64F2-443A-8E8E-36AEB724E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CFD4120E-DBF5-4517-A3ED-6C48F2C9D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D4FD8D7-7BA3-4C61-9E60-7FE03694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F8C8EF35-7306-47CE-AEB2-BCBA28551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CE581A2D-C518-4BB8-83AE-B34D514EC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09211A6-6186-44BF-8B96-1FB61B70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065525FE-6856-4B60-B0F5-13A36CAC5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382EED0-828B-4183-BC23-2556421A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5DCEBAEE-F289-42C8-8C82-064D6D7DC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8527AE12-9FFE-406F-B961-483DBB27E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DD2AB2D9-D4B5-41FE-AAFB-DAA665BA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8B87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D68EFE3C-2196-4775-9514-D309554E1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"/>
            <a:ext cx="2743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D7178"/>
                </a:solidFill>
              </a:defRPr>
            </a:pPr>
            <a:r>
              <a:rPr sz="750" b="1">
                <a:solidFill>
                  <a:srgbClr val="5D7178"/>
                </a:solidFill>
              </a:rPr>
              <a:t>ROOMMATE HAVEN / SYSTEM VIEW</a:t>
            </a:r>
          </a:p>
        </p:txBody>
      </p:sp>
      <p:sp>
        <p:nvSpPr>
          <p:cNvPr id="30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C760D48C-8547-4D4D-84BE-D8CC61F9B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8B87"/>
                </a:solidFill>
              </a:defRPr>
            </a:pPr>
            <a:r>
              <a:rPr sz="1050" b="1">
                <a:solidFill>
                  <a:srgbClr val="198B87"/>
                </a:solidFill>
              </a:rPr>
              <a:t>RECORDED PROTOTYPE DEMO</a:t>
            </a:r>
          </a:p>
        </p:txBody>
      </p:sp>
      <p:sp>
        <p:nvSpPr>
          <p:cNvPr id="3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04BFF54-1544-4BF0-B81D-6D0B4B42B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2252D"/>
                </a:solidFill>
              </a:defRPr>
            </a:pPr>
            <a:r>
              <a:rPr sz="2850" b="1">
                <a:solidFill>
                  <a:srgbClr val="12252D"/>
                </a:solidFill>
              </a:rPr>
              <a:t>The deployed prototype connects the full decision journey.</a:t>
            </a:r>
          </a:p>
        </p:txBody>
      </p:sp>
      <p:sp>
        <p:nvSpPr>
          <p:cNvPr id="3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20E6149-24AF-40E4-BC42-7ED5AFA61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990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D7178"/>
                </a:solidFill>
              </a:defRPr>
            </a:pPr>
            <a:r>
              <a:rPr sz="1425" b="0">
                <a:solidFill>
                  <a:srgbClr val="5D7178"/>
                </a:solidFill>
              </a:rPr>
              <a:t>Recorded walkthrough · 60–75 seconds · available online</a:t>
            </a:r>
          </a:p>
        </p:txBody>
      </p:sp>
      <p:sp>
        <p:nvSpPr>
          <p:cNvPr id="3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5E5BE6C1-4ACB-431C-8280-120F8C169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572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D7178"/>
                </a:solidFill>
              </a:defRPr>
            </a:pPr>
            <a:r>
              <a:rPr sz="975" b="1">
                <a:solidFill>
                  <a:srgbClr val="5D7178"/>
                </a:solidFill>
              </a:rPr>
              <a:t>07</a:t>
            </a:r>
          </a:p>
        </p:txBody>
      </p:sp>
      <p:sp>
        <p:nvSpPr>
          <p:cNvPr id="34" name="圆角矩形 33">
            <a:extLst xmlns:a="http://schemas.openxmlformats.org/drawingml/2006/main">
              <a:ext uri="{FF2B5EF4-FFF2-40B4-BE49-F238E27FC236}">
                <a16:creationId xmlns:a16="http://schemas.microsoft.com/office/drawing/2014/main" id="{5DDB15B7-067B-4289-8763-734C308A3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71700"/>
            <a:ext cx="3143250" cy="2647950"/>
          </a:xfrm>
          <a:prstGeom xmlns:a="http://schemas.openxmlformats.org/drawingml/2006/main" prst="roundRect">
            <a:avLst>
              <a:gd name="adj" fmla="val 4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16E8F953-2503-4C58-9E31-E90AE8D30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71700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A36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椭圆 35">
            <a:extLst xmlns:a="http://schemas.openxmlformats.org/drawingml/2006/main">
              <a:ext uri="{FF2B5EF4-FFF2-40B4-BE49-F238E27FC236}">
                <a16:creationId xmlns:a16="http://schemas.microsoft.com/office/drawing/2014/main" id="{91A1BC18-4A40-45DF-8183-C56F4BA79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286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7C64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75057E5B-03FF-4E85-8735-D92C412A0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B85F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椭圆 37">
            <a:extLst xmlns:a="http://schemas.openxmlformats.org/drawingml/2006/main">
              <a:ext uri="{FF2B5EF4-FFF2-40B4-BE49-F238E27FC236}">
                <a16:creationId xmlns:a16="http://schemas.microsoft.com/office/drawing/2014/main" id="{94274156-5C8B-4BC3-B76C-501CC981A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286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B9B1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圆角矩形 38">
            <a:extLst xmlns:a="http://schemas.openxmlformats.org/drawingml/2006/main">
              <a:ext uri="{FF2B5EF4-FFF2-40B4-BE49-F238E27FC236}">
                <a16:creationId xmlns:a16="http://schemas.microsoft.com/office/drawing/2014/main" id="{162527C6-DCC2-464A-89C4-8986ECBBC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257425"/>
            <a:ext cx="22479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F3A"/>
          </a:solidFill>
          <a:ln xmlns:a="http://schemas.openxmlformats.org/drawingml/2006/main" w="9525">
            <a:solidFill>
              <a:srgbClr val="2349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8D3C0F68-5101-4425-AC8F-65E53FB7A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276475"/>
            <a:ext cx="2057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00" b="0">
                <a:solidFill>
                  <a:srgbClr val="CDECE8"/>
                </a:solidFill>
              </a:defRPr>
            </a:pPr>
            <a:r>
              <a:rPr sz="600" b="0">
                <a:solidFill>
                  <a:srgbClr val="CDECE8"/>
                </a:solidFill>
              </a:rPr>
              <a:t>roommate-haven.app</a:t>
            </a:r>
          </a:p>
        </p:txBody>
      </p:sp>
      <p:sp>
        <p:nvSpPr>
          <p:cNvPr id="41" name="圆角矩形 40">
            <a:extLst xmlns:a="http://schemas.openxmlformats.org/drawingml/2006/main">
              <a:ext uri="{FF2B5EF4-FFF2-40B4-BE49-F238E27FC236}">
                <a16:creationId xmlns:a16="http://schemas.microsoft.com/office/drawing/2014/main" id="{1D51928B-2E10-445D-A14D-0C63B1CC5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67000"/>
            <a:ext cx="2800350" cy="1924050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8FAF9"/>
          </a:solidFill>
          <a:ln xmlns:a="http://schemas.openxmlformats.org/drawingml/2006/main" w="9525">
            <a:solidFill>
              <a:srgbClr val="55B9B1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矩形 41">
            <a:extLst xmlns:a="http://schemas.openxmlformats.org/drawingml/2006/main">
              <a:ext uri="{FF2B5EF4-FFF2-40B4-BE49-F238E27FC236}">
                <a16:creationId xmlns:a16="http://schemas.microsoft.com/office/drawing/2014/main" id="{806B57C2-6A90-4CDB-B9E8-5432DBC34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62325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98B87"/>
                </a:solidFill>
              </a:defRPr>
            </a:pPr>
            <a:r>
              <a:rPr sz="975" b="1">
                <a:solidFill>
                  <a:srgbClr val="198B87"/>
                </a:solidFill>
              </a:rPr>
              <a:t>START: SEARCH + VERIFY</a:t>
            </a:r>
          </a:p>
        </p:txBody>
      </p:sp>
      <p:sp>
        <p:nvSpPr>
          <p:cNvPr id="43" name="矩形 42">
            <a:extLst xmlns:a="http://schemas.openxmlformats.org/drawingml/2006/main">
              <a:ext uri="{FF2B5EF4-FFF2-40B4-BE49-F238E27FC236}">
                <a16:creationId xmlns:a16="http://schemas.microsoft.com/office/drawing/2014/main" id="{46019487-E6A0-4376-80BE-5E09F499A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29150"/>
            <a:ext cx="2800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0E2A36"/>
                </a:solidFill>
              </a:defRPr>
            </a:pPr>
            <a:r>
              <a:rPr sz="900" b="1">
                <a:solidFill>
                  <a:srgbClr val="0E2A36"/>
                </a:solidFill>
              </a:rPr>
              <a:t>VIDEO START</a:t>
            </a:r>
          </a:p>
        </p:txBody>
      </p:sp>
      <p:sp>
        <p:nvSpPr>
          <p:cNvPr id="44" name="矩形 43">
            <a:extLst xmlns:a="http://schemas.openxmlformats.org/drawingml/2006/main">
              <a:ext uri="{FF2B5EF4-FFF2-40B4-BE49-F238E27FC236}">
                <a16:creationId xmlns:a16="http://schemas.microsoft.com/office/drawing/2014/main" id="{3B48A893-D7C9-4C8F-BE3D-79C9C3B16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101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8B87"/>
                </a:solidFill>
              </a:defRPr>
            </a:pPr>
            <a:r>
              <a:rPr sz="1050" b="1">
                <a:solidFill>
                  <a:srgbClr val="198B87"/>
                </a:solidFill>
              </a:rPr>
              <a:t>01</a:t>
            </a:r>
          </a:p>
        </p:txBody>
      </p:sp>
      <p:sp>
        <p:nvSpPr>
          <p:cNvPr id="45" name="矩形 44">
            <a:extLst xmlns:a="http://schemas.openxmlformats.org/drawingml/2006/main">
              <a:ext uri="{FF2B5EF4-FFF2-40B4-BE49-F238E27FC236}">
                <a16:creationId xmlns:a16="http://schemas.microsoft.com/office/drawing/2014/main" id="{C54E8653-4BC7-4A5A-B3EE-E49724FE5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62525"/>
            <a:ext cx="2724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E2A36"/>
                </a:solidFill>
              </a:defRPr>
            </a:pPr>
            <a:r>
              <a:rPr sz="1425" b="1">
                <a:solidFill>
                  <a:srgbClr val="0E2A36"/>
                </a:solidFill>
              </a:rPr>
              <a:t>Find a trusted option</a:t>
            </a:r>
          </a:p>
        </p:txBody>
      </p:sp>
      <p:sp>
        <p:nvSpPr>
          <p:cNvPr id="46" name="矩形 45">
            <a:extLst xmlns:a="http://schemas.openxmlformats.org/drawingml/2006/main">
              <a:ext uri="{FF2B5EF4-FFF2-40B4-BE49-F238E27FC236}">
                <a16:creationId xmlns:a16="http://schemas.microsoft.com/office/drawing/2014/main" id="{642AC4A5-A029-4DFF-BB5C-A863C3342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86375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D7178"/>
                </a:solidFill>
              </a:defRPr>
            </a:pPr>
            <a:r>
              <a:rPr sz="975" b="0">
                <a:solidFill>
                  <a:srgbClr val="5D7178"/>
                </a:solidFill>
              </a:rPr>
              <a:t>Property details + trust cues</a:t>
            </a:r>
          </a:p>
        </p:txBody>
      </p:sp>
      <p:sp>
        <p:nvSpPr>
          <p:cNvPr id="47" name="圆角矩形 46">
            <a:extLst xmlns:a="http://schemas.openxmlformats.org/drawingml/2006/main">
              <a:ext uri="{FF2B5EF4-FFF2-40B4-BE49-F238E27FC236}">
                <a16:creationId xmlns:a16="http://schemas.microsoft.com/office/drawing/2014/main" id="{B8D662A3-55C8-4537-83E9-561AE6111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71700"/>
            <a:ext cx="3143250" cy="2647950"/>
          </a:xfrm>
          <a:prstGeom xmlns:a="http://schemas.openxmlformats.org/drawingml/2006/main" prst="roundRect">
            <a:avLst>
              <a:gd name="adj" fmla="val 4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矩形 47">
            <a:extLst xmlns:a="http://schemas.openxmlformats.org/drawingml/2006/main">
              <a:ext uri="{FF2B5EF4-FFF2-40B4-BE49-F238E27FC236}">
                <a16:creationId xmlns:a16="http://schemas.microsoft.com/office/drawing/2014/main" id="{9359D56B-8464-46FB-B2B3-C57794621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71700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A36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椭圆 48">
            <a:extLst xmlns:a="http://schemas.openxmlformats.org/drawingml/2006/main">
              <a:ext uri="{FF2B5EF4-FFF2-40B4-BE49-F238E27FC236}">
                <a16:creationId xmlns:a16="http://schemas.microsoft.com/office/drawing/2014/main" id="{032BC131-AED4-4065-9C32-E04865285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286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7C64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椭圆 49">
            <a:extLst xmlns:a="http://schemas.openxmlformats.org/drawingml/2006/main">
              <a:ext uri="{FF2B5EF4-FFF2-40B4-BE49-F238E27FC236}">
                <a16:creationId xmlns:a16="http://schemas.microsoft.com/office/drawing/2014/main" id="{C548FE88-1104-4624-861D-4D956E0E9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286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B85F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椭圆 50">
            <a:extLst xmlns:a="http://schemas.openxmlformats.org/drawingml/2006/main">
              <a:ext uri="{FF2B5EF4-FFF2-40B4-BE49-F238E27FC236}">
                <a16:creationId xmlns:a16="http://schemas.microsoft.com/office/drawing/2014/main" id="{953222CB-D1B3-4D5D-9DA7-F6AF846A6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286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B9B1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2" name="圆角矩形 51">
            <a:extLst xmlns:a="http://schemas.openxmlformats.org/drawingml/2006/main">
              <a:ext uri="{FF2B5EF4-FFF2-40B4-BE49-F238E27FC236}">
                <a16:creationId xmlns:a16="http://schemas.microsoft.com/office/drawing/2014/main" id="{3BF7F955-AFEB-4CCB-998E-711476F1A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257425"/>
            <a:ext cx="22479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F3A"/>
          </a:solidFill>
          <a:ln xmlns:a="http://schemas.openxmlformats.org/drawingml/2006/main" w="9525">
            <a:solidFill>
              <a:srgbClr val="2349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3" name="矩形 52">
            <a:extLst xmlns:a="http://schemas.openxmlformats.org/drawingml/2006/main">
              <a:ext uri="{FF2B5EF4-FFF2-40B4-BE49-F238E27FC236}">
                <a16:creationId xmlns:a16="http://schemas.microsoft.com/office/drawing/2014/main" id="{D6ED6A0F-6E2F-4FBF-8BB8-2D19056CF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276475"/>
            <a:ext cx="2057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00" b="0">
                <a:solidFill>
                  <a:srgbClr val="CDECE8"/>
                </a:solidFill>
              </a:defRPr>
            </a:pPr>
            <a:r>
              <a:rPr sz="600" b="0">
                <a:solidFill>
                  <a:srgbClr val="CDECE8"/>
                </a:solidFill>
              </a:rPr>
              <a:t>roommate-haven.app</a:t>
            </a:r>
          </a:p>
        </p:txBody>
      </p:sp>
      <p:sp>
        <p:nvSpPr>
          <p:cNvPr id="54" name="圆角矩形 53">
            <a:extLst xmlns:a="http://schemas.openxmlformats.org/drawingml/2006/main">
              <a:ext uri="{FF2B5EF4-FFF2-40B4-BE49-F238E27FC236}">
                <a16:creationId xmlns:a16="http://schemas.microsoft.com/office/drawing/2014/main" id="{036C6D39-12AA-4256-852E-69CCD6A99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67000"/>
            <a:ext cx="2800350" cy="1924050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8FAF9"/>
          </a:solidFill>
          <a:ln xmlns:a="http://schemas.openxmlformats.org/drawingml/2006/main" w="9525">
            <a:solidFill>
              <a:srgbClr val="55B9B1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5" name="矩形 54">
            <a:extLst xmlns:a="http://schemas.openxmlformats.org/drawingml/2006/main">
              <a:ext uri="{FF2B5EF4-FFF2-40B4-BE49-F238E27FC236}">
                <a16:creationId xmlns:a16="http://schemas.microsoft.com/office/drawing/2014/main" id="{CEB26FEE-B898-43EC-9161-6D3E8608C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362325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98B87"/>
                </a:solidFill>
              </a:defRPr>
            </a:pPr>
            <a:r>
              <a:rPr sz="975" b="1">
                <a:solidFill>
                  <a:srgbClr val="198B87"/>
                </a:solidFill>
              </a:rPr>
              <a:t>▶  RECORDED PROTOTYPE DEMO</a:t>
            </a:r>
          </a:p>
        </p:txBody>
      </p:sp>
      <p:sp>
        <p:nvSpPr>
          <p:cNvPr id="56" name="矩形 55">
            <a:extLst xmlns:a="http://schemas.openxmlformats.org/drawingml/2006/main">
              <a:ext uri="{FF2B5EF4-FFF2-40B4-BE49-F238E27FC236}">
                <a16:creationId xmlns:a16="http://schemas.microsoft.com/office/drawing/2014/main" id="{025050A1-2683-4725-B04A-13BB04DCA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629150"/>
            <a:ext cx="2800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0E2A36"/>
                </a:solidFill>
              </a:defRPr>
            </a:pPr>
            <a:r>
              <a:rPr sz="900" b="1">
                <a:solidFill>
                  <a:srgbClr val="0E2A36"/>
                </a:solidFill>
              </a:rPr>
              <a:t>CORE JOURNEY</a:t>
            </a:r>
          </a:p>
        </p:txBody>
      </p:sp>
      <p:sp>
        <p:nvSpPr>
          <p:cNvPr id="57" name="矩形 56">
            <a:extLst xmlns:a="http://schemas.openxmlformats.org/drawingml/2006/main">
              <a:ext uri="{FF2B5EF4-FFF2-40B4-BE49-F238E27FC236}">
                <a16:creationId xmlns:a16="http://schemas.microsoft.com/office/drawing/2014/main" id="{8C6B5A50-BD90-459C-860E-F432FE895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0101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8B87"/>
                </a:solidFill>
              </a:defRPr>
            </a:pPr>
            <a:r>
              <a:rPr sz="1050" b="1">
                <a:solidFill>
                  <a:srgbClr val="198B87"/>
                </a:solidFill>
              </a:rPr>
              <a:t>02</a:t>
            </a:r>
          </a:p>
        </p:txBody>
      </p:sp>
      <p:sp>
        <p:nvSpPr>
          <p:cNvPr id="58" name="矩形 57">
            <a:extLst xmlns:a="http://schemas.openxmlformats.org/drawingml/2006/main">
              <a:ext uri="{FF2B5EF4-FFF2-40B4-BE49-F238E27FC236}">
                <a16:creationId xmlns:a16="http://schemas.microsoft.com/office/drawing/2014/main" id="{A7753932-3AAF-4F9C-B064-1E7A08A91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962525"/>
            <a:ext cx="2724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E2A36"/>
                </a:solidFill>
              </a:defRPr>
            </a:pPr>
            <a:r>
              <a:rPr sz="1425" b="1">
                <a:solidFill>
                  <a:srgbClr val="0E2A36"/>
                </a:solidFill>
              </a:rPr>
              <a:t>Compare and communicate</a:t>
            </a:r>
          </a:p>
        </p:txBody>
      </p:sp>
      <p:sp>
        <p:nvSpPr>
          <p:cNvPr id="59" name="矩形 58">
            <a:extLst xmlns:a="http://schemas.openxmlformats.org/drawingml/2006/main">
              <a:ext uri="{FF2B5EF4-FFF2-40B4-BE49-F238E27FC236}">
                <a16:creationId xmlns:a16="http://schemas.microsoft.com/office/drawing/2014/main" id="{01311B32-3797-4005-B889-A885191EF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286375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D7178"/>
                </a:solidFill>
              </a:defRPr>
            </a:pPr>
            <a:r>
              <a:rPr sz="975" b="0">
                <a:solidFill>
                  <a:srgbClr val="5D7178"/>
                </a:solidFill>
              </a:rPr>
              <a:t>Fit explanation + guided message</a:t>
            </a:r>
          </a:p>
        </p:txBody>
      </p:sp>
      <p:sp>
        <p:nvSpPr>
          <p:cNvPr id="60" name="圆角矩形 59">
            <a:extLst xmlns:a="http://schemas.openxmlformats.org/drawingml/2006/main">
              <a:ext uri="{FF2B5EF4-FFF2-40B4-BE49-F238E27FC236}">
                <a16:creationId xmlns:a16="http://schemas.microsoft.com/office/drawing/2014/main" id="{26A50946-C756-44A1-8B9B-8B6489BC5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171700"/>
            <a:ext cx="3143250" cy="2647950"/>
          </a:xfrm>
          <a:prstGeom xmlns:a="http://schemas.openxmlformats.org/drawingml/2006/main" prst="roundRect">
            <a:avLst>
              <a:gd name="adj" fmla="val 4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1" name="矩形 60">
            <a:extLst xmlns:a="http://schemas.openxmlformats.org/drawingml/2006/main">
              <a:ext uri="{FF2B5EF4-FFF2-40B4-BE49-F238E27FC236}">
                <a16:creationId xmlns:a16="http://schemas.microsoft.com/office/drawing/2014/main" id="{355FBF76-CB94-4D26-A58F-F73F2BACB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171700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A36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2" name="椭圆 61">
            <a:extLst xmlns:a="http://schemas.openxmlformats.org/drawingml/2006/main">
              <a:ext uri="{FF2B5EF4-FFF2-40B4-BE49-F238E27FC236}">
                <a16:creationId xmlns:a16="http://schemas.microsoft.com/office/drawing/2014/main" id="{2B016C31-2174-4964-AE28-2B409E685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286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7C64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3" name="椭圆 62">
            <a:extLst xmlns:a="http://schemas.openxmlformats.org/drawingml/2006/main">
              <a:ext uri="{FF2B5EF4-FFF2-40B4-BE49-F238E27FC236}">
                <a16:creationId xmlns:a16="http://schemas.microsoft.com/office/drawing/2014/main" id="{7D552C63-6426-41A1-A1FA-39186DF1C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86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B85F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4" name="椭圆 63">
            <a:extLst xmlns:a="http://schemas.openxmlformats.org/drawingml/2006/main">
              <a:ext uri="{FF2B5EF4-FFF2-40B4-BE49-F238E27FC236}">
                <a16:creationId xmlns:a16="http://schemas.microsoft.com/office/drawing/2014/main" id="{D13B5827-2249-4BEE-BB8D-F61545EB5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286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B9B1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5" name="圆角矩形 64">
            <a:extLst xmlns:a="http://schemas.openxmlformats.org/drawingml/2006/main">
              <a:ext uri="{FF2B5EF4-FFF2-40B4-BE49-F238E27FC236}">
                <a16:creationId xmlns:a16="http://schemas.microsoft.com/office/drawing/2014/main" id="{5C749774-C399-4D08-98CE-5C66ABCE2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257425"/>
            <a:ext cx="22479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F3A"/>
          </a:solidFill>
          <a:ln xmlns:a="http://schemas.openxmlformats.org/drawingml/2006/main" w="9525">
            <a:solidFill>
              <a:srgbClr val="2349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" name="矩形 65">
            <a:extLst xmlns:a="http://schemas.openxmlformats.org/drawingml/2006/main">
              <a:ext uri="{FF2B5EF4-FFF2-40B4-BE49-F238E27FC236}">
                <a16:creationId xmlns:a16="http://schemas.microsoft.com/office/drawing/2014/main" id="{6F17835D-57C8-4B6F-A48A-9BC8D3A98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276475"/>
            <a:ext cx="2057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00" b="0">
                <a:solidFill>
                  <a:srgbClr val="CDECE8"/>
                </a:solidFill>
              </a:defRPr>
            </a:pPr>
            <a:r>
              <a:rPr sz="600" b="0">
                <a:solidFill>
                  <a:srgbClr val="CDECE8"/>
                </a:solidFill>
              </a:rPr>
              <a:t>roommate-haven.app</a:t>
            </a:r>
          </a:p>
        </p:txBody>
      </p:sp>
      <p:sp>
        <p:nvSpPr>
          <p:cNvPr id="67" name="圆角矩形 66">
            <a:extLst xmlns:a="http://schemas.openxmlformats.org/drawingml/2006/main">
              <a:ext uri="{FF2B5EF4-FFF2-40B4-BE49-F238E27FC236}">
                <a16:creationId xmlns:a16="http://schemas.microsoft.com/office/drawing/2014/main" id="{FDA92273-0C44-41A6-94F4-97548D3FA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67000"/>
            <a:ext cx="2800350" cy="1924050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8FAF9"/>
          </a:solidFill>
          <a:ln xmlns:a="http://schemas.openxmlformats.org/drawingml/2006/main" w="9525">
            <a:solidFill>
              <a:srgbClr val="55B9B1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8" name="矩形 67">
            <a:extLst xmlns:a="http://schemas.openxmlformats.org/drawingml/2006/main">
              <a:ext uri="{FF2B5EF4-FFF2-40B4-BE49-F238E27FC236}">
                <a16:creationId xmlns:a16="http://schemas.microsoft.com/office/drawing/2014/main" id="{F8B55DD4-F2A2-4C23-89D7-D97922E77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62325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98B87"/>
                </a:solidFill>
              </a:defRPr>
            </a:pPr>
            <a:r>
              <a:rPr sz="975" b="1">
                <a:solidFill>
                  <a:srgbClr val="198B87"/>
                </a:solidFill>
              </a:rPr>
              <a:t>END: AGREEMENT STATE</a:t>
            </a:r>
          </a:p>
        </p:txBody>
      </p:sp>
      <p:sp>
        <p:nvSpPr>
          <p:cNvPr id="69" name="矩形 68">
            <a:extLst xmlns:a="http://schemas.openxmlformats.org/drawingml/2006/main">
              <a:ext uri="{FF2B5EF4-FFF2-40B4-BE49-F238E27FC236}">
                <a16:creationId xmlns:a16="http://schemas.microsoft.com/office/drawing/2014/main" id="{1F7C59F2-D1C4-4B84-AA00-5BECE1880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629150"/>
            <a:ext cx="2800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0E2A36"/>
                </a:solidFill>
              </a:defRPr>
            </a:pPr>
            <a:r>
              <a:rPr sz="900" b="1">
                <a:solidFill>
                  <a:srgbClr val="0E2A36"/>
                </a:solidFill>
              </a:rPr>
              <a:t>VIDEO END</a:t>
            </a:r>
          </a:p>
        </p:txBody>
      </p:sp>
      <p:sp>
        <p:nvSpPr>
          <p:cNvPr id="70" name="矩形 69">
            <a:extLst xmlns:a="http://schemas.openxmlformats.org/drawingml/2006/main">
              <a:ext uri="{FF2B5EF4-FFF2-40B4-BE49-F238E27FC236}">
                <a16:creationId xmlns:a16="http://schemas.microsoft.com/office/drawing/2014/main" id="{402EA5F4-3FFC-444E-8778-78DF427FA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0101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8B87"/>
                </a:solidFill>
              </a:defRPr>
            </a:pPr>
            <a:r>
              <a:rPr sz="1050" b="1">
                <a:solidFill>
                  <a:srgbClr val="198B87"/>
                </a:solidFill>
              </a:rPr>
              <a:t>03</a:t>
            </a:r>
          </a:p>
        </p:txBody>
      </p:sp>
      <p:sp>
        <p:nvSpPr>
          <p:cNvPr id="71" name="矩形 70">
            <a:extLst xmlns:a="http://schemas.openxmlformats.org/drawingml/2006/main">
              <a:ext uri="{FF2B5EF4-FFF2-40B4-BE49-F238E27FC236}">
                <a16:creationId xmlns:a16="http://schemas.microsoft.com/office/drawing/2014/main" id="{F031E1B0-36D7-4800-B151-45B2C37D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962525"/>
            <a:ext cx="2724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E2A36"/>
                </a:solidFill>
              </a:defRPr>
            </a:pPr>
            <a:r>
              <a:rPr sz="1425" b="1">
                <a:solidFill>
                  <a:srgbClr val="0E2A36"/>
                </a:solidFill>
              </a:rPr>
              <a:t>Agree before commitment</a:t>
            </a:r>
          </a:p>
        </p:txBody>
      </p:sp>
      <p:sp>
        <p:nvSpPr>
          <p:cNvPr id="72" name="矩形 71">
            <a:extLst xmlns:a="http://schemas.openxmlformats.org/drawingml/2006/main">
              <a:ext uri="{FF2B5EF4-FFF2-40B4-BE49-F238E27FC236}">
                <a16:creationId xmlns:a16="http://schemas.microsoft.com/office/drawing/2014/main" id="{8B756427-DFD4-41D5-889E-3C7DE8178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286375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D7178"/>
                </a:solidFill>
              </a:defRPr>
            </a:pPr>
            <a:r>
              <a:rPr sz="975" b="0">
                <a:solidFill>
                  <a:srgbClr val="5D7178"/>
                </a:solidFill>
              </a:rPr>
              <a:t>Rules, approval and next steps</a:t>
            </a:r>
          </a:p>
        </p:txBody>
      </p:sp>
      <p:sp>
        <p:nvSpPr>
          <p:cNvPr id="73" name="圆角矩形 72">
            <a:extLst xmlns:a="http://schemas.openxmlformats.org/drawingml/2006/main">
              <a:ext uri="{FF2B5EF4-FFF2-40B4-BE49-F238E27FC236}">
                <a16:creationId xmlns:a16="http://schemas.microsoft.com/office/drawing/2014/main" id="{67A35C16-CBEA-4E79-A51E-F106BAEBA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67400"/>
            <a:ext cx="1042035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A36"/>
          </a:solidFill>
          <a:ln xmlns:a="http://schemas.openxmlformats.org/drawingml/2006/main" w="9525">
            <a:solidFill>
              <a:srgbClr val="6ED7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4" name="矩形 73">
            <a:extLst xmlns:a="http://schemas.openxmlformats.org/drawingml/2006/main">
              <a:ext uri="{FF2B5EF4-FFF2-40B4-BE49-F238E27FC236}">
                <a16:creationId xmlns:a16="http://schemas.microsoft.com/office/drawing/2014/main" id="{3385E0B1-1715-4397-9B1D-E9A7A606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00750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DEPLOYED ONLINE · INTERACTIVE HTML · TESTABLE IN BROWSER</a:t>
            </a:r>
          </a:p>
        </p:txBody>
      </p:sp>
    </p:spTree>
    <p:extLst>
      <p:ext uri="{BB962C8B-B14F-4D97-AF65-F5344CB8AC3E}">
        <p14:creationId xmlns:p14="http://schemas.microsoft.com/office/powerpoint/2010/main" val="59728993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E2A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7" name="矩形 76">
            <a:extLst xmlns:a="http://schemas.openxmlformats.org/drawingml/2006/main">
              <a:ext uri="{FF2B5EF4-FFF2-40B4-BE49-F238E27FC236}">
                <a16:creationId xmlns:a16="http://schemas.microsoft.com/office/drawing/2014/main" id="{474C1718-8C87-4AAE-A36F-85BACA952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DA9E346F-162E-4465-8A87-25F8EF3B2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ED7273DD-9EA4-4275-A71B-5FF343AF1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259EF32A-DF97-4F2A-AC6A-D174058FE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B9AA1954-0144-44F5-95C5-07C5E0E94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409C1B7B-DD7E-4B42-987E-C3CB7AAA7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51F3357-293E-41AF-907D-D376FA4E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423F9767-3E50-4F56-B973-5F7DCAE0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4E9EAFA-B718-4A74-9EE8-ABC82342C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6F264CC8-D361-4E2A-BD92-F4E940CB7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12B1A34-4ADE-4A6E-8504-B5EF4FADB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EF5D4E50-A668-4B18-A548-E1B13BE4F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286AB39-C640-45B6-9FD0-C59649889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A04329C7-B8A6-4883-A969-8DCC6C9F4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78B8A6FE-2E7D-4FD8-BEAE-F63984D61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8563C17B-330C-473D-8168-94A262FB1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1961850F-644B-4F02-9378-3A41F16BA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4FB8A569-E625-40D0-BD69-0D21A0820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DDC1C9FB-A799-4F27-A7A8-08D10624A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6CA7BBB-812A-4EC8-B5FC-A2A74FAB6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390DA2AF-4CAD-4578-926B-C41BD36B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61050CF-AA31-4AEF-8720-38839DEE4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ACDCFB49-935B-4ACD-B4C2-95B9A6D94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264F708E-167C-43A8-8FDE-357F3DF5D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19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2D076B0-D375-4C55-8541-C66F94D5C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424C427E-3B1F-410C-A2B1-B8F05EB67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438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71FE9A5E-BC05-4CB7-A9AE-FC7ADF658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C3A0470E-2C18-4E99-A638-D618979F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57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E40EF902-B8D1-4F28-AA79-98C3E09C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67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34C2F7A6-29BD-44F3-ADE5-DE6DC3B2A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76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矩形 30">
            <a:extLst xmlns:a="http://schemas.openxmlformats.org/drawingml/2006/main">
              <a:ext uri="{FF2B5EF4-FFF2-40B4-BE49-F238E27FC236}">
                <a16:creationId xmlns:a16="http://schemas.microsoft.com/office/drawing/2014/main" id="{29D3DC54-EEAA-4D97-A1D4-4F505DA38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矩形 31">
            <a:extLst xmlns:a="http://schemas.openxmlformats.org/drawingml/2006/main">
              <a:ext uri="{FF2B5EF4-FFF2-40B4-BE49-F238E27FC236}">
                <a16:creationId xmlns:a16="http://schemas.microsoft.com/office/drawing/2014/main" id="{4B84F5B0-0E0A-42D7-891D-DBD564B7F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矩形 32">
            <a:extLst xmlns:a="http://schemas.openxmlformats.org/drawingml/2006/main">
              <a:ext uri="{FF2B5EF4-FFF2-40B4-BE49-F238E27FC236}">
                <a16:creationId xmlns:a16="http://schemas.microsoft.com/office/drawing/2014/main" id="{0D5FC162-7E54-42D2-9CBE-260F09336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矩形 33">
            <a:extLst xmlns:a="http://schemas.openxmlformats.org/drawingml/2006/main">
              <a:ext uri="{FF2B5EF4-FFF2-40B4-BE49-F238E27FC236}">
                <a16:creationId xmlns:a16="http://schemas.microsoft.com/office/drawing/2014/main" id="{31DABE4D-C9B9-425D-961B-06D474E3D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D7CF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5D45D0EC-D614-4023-8052-762FC1C0B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"/>
            <a:ext cx="2743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5B9B1"/>
                </a:solidFill>
              </a:defRPr>
            </a:pPr>
            <a:r>
              <a:rPr sz="750" b="1">
                <a:solidFill>
                  <a:srgbClr val="55B9B1"/>
                </a:solidFill>
              </a:rPr>
              <a:t>ROOMMATE HAVEN / SYSTEM VIEW</a:t>
            </a:r>
          </a:p>
        </p:txBody>
      </p:sp>
      <p:sp>
        <p:nvSpPr>
          <p:cNvPr id="36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F333D4C7-743B-435D-8B73-2711379A3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5B9B1"/>
                </a:solidFill>
              </a:defRPr>
            </a:pPr>
            <a:r>
              <a:rPr sz="1050" b="1">
                <a:solidFill>
                  <a:srgbClr val="55B9B1"/>
                </a:solidFill>
              </a:rPr>
              <a:t>TECHNICAL ARCHITECTURE</a:t>
            </a:r>
          </a:p>
        </p:txBody>
      </p:sp>
      <p:sp>
        <p:nvSpPr>
          <p:cNvPr id="3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51DD5FC-D95B-4D63-A773-2183EA96D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Connected subsystems make the concept feasible.</a:t>
            </a:r>
          </a:p>
        </p:txBody>
      </p:sp>
      <p:sp>
        <p:nvSpPr>
          <p:cNvPr id="38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93478F8-D1D7-4364-95AB-A877C084C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990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CDECE8"/>
                </a:solidFill>
              </a:defRPr>
            </a:pPr>
            <a:r>
              <a:rPr sz="1425" b="0">
                <a:solidFill>
                  <a:srgbClr val="CDECE8"/>
                </a:solidFill>
              </a:rPr>
              <a:t>Each module maps to a Sprint task and can be validated independently.</a:t>
            </a:r>
          </a:p>
        </p:txBody>
      </p:sp>
      <p:sp>
        <p:nvSpPr>
          <p:cNvPr id="39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78089DFE-E77B-41B8-847B-6D839358D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572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CDECE8"/>
                </a:solidFill>
              </a:defRPr>
            </a:pPr>
            <a:r>
              <a:rPr sz="975" b="1">
                <a:solidFill>
                  <a:srgbClr val="CDECE8"/>
                </a:solidFill>
              </a:rPr>
              <a:t>08</a:t>
            </a:r>
          </a:p>
        </p:txBody>
      </p:sp>
      <p:sp>
        <p:nvSpPr>
          <p:cNvPr id="40" name="arch-anchor-ui">
            <a:extLst xmlns:a="http://schemas.openxmlformats.org/drawingml/2006/main">
              <a:ext uri="{FF2B5EF4-FFF2-40B4-BE49-F238E27FC236}">
                <a16:creationId xmlns:a16="http://schemas.microsoft.com/office/drawing/2014/main" id="{BA0D5692-2071-4E0F-B615-4B5284C8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1619250" cy="1047750"/>
          </a:xfrm>
          <a:prstGeom xmlns:a="http://schemas.openxmlformats.org/drawingml/2006/main" prst="roundRect">
            <a:avLst>
              <a:gd name="adj" fmla="val 10909"/>
            </a:avLst>
          </a:prstGeom>
          <a:noFill xmlns:a="http://schemas.openxmlformats.org/drawingml/2006/main"/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arch-anchor-profile">
            <a:extLst xmlns:a="http://schemas.openxmlformats.org/drawingml/2006/main">
              <a:ext uri="{FF2B5EF4-FFF2-40B4-BE49-F238E27FC236}">
                <a16:creationId xmlns:a16="http://schemas.microsoft.com/office/drawing/2014/main" id="{BA6465D7-CE56-4449-A90C-4F3B90D8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43125"/>
            <a:ext cx="1714500" cy="1047750"/>
          </a:xfrm>
          <a:prstGeom xmlns:a="http://schemas.openxmlformats.org/drawingml/2006/main" prst="roundRect">
            <a:avLst>
              <a:gd name="adj" fmla="val 10909"/>
            </a:avLst>
          </a:prstGeom>
          <a:noFill xmlns:a="http://schemas.openxmlformats.org/drawingml/2006/main"/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arch-anchor-match">
            <a:extLst xmlns:a="http://schemas.openxmlformats.org/drawingml/2006/main">
              <a:ext uri="{FF2B5EF4-FFF2-40B4-BE49-F238E27FC236}">
                <a16:creationId xmlns:a16="http://schemas.microsoft.com/office/drawing/2014/main" id="{69DE4C84-93D5-4AB8-8B6F-C4953568A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143125"/>
            <a:ext cx="1714500" cy="1047750"/>
          </a:xfrm>
          <a:prstGeom xmlns:a="http://schemas.openxmlformats.org/drawingml/2006/main" prst="roundRect">
            <a:avLst>
              <a:gd name="adj" fmla="val 10909"/>
            </a:avLst>
          </a:prstGeom>
          <a:noFill xmlns:a="http://schemas.openxmlformats.org/drawingml/2006/main"/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arch-anchor-chat">
            <a:extLst xmlns:a="http://schemas.openxmlformats.org/drawingml/2006/main">
              <a:ext uri="{FF2B5EF4-FFF2-40B4-BE49-F238E27FC236}">
                <a16:creationId xmlns:a16="http://schemas.microsoft.com/office/drawing/2014/main" id="{3127B59A-9A5E-47B3-AC44-1651D23FC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43125"/>
            <a:ext cx="1714500" cy="1047750"/>
          </a:xfrm>
          <a:prstGeom xmlns:a="http://schemas.openxmlformats.org/drawingml/2006/main" prst="roundRect">
            <a:avLst>
              <a:gd name="adj" fmla="val 10909"/>
            </a:avLst>
          </a:prstGeom>
          <a:noFill xmlns:a="http://schemas.openxmlformats.org/drawingml/2006/main"/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arch-anchor-agreement">
            <a:extLst xmlns:a="http://schemas.openxmlformats.org/drawingml/2006/main">
              <a:ext uri="{FF2B5EF4-FFF2-40B4-BE49-F238E27FC236}">
                <a16:creationId xmlns:a16="http://schemas.microsoft.com/office/drawing/2014/main" id="{0234466C-0121-41FE-99E9-408DE1C99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143125"/>
            <a:ext cx="1619250" cy="1047750"/>
          </a:xfrm>
          <a:prstGeom xmlns:a="http://schemas.openxmlformats.org/drawingml/2006/main" prst="roundRect">
            <a:avLst>
              <a:gd name="adj" fmla="val 10909"/>
            </a:avLst>
          </a:prstGeom>
          <a:noFill xmlns:a="http://schemas.openxmlformats.org/drawingml/2006/main"/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arch-anchor-verify">
            <a:extLst xmlns:a="http://schemas.openxmlformats.org/drawingml/2006/main">
              <a:ext uri="{FF2B5EF4-FFF2-40B4-BE49-F238E27FC236}">
                <a16:creationId xmlns:a16="http://schemas.microsoft.com/office/drawing/2014/main" id="{18BCD11B-EF5D-4A62-8C63-D06B2C0A4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286250"/>
            <a:ext cx="1714500" cy="857250"/>
          </a:xfrm>
          <a:prstGeom xmlns:a="http://schemas.openxmlformats.org/drawingml/2006/main" prst="roundRect">
            <a:avLst>
              <a:gd name="adj" fmla="val 13333"/>
            </a:avLst>
          </a:prstGeom>
          <a:noFill xmlns:a="http://schemas.openxmlformats.org/drawingml/2006/main"/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arch-anchor-privacy">
            <a:extLst xmlns:a="http://schemas.openxmlformats.org/drawingml/2006/main">
              <a:ext uri="{FF2B5EF4-FFF2-40B4-BE49-F238E27FC236}">
                <a16:creationId xmlns:a16="http://schemas.microsoft.com/office/drawing/2014/main" id="{8ECF9279-FD7F-487C-B482-F4A7AB89D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286250"/>
            <a:ext cx="1714500" cy="857250"/>
          </a:xfrm>
          <a:prstGeom xmlns:a="http://schemas.openxmlformats.org/drawingml/2006/main" prst="roundRect">
            <a:avLst>
              <a:gd name="adj" fmla="val 13333"/>
            </a:avLst>
          </a:prstGeom>
          <a:noFill xmlns:a="http://schemas.openxmlformats.org/drawingml/2006/main"/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cxnSp>
        <p:nvCxnSpPr>
          <p:cNvPr id="227" name="直线箭头连接符 122"/>
          <p:cNvCxnSpPr>
            <a:stCxn xmlns:a="http://schemas.openxmlformats.org/drawingml/2006/main" id="40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 flipV="1">
            <a:off x="2381250" y="2667000"/>
            <a:ext cx="666750" cy="3333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ED7CF"/>
            </a:solidFill>
            <a:prstDash val="solid"/>
            <a:tailEnd type="arrow" w="med" len="med"/>
          </a:ln>
        </p:spPr>
      </p:cxnSp>
      <p:cxnSp>
        <p:nvCxnSpPr>
          <p:cNvPr id="228" name="直线箭头连接符 123"/>
          <p:cNvCxnSpPr>
            <a:stCxn xmlns:a="http://schemas.openxmlformats.org/drawingml/2006/main" id="41" idx="3"/>
            <a:endCxn xmlns:a="http://schemas.openxmlformats.org/drawingml/2006/main" id="42" idx="1"/>
          </p:cNvCxnSpPr>
          <p:nvPr/>
        </p:nvCxnSpPr>
        <p:spPr>
          <a:xfrm xmlns:a="http://schemas.openxmlformats.org/drawingml/2006/main">
            <a:off x="4762500" y="266700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ED7CF"/>
            </a:solidFill>
            <a:prstDash val="solid"/>
            <a:tailEnd type="arrow" w="med" len="med"/>
          </a:ln>
        </p:spPr>
      </p:cxnSp>
      <p:cxnSp>
        <p:nvCxnSpPr>
          <p:cNvPr id="229" name="直线箭头连接符 124"/>
          <p:cNvCxnSpPr>
            <a:stCxn xmlns:a="http://schemas.openxmlformats.org/drawingml/2006/main" id="42" idx="3"/>
            <a:endCxn xmlns:a="http://schemas.openxmlformats.org/drawingml/2006/main" id="43" idx="1"/>
          </p:cNvCxnSpPr>
          <p:nvPr/>
        </p:nvCxnSpPr>
        <p:spPr>
          <a:xfrm xmlns:a="http://schemas.openxmlformats.org/drawingml/2006/main">
            <a:off x="7048500" y="266700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ED7CF"/>
            </a:solidFill>
            <a:prstDash val="solid"/>
            <a:tailEnd type="arrow" w="med" len="med"/>
          </a:ln>
        </p:spPr>
      </p:cxnSp>
      <p:cxnSp>
        <p:nvCxnSpPr>
          <p:cNvPr id="230" name="直线箭头连接符 125"/>
          <p:cNvCxnSpPr>
            <a:stCxn xmlns:a="http://schemas.openxmlformats.org/drawingml/2006/main" id="43" idx="3"/>
            <a:endCxn xmlns:a="http://schemas.openxmlformats.org/drawingml/2006/main" id="44" idx="1"/>
          </p:cNvCxnSpPr>
          <p:nvPr/>
        </p:nvCxnSpPr>
        <p:spPr>
          <a:xfrm xmlns:a="http://schemas.openxmlformats.org/drawingml/2006/main">
            <a:off x="9334500" y="266700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ED7CF"/>
            </a:solidFill>
            <a:prstDash val="solid"/>
            <a:tailEnd type="arrow" w="med" len="med"/>
          </a:ln>
        </p:spPr>
      </p:cxnSp>
      <p:cxnSp>
        <p:nvCxnSpPr>
          <p:cNvPr id="231" name="直线箭头连接符 126"/>
          <p:cNvCxnSpPr>
            <a:stCxn xmlns:a="http://schemas.openxmlformats.org/drawingml/2006/main" id="45" idx="0"/>
            <a:endCxn xmlns:a="http://schemas.openxmlformats.org/drawingml/2006/main" id="41" idx="2"/>
          </p:cNvCxnSpPr>
          <p:nvPr/>
        </p:nvCxnSpPr>
        <p:spPr>
          <a:xfrm xmlns:a="http://schemas.openxmlformats.org/drawingml/2006/main" flipV="1">
            <a:off x="3905250" y="3190875"/>
            <a:ext cx="0" cy="10953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ED7CF"/>
            </a:solidFill>
            <a:prstDash val="solid"/>
            <a:tailEnd type="arrow" w="med" len="med"/>
          </a:ln>
        </p:spPr>
      </p:cxnSp>
      <p:cxnSp>
        <p:nvCxnSpPr>
          <p:cNvPr id="232" name="直线箭头连接符 127"/>
          <p:cNvCxnSpPr>
            <a:stCxn xmlns:a="http://schemas.openxmlformats.org/drawingml/2006/main" id="46" idx="0"/>
            <a:endCxn xmlns:a="http://schemas.openxmlformats.org/drawingml/2006/main" id="43" idx="2"/>
          </p:cNvCxnSpPr>
          <p:nvPr/>
        </p:nvCxnSpPr>
        <p:spPr>
          <a:xfrm xmlns:a="http://schemas.openxmlformats.org/drawingml/2006/main" flipV="1">
            <a:off x="8477250" y="3190875"/>
            <a:ext cx="0" cy="10953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ED7CF"/>
            </a:solidFill>
            <a:prstDash val="solid"/>
            <a:tailEnd type="arrow" w="med" len="med"/>
          </a:ln>
        </p:spPr>
      </p:cxnSp>
      <p:sp>
        <p:nvSpPr>
          <p:cNvPr id="53" name="圆角矩形 52">
            <a:extLst xmlns:a="http://schemas.openxmlformats.org/drawingml/2006/main">
              <a:ext uri="{FF2B5EF4-FFF2-40B4-BE49-F238E27FC236}">
                <a16:creationId xmlns:a16="http://schemas.microsoft.com/office/drawing/2014/main" id="{35FDCCDC-2307-447F-9A61-217D76E3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16192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102F3A"/>
          </a:solidFill>
          <a:ln xmlns:a="http://schemas.openxmlformats.org/drawingml/2006/main" w="9525">
            <a:solidFill>
              <a:srgbClr val="2349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矩形 53">
            <a:extLst xmlns:a="http://schemas.openxmlformats.org/drawingml/2006/main">
              <a:ext uri="{FF2B5EF4-FFF2-40B4-BE49-F238E27FC236}">
                <a16:creationId xmlns:a16="http://schemas.microsoft.com/office/drawing/2014/main" id="{A1BCE51A-BABC-489F-BF09-48EE8A299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76525"/>
            <a:ext cx="1352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User interface</a:t>
            </a:r>
          </a:p>
        </p:txBody>
      </p:sp>
      <p:sp>
        <p:nvSpPr>
          <p:cNvPr id="55" name="矩形 54">
            <a:extLst xmlns:a="http://schemas.openxmlformats.org/drawingml/2006/main">
              <a:ext uri="{FF2B5EF4-FFF2-40B4-BE49-F238E27FC236}">
                <a16:creationId xmlns:a16="http://schemas.microsoft.com/office/drawing/2014/main" id="{D228AC51-49CC-4CF1-B478-849A00B59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670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CDECE8"/>
                </a:solidFill>
              </a:defRPr>
            </a:pPr>
            <a:r>
              <a:rPr sz="975" b="0">
                <a:solidFill>
                  <a:srgbClr val="CDECE8"/>
                </a:solidFill>
              </a:rPr>
              <a:t>Search + decisions</a:t>
            </a:r>
          </a:p>
        </p:txBody>
      </p:sp>
      <p:sp>
        <p:nvSpPr>
          <p:cNvPr id="56" name="圆角矩形 55">
            <a:extLst xmlns:a="http://schemas.openxmlformats.org/drawingml/2006/main">
              <a:ext uri="{FF2B5EF4-FFF2-40B4-BE49-F238E27FC236}">
                <a16:creationId xmlns:a16="http://schemas.microsoft.com/office/drawing/2014/main" id="{28224BBC-5008-44E0-80DB-F323CC66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43125"/>
            <a:ext cx="1714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102F3A"/>
          </a:solidFill>
          <a:ln xmlns:a="http://schemas.openxmlformats.org/drawingml/2006/main" w="9525">
            <a:solidFill>
              <a:srgbClr val="2349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7" name="矩形 56">
            <a:extLst xmlns:a="http://schemas.openxmlformats.org/drawingml/2006/main">
              <a:ext uri="{FF2B5EF4-FFF2-40B4-BE49-F238E27FC236}">
                <a16:creationId xmlns:a16="http://schemas.microsoft.com/office/drawing/2014/main" id="{8D5BCAC5-60AC-43AB-A8AF-0828E3927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343150"/>
            <a:ext cx="1447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Profile data</a:t>
            </a:r>
          </a:p>
        </p:txBody>
      </p:sp>
      <p:sp>
        <p:nvSpPr>
          <p:cNvPr id="58" name="矩形 57">
            <a:extLst xmlns:a="http://schemas.openxmlformats.org/drawingml/2006/main">
              <a:ext uri="{FF2B5EF4-FFF2-40B4-BE49-F238E27FC236}">
                <a16:creationId xmlns:a16="http://schemas.microsoft.com/office/drawing/2014/main" id="{74C135BA-A4CF-4773-AAAA-DA054BE4D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733675"/>
            <a:ext cx="1447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CDECE8"/>
                </a:solidFill>
              </a:defRPr>
            </a:pPr>
            <a:r>
              <a:rPr sz="975" b="0">
                <a:solidFill>
                  <a:srgbClr val="CDECE8"/>
                </a:solidFill>
              </a:rPr>
              <a:t>Preferences + history</a:t>
            </a:r>
          </a:p>
        </p:txBody>
      </p:sp>
      <p:sp>
        <p:nvSpPr>
          <p:cNvPr id="59" name="圆角矩形 58">
            <a:extLst xmlns:a="http://schemas.openxmlformats.org/drawingml/2006/main">
              <a:ext uri="{FF2B5EF4-FFF2-40B4-BE49-F238E27FC236}">
                <a16:creationId xmlns:a16="http://schemas.microsoft.com/office/drawing/2014/main" id="{60E53889-5F05-4B5B-86F5-77D2BAFA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143125"/>
            <a:ext cx="1714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198B87"/>
          </a:solidFill>
          <a:ln xmlns:a="http://schemas.openxmlformats.org/drawingml/2006/main" w="9525">
            <a:solidFill>
              <a:srgbClr val="6ED7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0" name="矩形 59">
            <a:extLst xmlns:a="http://schemas.openxmlformats.org/drawingml/2006/main">
              <a:ext uri="{FF2B5EF4-FFF2-40B4-BE49-F238E27FC236}">
                <a16:creationId xmlns:a16="http://schemas.microsoft.com/office/drawing/2014/main" id="{BF747D41-8307-42CB-A163-356C13CDB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343150"/>
            <a:ext cx="1447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Compatibility engine</a:t>
            </a:r>
          </a:p>
        </p:txBody>
      </p:sp>
      <p:sp>
        <p:nvSpPr>
          <p:cNvPr id="61" name="矩形 60">
            <a:extLst xmlns:a="http://schemas.openxmlformats.org/drawingml/2006/main">
              <a:ext uri="{FF2B5EF4-FFF2-40B4-BE49-F238E27FC236}">
                <a16:creationId xmlns:a16="http://schemas.microsoft.com/office/drawing/2014/main" id="{8ED00915-E266-4879-A2B1-A808CD2EC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733675"/>
            <a:ext cx="1447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CDECE8"/>
                </a:solidFill>
              </a:defRPr>
            </a:pPr>
            <a:r>
              <a:rPr sz="975" b="0">
                <a:solidFill>
                  <a:srgbClr val="CDECE8"/>
                </a:solidFill>
              </a:rPr>
              <a:t>Preference fit—not safety</a:t>
            </a:r>
          </a:p>
        </p:txBody>
      </p:sp>
      <p:sp>
        <p:nvSpPr>
          <p:cNvPr id="62" name="圆角矩形 61">
            <a:extLst xmlns:a="http://schemas.openxmlformats.org/drawingml/2006/main">
              <a:ext uri="{FF2B5EF4-FFF2-40B4-BE49-F238E27FC236}">
                <a16:creationId xmlns:a16="http://schemas.microsoft.com/office/drawing/2014/main" id="{92D476EE-9314-4106-899C-8A4F4FAD2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43125"/>
            <a:ext cx="1714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102F3A"/>
          </a:solidFill>
          <a:ln xmlns:a="http://schemas.openxmlformats.org/drawingml/2006/main" w="9525">
            <a:solidFill>
              <a:srgbClr val="2349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3" name="矩形 62">
            <a:extLst xmlns:a="http://schemas.openxmlformats.org/drawingml/2006/main">
              <a:ext uri="{FF2B5EF4-FFF2-40B4-BE49-F238E27FC236}">
                <a16:creationId xmlns:a16="http://schemas.microsoft.com/office/drawing/2014/main" id="{4BEA95F0-A084-465F-A614-3D59C27A9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43150"/>
            <a:ext cx="1447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Guided messaging</a:t>
            </a:r>
          </a:p>
        </p:txBody>
      </p:sp>
      <p:sp>
        <p:nvSpPr>
          <p:cNvPr id="64" name="矩形 63">
            <a:extLst xmlns:a="http://schemas.openxmlformats.org/drawingml/2006/main">
              <a:ext uri="{FF2B5EF4-FFF2-40B4-BE49-F238E27FC236}">
                <a16:creationId xmlns:a16="http://schemas.microsoft.com/office/drawing/2014/main" id="{95B20D88-9504-4812-BECA-520FA5A86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733675"/>
            <a:ext cx="1447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CDECE8"/>
                </a:solidFill>
              </a:defRPr>
            </a:pPr>
            <a:r>
              <a:rPr sz="975" b="0">
                <a:solidFill>
                  <a:srgbClr val="CDECE8"/>
                </a:solidFill>
              </a:rPr>
              <a:t>Contact block + prompts</a:t>
            </a:r>
          </a:p>
        </p:txBody>
      </p:sp>
      <p:sp>
        <p:nvSpPr>
          <p:cNvPr id="65" name="圆角矩形 64">
            <a:extLst xmlns:a="http://schemas.openxmlformats.org/drawingml/2006/main">
              <a:ext uri="{FF2B5EF4-FFF2-40B4-BE49-F238E27FC236}">
                <a16:creationId xmlns:a16="http://schemas.microsoft.com/office/drawing/2014/main" id="{02BA1EFD-2269-4C9A-8327-D32A2FE53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143125"/>
            <a:ext cx="16192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102F3A"/>
          </a:solidFill>
          <a:ln xmlns:a="http://schemas.openxmlformats.org/drawingml/2006/main" w="9525">
            <a:solidFill>
              <a:srgbClr val="2349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" name="矩形 65">
            <a:extLst xmlns:a="http://schemas.openxmlformats.org/drawingml/2006/main">
              <a:ext uri="{FF2B5EF4-FFF2-40B4-BE49-F238E27FC236}">
                <a16:creationId xmlns:a16="http://schemas.microsoft.com/office/drawing/2014/main" id="{46215B4D-E4F8-40AF-BCF1-2AF1E3644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343150"/>
            <a:ext cx="1352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Agreement builder</a:t>
            </a:r>
          </a:p>
        </p:txBody>
      </p:sp>
      <p:sp>
        <p:nvSpPr>
          <p:cNvPr id="67" name="矩形 66">
            <a:extLst xmlns:a="http://schemas.openxmlformats.org/drawingml/2006/main">
              <a:ext uri="{FF2B5EF4-FFF2-40B4-BE49-F238E27FC236}">
                <a16:creationId xmlns:a16="http://schemas.microsoft.com/office/drawing/2014/main" id="{F311C7C5-F373-4D1D-B558-5308609B1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733675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CDECE8"/>
                </a:solidFill>
              </a:defRPr>
            </a:pPr>
            <a:r>
              <a:rPr sz="975" b="0">
                <a:solidFill>
                  <a:srgbClr val="CDECE8"/>
                </a:solidFill>
              </a:rPr>
              <a:t>Proposal + approval state</a:t>
            </a:r>
          </a:p>
        </p:txBody>
      </p:sp>
      <p:sp>
        <p:nvSpPr>
          <p:cNvPr id="68" name="圆角矩形 67">
            <a:extLst xmlns:a="http://schemas.openxmlformats.org/drawingml/2006/main">
              <a:ext uri="{FF2B5EF4-FFF2-40B4-BE49-F238E27FC236}">
                <a16:creationId xmlns:a16="http://schemas.microsoft.com/office/drawing/2014/main" id="{30E88E01-E060-4ACD-BA10-0ECB1C70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286250"/>
            <a:ext cx="17145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CDECE8"/>
          </a:solidFill>
          <a:ln xmlns:a="http://schemas.openxmlformats.org/drawingml/2006/main" w="9525">
            <a:solidFill>
              <a:srgbClr val="CDEC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9" name="矩形 68">
            <a:extLst xmlns:a="http://schemas.openxmlformats.org/drawingml/2006/main">
              <a:ext uri="{FF2B5EF4-FFF2-40B4-BE49-F238E27FC236}">
                <a16:creationId xmlns:a16="http://schemas.microsoft.com/office/drawing/2014/main" id="{3C6C94A3-B58A-469A-9773-54C6CCA9B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42912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E2A36"/>
                </a:solidFill>
              </a:defRPr>
            </a:pPr>
            <a:r>
              <a:rPr sz="1350" b="1">
                <a:solidFill>
                  <a:srgbClr val="0E2A36"/>
                </a:solidFill>
              </a:rPr>
              <a:t>Verification</a:t>
            </a:r>
          </a:p>
        </p:txBody>
      </p:sp>
      <p:sp>
        <p:nvSpPr>
          <p:cNvPr id="70" name="矩形 69">
            <a:extLst xmlns:a="http://schemas.openxmlformats.org/drawingml/2006/main">
              <a:ext uri="{FF2B5EF4-FFF2-40B4-BE49-F238E27FC236}">
                <a16:creationId xmlns:a16="http://schemas.microsoft.com/office/drawing/2014/main" id="{CBEF7849-7DCC-4327-879F-68F1B730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7625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5D7178"/>
                </a:solidFill>
              </a:defRPr>
            </a:pPr>
            <a:r>
              <a:rPr sz="825" b="0">
                <a:solidFill>
                  <a:srgbClr val="5D7178"/>
                </a:solidFill>
              </a:rPr>
              <a:t>Verified / pending / unverified</a:t>
            </a:r>
          </a:p>
        </p:txBody>
      </p:sp>
      <p:sp>
        <p:nvSpPr>
          <p:cNvPr id="71" name="圆角矩形 70">
            <a:extLst xmlns:a="http://schemas.openxmlformats.org/drawingml/2006/main">
              <a:ext uri="{FF2B5EF4-FFF2-40B4-BE49-F238E27FC236}">
                <a16:creationId xmlns:a16="http://schemas.microsoft.com/office/drawing/2014/main" id="{C867547D-A357-4DA6-BC12-49E6E8C8D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286250"/>
            <a:ext cx="17145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D8D1"/>
          </a:solidFill>
          <a:ln xmlns:a="http://schemas.openxmlformats.org/drawingml/2006/main" w="9525">
            <a:solidFill>
              <a:srgbClr val="F7D8D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2" name="矩形 71">
            <a:extLst xmlns:a="http://schemas.openxmlformats.org/drawingml/2006/main">
              <a:ext uri="{FF2B5EF4-FFF2-40B4-BE49-F238E27FC236}">
                <a16:creationId xmlns:a16="http://schemas.microsoft.com/office/drawing/2014/main" id="{A52C3354-0B02-41CA-B356-C1D81888A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2912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E2A36"/>
                </a:solidFill>
              </a:defRPr>
            </a:pPr>
            <a:r>
              <a:rPr sz="1350" b="1">
                <a:solidFill>
                  <a:srgbClr val="0E2A36"/>
                </a:solidFill>
              </a:rPr>
              <a:t>Privacy</a:t>
            </a:r>
          </a:p>
        </p:txBody>
      </p:sp>
      <p:sp>
        <p:nvSpPr>
          <p:cNvPr id="73" name="矩形 72">
            <a:extLst xmlns:a="http://schemas.openxmlformats.org/drawingml/2006/main">
              <a:ext uri="{FF2B5EF4-FFF2-40B4-BE49-F238E27FC236}">
                <a16:creationId xmlns:a16="http://schemas.microsoft.com/office/drawing/2014/main" id="{85C33644-BA0C-4426-A848-DC41028EF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7625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5D7178"/>
                </a:solidFill>
              </a:defRPr>
            </a:pPr>
            <a:r>
              <a:rPr sz="825" b="0">
                <a:solidFill>
                  <a:srgbClr val="5D7178"/>
                </a:solidFill>
              </a:rPr>
              <a:t>Consent / alert / block</a:t>
            </a:r>
          </a:p>
        </p:txBody>
      </p:sp>
      <p:sp>
        <p:nvSpPr>
          <p:cNvPr id="74" name="矩形 73">
            <a:extLst xmlns:a="http://schemas.openxmlformats.org/drawingml/2006/main">
              <a:ext uri="{FF2B5EF4-FFF2-40B4-BE49-F238E27FC236}">
                <a16:creationId xmlns:a16="http://schemas.microsoft.com/office/drawing/2014/main" id="{C9F6C067-FCBD-41AC-B143-CE20D398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695950"/>
            <a:ext cx="762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CDECE8"/>
                </a:solidFill>
              </a:defRPr>
            </a:pPr>
            <a:r>
              <a:rPr sz="1350" b="0">
                <a:solidFill>
                  <a:srgbClr val="CDECE8"/>
                </a:solidFill>
              </a:rPr>
              <a:t>Search recovery, score meaning and status feedback became the key iteration points.</a:t>
            </a:r>
          </a:p>
        </p:txBody>
      </p:sp>
      <p:sp>
        <p:nvSpPr>
          <p:cNvPr id="75" name="矩形 74">
            <a:extLst xmlns:a="http://schemas.openxmlformats.org/drawingml/2006/main">
              <a:ext uri="{FF2B5EF4-FFF2-40B4-BE49-F238E27FC236}">
                <a16:creationId xmlns:a16="http://schemas.microsoft.com/office/drawing/2014/main" id="{21903167-B1D2-49DC-A6FE-D040A988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955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6" name="矩形 75">
            <a:extLst xmlns:a="http://schemas.openxmlformats.org/drawingml/2006/main">
              <a:ext uri="{FF2B5EF4-FFF2-40B4-BE49-F238E27FC236}">
                <a16:creationId xmlns:a16="http://schemas.microsoft.com/office/drawing/2014/main" id="{47B401BA-6ED3-4AE9-B92F-E0987406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5B9B1"/>
                </a:solidFill>
              </a:defRPr>
            </a:pPr>
            <a:r>
              <a:rPr sz="825" b="0">
                <a:solidFill>
                  <a:srgbClr val="55B9B1"/>
                </a:solidFill>
              </a:rPr>
              <a:t>RoomMate Haven · Technical architecture</a:t>
            </a:r>
          </a:p>
        </p:txBody>
      </p:sp>
    </p:spTree>
    <p:extLst>
      <p:ext uri="{BB962C8B-B14F-4D97-AF65-F5344CB8AC3E}">
        <p14:creationId xmlns:p14="http://schemas.microsoft.com/office/powerpoint/2010/main" val="193706273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矩形 59">
            <a:extLst xmlns:a="http://schemas.openxmlformats.org/drawingml/2006/main">
              <a:ext uri="{FF2B5EF4-FFF2-40B4-BE49-F238E27FC236}">
                <a16:creationId xmlns:a16="http://schemas.microsoft.com/office/drawing/2014/main" id="{000B165D-3FE8-4FE9-9305-1011D81BC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0A9623EE-868B-406E-86C8-1DDE8AA4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65CD6612-3EDD-4C3F-B7A0-27CC1E9FD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6FC7A38A-C8E1-4254-A077-5E7702F5F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80A23396-3FF1-4EE5-A2DF-547F29D04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3084560-D26B-4555-A7D6-DABC983F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6274FB8C-4608-430E-A780-23014F0A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B259224-41B4-47DA-BB17-72FD12EA7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E2031821-9419-4020-91F6-A0F94FAE1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9EDF477-93F3-43E5-A949-BAC33D229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471D84DC-AFA4-4257-9EB5-823CA1976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B7EB309-1A5B-49D7-AA71-C32E707DF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4A76901D-D9D3-4EBE-B051-328BD7A3D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795DB93F-8F93-410B-A146-02057F897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FFF8151C-20B6-40FA-BC1A-5F4339961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9C91E4A5-1215-4E0B-8A96-B8DE613C2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91900B37-4024-4EC6-9128-F8DF8B61A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C18E56F6-9AF2-452F-B2E6-37E2DB6A9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89023235-DE4D-4929-A526-C01DCCDD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5DB409FE-342A-4BE8-8157-5834F0E9D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082D441C-C121-4E76-BE7D-CEE329C3E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138EDE67-56F9-474C-A235-1AE7E3CC2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1AE80B5A-A17F-4B1F-8122-63AEB2218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281F2000-82FB-48DE-AD70-AE996116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565A404D-5CE4-420D-B133-F12406928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87A3965C-CFBA-46C6-801E-A21B7E5F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04EAAF9E-4C2F-4747-8F48-F168105E1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F7BF8262-90AB-4010-8C3C-3F408AD99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8B87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87FCED06-FD87-4E73-8842-E90BB1D68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"/>
            <a:ext cx="2743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D7178"/>
                </a:solidFill>
              </a:defRPr>
            </a:pPr>
            <a:r>
              <a:rPr sz="750" b="1">
                <a:solidFill>
                  <a:srgbClr val="5D7178"/>
                </a:solidFill>
              </a:rPr>
              <a:t>ROOMMATE HAVEN / SYSTEM VIEW</a:t>
            </a:r>
          </a:p>
        </p:txBody>
      </p:sp>
      <p:sp>
        <p:nvSpPr>
          <p:cNvPr id="30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F1F4DCFB-3DB0-4E0D-9659-8C42692DC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8B87"/>
                </a:solidFill>
              </a:defRPr>
            </a:pPr>
            <a:r>
              <a:rPr sz="1050" b="1">
                <a:solidFill>
                  <a:srgbClr val="198B87"/>
                </a:solidFill>
              </a:rPr>
              <a:t>FINAL TESTING</a:t>
            </a:r>
          </a:p>
        </p:txBody>
      </p:sp>
      <p:sp>
        <p:nvSpPr>
          <p:cNvPr id="3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05062BC-4CE9-453B-B839-031E5EB44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2252D"/>
                </a:solidFill>
              </a:defRPr>
            </a:pPr>
            <a:r>
              <a:rPr sz="2850" b="1">
                <a:solidFill>
                  <a:srgbClr val="12252D"/>
                </a:solidFill>
              </a:rPr>
              <a:t>Trust cues worked—but meaning gaps remained.</a:t>
            </a:r>
          </a:p>
        </p:txBody>
      </p:sp>
      <p:sp>
        <p:nvSpPr>
          <p:cNvPr id="3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7969B43-6BE4-41CA-8EBA-B2C67B856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572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D7178"/>
                </a:solidFill>
              </a:defRPr>
            </a:pPr>
            <a:r>
              <a:rPr sz="975" b="1">
                <a:solidFill>
                  <a:srgbClr val="5D7178"/>
                </a:solidFill>
              </a:rPr>
              <a:t>09</a:t>
            </a:r>
          </a:p>
        </p:txBody>
      </p:sp>
      <p:sp>
        <p:nvSpPr>
          <p:cNvPr id="33" name="矩形 32">
            <a:extLst xmlns:a="http://schemas.openxmlformats.org/drawingml/2006/main">
              <a:ext uri="{FF2B5EF4-FFF2-40B4-BE49-F238E27FC236}">
                <a16:creationId xmlns:a16="http://schemas.microsoft.com/office/drawing/2014/main" id="{5E0A8FA0-7914-4765-8201-A2AB5FA95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E2A36"/>
                </a:solidFill>
              </a:defRPr>
            </a:pPr>
            <a:r>
              <a:rPr sz="1800" b="1">
                <a:solidFill>
                  <a:srgbClr val="0E2A36"/>
                </a:solidFill>
              </a:rPr>
              <a:t>PASS</a:t>
            </a:r>
          </a:p>
        </p:txBody>
      </p:sp>
      <p:sp>
        <p:nvSpPr>
          <p:cNvPr id="34" name="圆角矩形 33">
            <a:extLst xmlns:a="http://schemas.openxmlformats.org/drawingml/2006/main">
              <a:ext uri="{FF2B5EF4-FFF2-40B4-BE49-F238E27FC236}">
                <a16:creationId xmlns:a16="http://schemas.microsoft.com/office/drawing/2014/main" id="{89001633-FFF7-416B-880D-58E8B670B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3048000" cy="25336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圆角矩形 34">
            <a:extLst xmlns:a="http://schemas.openxmlformats.org/drawingml/2006/main">
              <a:ext uri="{FF2B5EF4-FFF2-40B4-BE49-F238E27FC236}">
                <a16:creationId xmlns:a16="http://schemas.microsoft.com/office/drawing/2014/main" id="{C498B361-5E8D-4439-A641-244472A1E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14650"/>
            <a:ext cx="2476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2F3EC"/>
          </a:solidFill>
          <a:ln xmlns:a="http://schemas.openxmlformats.org/drawingml/2006/main" w="9525">
            <a:solidFill>
              <a:srgbClr val="2B9A7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矩形 35">
            <a:extLst xmlns:a="http://schemas.openxmlformats.org/drawingml/2006/main">
              <a:ext uri="{FF2B5EF4-FFF2-40B4-BE49-F238E27FC236}">
                <a16:creationId xmlns:a16="http://schemas.microsoft.com/office/drawing/2014/main" id="{9DE53C77-70F1-4BC2-8BCA-10736BF08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575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252D"/>
                </a:solidFill>
              </a:defRPr>
            </a:pPr>
            <a:r>
              <a:rPr sz="1200" b="1">
                <a:solidFill>
                  <a:srgbClr val="12252D"/>
                </a:solidFill>
              </a:rPr>
              <a:t>Verification cues</a:t>
            </a:r>
          </a:p>
        </p:txBody>
      </p:sp>
      <p:sp>
        <p:nvSpPr>
          <p:cNvPr id="37" name="矩形 36">
            <a:extLst xmlns:a="http://schemas.openxmlformats.org/drawingml/2006/main">
              <a:ext uri="{FF2B5EF4-FFF2-40B4-BE49-F238E27FC236}">
                <a16:creationId xmlns:a16="http://schemas.microsoft.com/office/drawing/2014/main" id="{98B1789C-106C-4934-A900-85C8D529A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5623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B9A73"/>
                </a:solidFill>
              </a:defRPr>
            </a:pPr>
            <a:r>
              <a:rPr sz="1650" b="1">
                <a:solidFill>
                  <a:srgbClr val="2B9A73"/>
                </a:solidFill>
              </a:rPr>
              <a:t>↓</a:t>
            </a:r>
          </a:p>
        </p:txBody>
      </p:sp>
      <p:sp>
        <p:nvSpPr>
          <p:cNvPr id="38" name="矩形 37">
            <a:extLst xmlns:a="http://schemas.openxmlformats.org/drawingml/2006/main">
              <a:ext uri="{FF2B5EF4-FFF2-40B4-BE49-F238E27FC236}">
                <a16:creationId xmlns:a16="http://schemas.microsoft.com/office/drawing/2014/main" id="{9D4E4153-920B-4CBB-832B-AC97404A3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12252D"/>
                </a:solidFill>
              </a:defRPr>
            </a:pPr>
            <a:r>
              <a:rPr sz="1275" b="0">
                <a:solidFill>
                  <a:srgbClr val="12252D"/>
                </a:solidFill>
              </a:rPr>
              <a:t>5/5 independent</a:t>
            </a:r>
          </a:p>
        </p:txBody>
      </p:sp>
      <p:sp>
        <p:nvSpPr>
          <p:cNvPr id="39" name="矩形 38">
            <a:extLst xmlns:a="http://schemas.openxmlformats.org/drawingml/2006/main">
              <a:ext uri="{FF2B5EF4-FFF2-40B4-BE49-F238E27FC236}">
                <a16:creationId xmlns:a16="http://schemas.microsoft.com/office/drawing/2014/main" id="{0DA1CDC1-4C4C-4902-AEC6-60889DB76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3243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B9A73"/>
                </a:solidFill>
              </a:defRPr>
            </a:pPr>
            <a:r>
              <a:rPr sz="1650" b="1">
                <a:solidFill>
                  <a:srgbClr val="2B9A73"/>
                </a:solidFill>
              </a:rPr>
              <a:t>↓</a:t>
            </a:r>
          </a:p>
        </p:txBody>
      </p:sp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E9E49803-5BF7-4DAE-B66B-8DB9EA7BE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48200"/>
            <a:ext cx="243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2B9A73"/>
                </a:solidFill>
              </a:defRPr>
            </a:pPr>
            <a:r>
              <a:rPr sz="1275" b="1">
                <a:solidFill>
                  <a:srgbClr val="2B9A73"/>
                </a:solidFill>
              </a:rPr>
              <a:t>No help · text + icon</a:t>
            </a:r>
          </a:p>
        </p:txBody>
      </p:sp>
      <p:sp>
        <p:nvSpPr>
          <p:cNvPr id="41" name="矩形 40">
            <a:extLst xmlns:a="http://schemas.openxmlformats.org/drawingml/2006/main">
              <a:ext uri="{FF2B5EF4-FFF2-40B4-BE49-F238E27FC236}">
                <a16:creationId xmlns:a16="http://schemas.microsoft.com/office/drawing/2014/main" id="{371F4FD4-3ED4-4442-B4FE-17A08B68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E2A36"/>
                </a:solidFill>
              </a:defRPr>
            </a:pPr>
            <a:r>
              <a:rPr sz="1800" b="1">
                <a:solidFill>
                  <a:srgbClr val="0E2A36"/>
                </a:solidFill>
              </a:rPr>
              <a:t>PARTIAL</a:t>
            </a:r>
          </a:p>
        </p:txBody>
      </p:sp>
      <p:sp>
        <p:nvSpPr>
          <p:cNvPr id="42" name="圆角矩形 41">
            <a:extLst xmlns:a="http://schemas.openxmlformats.org/drawingml/2006/main">
              <a:ext uri="{FF2B5EF4-FFF2-40B4-BE49-F238E27FC236}">
                <a16:creationId xmlns:a16="http://schemas.microsoft.com/office/drawing/2014/main" id="{85E28982-1FF0-4790-B242-E59704D1B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09850"/>
            <a:ext cx="3048000" cy="25336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圆角矩形 42">
            <a:extLst xmlns:a="http://schemas.openxmlformats.org/drawingml/2006/main">
              <a:ext uri="{FF2B5EF4-FFF2-40B4-BE49-F238E27FC236}">
                <a16:creationId xmlns:a16="http://schemas.microsoft.com/office/drawing/2014/main" id="{9BD9D89C-FC53-4F9A-A10F-C2932FC36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914650"/>
            <a:ext cx="2476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7D8D1"/>
          </a:solidFill>
          <a:ln xmlns:a="http://schemas.openxmlformats.org/drawingml/2006/main" w="9525">
            <a:solidFill>
              <a:srgbClr val="E77C6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矩形 43">
            <a:extLst xmlns:a="http://schemas.openxmlformats.org/drawingml/2006/main">
              <a:ext uri="{FF2B5EF4-FFF2-40B4-BE49-F238E27FC236}">
                <a16:creationId xmlns:a16="http://schemas.microsoft.com/office/drawing/2014/main" id="{95FB4E01-3721-4A44-BD9D-F2528A00F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0575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252D"/>
                </a:solidFill>
              </a:defRPr>
            </a:pPr>
            <a:r>
              <a:rPr sz="1200" b="1">
                <a:solidFill>
                  <a:srgbClr val="12252D"/>
                </a:solidFill>
              </a:rPr>
              <a:t>Compatibility meaning</a:t>
            </a:r>
          </a:p>
        </p:txBody>
      </p:sp>
      <p:sp>
        <p:nvSpPr>
          <p:cNvPr id="45" name="矩形 44">
            <a:extLst xmlns:a="http://schemas.openxmlformats.org/drawingml/2006/main">
              <a:ext uri="{FF2B5EF4-FFF2-40B4-BE49-F238E27FC236}">
                <a16:creationId xmlns:a16="http://schemas.microsoft.com/office/drawing/2014/main" id="{07D82416-067A-435E-9F50-399F3A481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5623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77C64"/>
                </a:solidFill>
              </a:defRPr>
            </a:pPr>
            <a:r>
              <a:rPr sz="1650" b="1">
                <a:solidFill>
                  <a:srgbClr val="E77C64"/>
                </a:solidFill>
              </a:rPr>
              <a:t>↓</a:t>
            </a:r>
          </a:p>
        </p:txBody>
      </p:sp>
      <p:sp>
        <p:nvSpPr>
          <p:cNvPr id="46" name="矩形 45">
            <a:extLst xmlns:a="http://schemas.openxmlformats.org/drawingml/2006/main">
              <a:ext uri="{FF2B5EF4-FFF2-40B4-BE49-F238E27FC236}">
                <a16:creationId xmlns:a16="http://schemas.microsoft.com/office/drawing/2014/main" id="{1E6831D3-4329-41DE-BCB7-D3FDEF80B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90525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12252D"/>
                </a:solidFill>
              </a:defRPr>
            </a:pPr>
            <a:r>
              <a:rPr sz="1275" b="0">
                <a:solidFill>
                  <a:srgbClr val="12252D"/>
                </a:solidFill>
              </a:rPr>
              <a:t>2/5 separated fit from safety</a:t>
            </a:r>
          </a:p>
        </p:txBody>
      </p:sp>
      <p:sp>
        <p:nvSpPr>
          <p:cNvPr id="47" name="矩形 46">
            <a:extLst xmlns:a="http://schemas.openxmlformats.org/drawingml/2006/main">
              <a:ext uri="{FF2B5EF4-FFF2-40B4-BE49-F238E27FC236}">
                <a16:creationId xmlns:a16="http://schemas.microsoft.com/office/drawing/2014/main" id="{4036E72D-1383-4E01-ADF4-E9F226CCE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3243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77C64"/>
                </a:solidFill>
              </a:defRPr>
            </a:pPr>
            <a:r>
              <a:rPr sz="1650" b="1">
                <a:solidFill>
                  <a:srgbClr val="E77C64"/>
                </a:solidFill>
              </a:rPr>
              <a:t>↓</a:t>
            </a:r>
          </a:p>
        </p:txBody>
      </p:sp>
      <p:sp>
        <p:nvSpPr>
          <p:cNvPr id="48" name="矩形 47">
            <a:extLst xmlns:a="http://schemas.openxmlformats.org/drawingml/2006/main">
              <a:ext uri="{FF2B5EF4-FFF2-40B4-BE49-F238E27FC236}">
                <a16:creationId xmlns:a16="http://schemas.microsoft.com/office/drawing/2014/main" id="{8B31EC20-7E51-4078-A5D4-8111F6D64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648200"/>
            <a:ext cx="243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E77C64"/>
                </a:solidFill>
              </a:defRPr>
            </a:pPr>
            <a:r>
              <a:rPr sz="1275" b="1">
                <a:solidFill>
                  <a:srgbClr val="E77C64"/>
                </a:solidFill>
              </a:rPr>
              <a:t>Explain score limits</a:t>
            </a:r>
          </a:p>
        </p:txBody>
      </p:sp>
      <p:sp>
        <p:nvSpPr>
          <p:cNvPr id="49" name="矩形 48">
            <a:extLst xmlns:a="http://schemas.openxmlformats.org/drawingml/2006/main">
              <a:ext uri="{FF2B5EF4-FFF2-40B4-BE49-F238E27FC236}">
                <a16:creationId xmlns:a16="http://schemas.microsoft.com/office/drawing/2014/main" id="{7B26FD35-4AFF-4D62-B5BF-8BD39DFDA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955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E2A36"/>
                </a:solidFill>
              </a:defRPr>
            </a:pPr>
            <a:r>
              <a:rPr sz="1800" b="1">
                <a:solidFill>
                  <a:srgbClr val="0E2A36"/>
                </a:solidFill>
              </a:rPr>
              <a:t>FAIL</a:t>
            </a:r>
          </a:p>
        </p:txBody>
      </p:sp>
      <p:sp>
        <p:nvSpPr>
          <p:cNvPr id="50" name="圆角矩形 49">
            <a:extLst xmlns:a="http://schemas.openxmlformats.org/drawingml/2006/main">
              <a:ext uri="{FF2B5EF4-FFF2-40B4-BE49-F238E27FC236}">
                <a16:creationId xmlns:a16="http://schemas.microsoft.com/office/drawing/2014/main" id="{49F7EC85-ECD6-4FFA-BE84-AFD3CC16C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09850"/>
            <a:ext cx="3048000" cy="25336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圆角矩形 50">
            <a:extLst xmlns:a="http://schemas.openxmlformats.org/drawingml/2006/main">
              <a:ext uri="{FF2B5EF4-FFF2-40B4-BE49-F238E27FC236}">
                <a16:creationId xmlns:a16="http://schemas.microsoft.com/office/drawing/2014/main" id="{3F78F199-01B7-40B8-BC92-6D4CFD8A4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914650"/>
            <a:ext cx="2476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AEED5"/>
          </a:solidFill>
          <a:ln xmlns:a="http://schemas.openxmlformats.org/drawingml/2006/main" w="9525">
            <a:solidFill>
              <a:srgbClr val="E9B85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2" name="矩形 51">
            <a:extLst xmlns:a="http://schemas.openxmlformats.org/drawingml/2006/main">
              <a:ext uri="{FF2B5EF4-FFF2-40B4-BE49-F238E27FC236}">
                <a16:creationId xmlns:a16="http://schemas.microsoft.com/office/drawing/2014/main" id="{E81D6851-693D-4E31-A329-6FF9398D6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0575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252D"/>
                </a:solidFill>
              </a:defRPr>
            </a:pPr>
            <a:r>
              <a:rPr sz="1200" b="1">
                <a:solidFill>
                  <a:srgbClr val="12252D"/>
                </a:solidFill>
              </a:rPr>
              <a:t>Rule activation</a:t>
            </a:r>
          </a:p>
        </p:txBody>
      </p:sp>
      <p:sp>
        <p:nvSpPr>
          <p:cNvPr id="53" name="矩形 52">
            <a:extLst xmlns:a="http://schemas.openxmlformats.org/drawingml/2006/main">
              <a:ext uri="{FF2B5EF4-FFF2-40B4-BE49-F238E27FC236}">
                <a16:creationId xmlns:a16="http://schemas.microsoft.com/office/drawing/2014/main" id="{B079357C-0E55-41C5-A28C-2AA622CF3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5623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9B85F"/>
                </a:solidFill>
              </a:defRPr>
            </a:pPr>
            <a:r>
              <a:rPr sz="1650" b="1">
                <a:solidFill>
                  <a:srgbClr val="E9B85F"/>
                </a:solidFill>
              </a:rPr>
              <a:t>↓</a:t>
            </a:r>
          </a:p>
        </p:txBody>
      </p:sp>
      <p:sp>
        <p:nvSpPr>
          <p:cNvPr id="54" name="矩形 53">
            <a:extLst xmlns:a="http://schemas.openxmlformats.org/drawingml/2006/main">
              <a:ext uri="{FF2B5EF4-FFF2-40B4-BE49-F238E27FC236}">
                <a16:creationId xmlns:a16="http://schemas.microsoft.com/office/drawing/2014/main" id="{F721E12F-B6AE-4ADE-A546-01B8DF163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0525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12252D"/>
                </a:solidFill>
              </a:defRPr>
            </a:pPr>
            <a:r>
              <a:rPr sz="1275" b="0">
                <a:solidFill>
                  <a:srgbClr val="12252D"/>
                </a:solidFill>
              </a:rPr>
              <a:t>AC-US10-02 failed</a:t>
            </a:r>
          </a:p>
        </p:txBody>
      </p:sp>
      <p:sp>
        <p:nvSpPr>
          <p:cNvPr id="55" name="矩形 54">
            <a:extLst xmlns:a="http://schemas.openxmlformats.org/drawingml/2006/main">
              <a:ext uri="{FF2B5EF4-FFF2-40B4-BE49-F238E27FC236}">
                <a16:creationId xmlns:a16="http://schemas.microsoft.com/office/drawing/2014/main" id="{C3CB13D6-F378-44D1-A3A7-3F04F6DAB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3243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9B85F"/>
                </a:solidFill>
              </a:defRPr>
            </a:pPr>
            <a:r>
              <a:rPr sz="1650" b="1">
                <a:solidFill>
                  <a:srgbClr val="E9B85F"/>
                </a:solidFill>
              </a:rPr>
              <a:t>↓</a:t>
            </a:r>
          </a:p>
        </p:txBody>
      </p:sp>
      <p:sp>
        <p:nvSpPr>
          <p:cNvPr id="56" name="矩形 55">
            <a:extLst xmlns:a="http://schemas.openxmlformats.org/drawingml/2006/main">
              <a:ext uri="{FF2B5EF4-FFF2-40B4-BE49-F238E27FC236}">
                <a16:creationId xmlns:a16="http://schemas.microsoft.com/office/drawing/2014/main" id="{EA8418A2-84BC-4C4B-90AC-0A4C9CF17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648200"/>
            <a:ext cx="243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E9B85F"/>
                </a:solidFill>
              </a:defRPr>
            </a:pPr>
            <a:r>
              <a:rPr sz="1275" b="1">
                <a:solidFill>
                  <a:srgbClr val="E9B85F"/>
                </a:solidFill>
              </a:rPr>
              <a:t>Clarify activation</a:t>
            </a:r>
          </a:p>
        </p:txBody>
      </p:sp>
      <p:sp>
        <p:nvSpPr>
          <p:cNvPr id="57" name="矩形 56">
            <a:extLst xmlns:a="http://schemas.openxmlformats.org/drawingml/2006/main">
              <a:ext uri="{FF2B5EF4-FFF2-40B4-BE49-F238E27FC236}">
                <a16:creationId xmlns:a16="http://schemas.microsoft.com/office/drawing/2014/main" id="{1DCE9C99-6B21-4063-816D-7A85738EF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600700"/>
            <a:ext cx="864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E2A36"/>
                </a:solidFill>
              </a:defRPr>
            </a:pPr>
            <a:r>
              <a:rPr sz="1875" b="1">
                <a:solidFill>
                  <a:srgbClr val="0E2A36"/>
                </a:solidFill>
              </a:rPr>
              <a:t>The contact-detail warning improved from Fail → Pass after Iteration 2.</a:t>
            </a:r>
          </a:p>
        </p:txBody>
      </p:sp>
      <p:sp>
        <p:nvSpPr>
          <p:cNvPr id="58" name="矩形 57">
            <a:extLst xmlns:a="http://schemas.openxmlformats.org/drawingml/2006/main">
              <a:ext uri="{FF2B5EF4-FFF2-40B4-BE49-F238E27FC236}">
                <a16:creationId xmlns:a16="http://schemas.microsoft.com/office/drawing/2014/main" id="{88895992-9496-47AB-916E-4D520622C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8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9" name="矩形 58">
            <a:extLst xmlns:a="http://schemas.openxmlformats.org/drawingml/2006/main">
              <a:ext uri="{FF2B5EF4-FFF2-40B4-BE49-F238E27FC236}">
                <a16:creationId xmlns:a16="http://schemas.microsoft.com/office/drawing/2014/main" id="{902FB8C7-0E8E-42ED-B807-5DD806933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178"/>
                </a:solidFill>
              </a:defRPr>
            </a:pPr>
            <a:r>
              <a:rPr sz="825" b="0">
                <a:solidFill>
                  <a:srgbClr val="5D7178"/>
                </a:solidFill>
              </a:rPr>
              <a:t>RoomMate Haven · Final usability testing</a:t>
            </a:r>
          </a:p>
        </p:txBody>
      </p:sp>
    </p:spTree>
    <p:extLst>
      <p:ext uri="{BB962C8B-B14F-4D97-AF65-F5344CB8AC3E}">
        <p14:creationId xmlns:p14="http://schemas.microsoft.com/office/powerpoint/2010/main" val="210853871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78B8F5B3-D0EF-462B-9BA0-53E63D04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8B87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2EA1A28-0228-4109-B002-8EF70997B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"/>
            <a:ext cx="2743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D7178"/>
                </a:solidFill>
              </a:defRPr>
            </a:pPr>
            <a:r>
              <a:rPr sz="750" b="1">
                <a:solidFill>
                  <a:srgbClr val="5D7178"/>
                </a:solidFill>
              </a:rPr>
              <a:t>ROOMMATE HAVEN / SYSTEM VIEW</a:t>
            </a:r>
          </a:p>
        </p:txBody>
      </p:sp>
      <p:sp>
        <p:nvSpPr>
          <p:cNvPr id="3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BB3FD19F-1135-44D7-BFCD-7C565986A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8B87"/>
                </a:solidFill>
              </a:defRPr>
            </a:pPr>
            <a:r>
              <a:rPr sz="1050" b="1">
                <a:solidFill>
                  <a:srgbClr val="198B87"/>
                </a:solidFill>
              </a:rPr>
              <a:t>FINAL TESTING RESULTS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DEAA11A-71B5-467C-917C-CA5A6BA6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2252D"/>
                </a:solidFill>
              </a:defRPr>
            </a:pPr>
            <a:r>
              <a:rPr sz="2850" b="1">
                <a:solidFill>
                  <a:srgbClr val="12252D"/>
                </a:solidFill>
              </a:rPr>
              <a:t>Two iterations produced measurable design changes.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F06792B-7978-4A98-998F-781A64A25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990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D7178"/>
                </a:solidFill>
              </a:defRPr>
            </a:pPr>
            <a:r>
              <a:rPr sz="1425" b="0">
                <a:solidFill>
                  <a:srgbClr val="5D7178"/>
                </a:solidFill>
              </a:rPr>
              <a:t>Five participants · moderated think-aloud · tablet, laptop and mobile</a:t>
            </a:r>
          </a:p>
        </p:txBody>
      </p:sp>
      <p:sp>
        <p:nvSpPr>
          <p:cNvPr id="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DD91244-ED2B-42FE-A6CB-DF9E0F529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572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D7178"/>
                </a:solidFill>
              </a:defRPr>
            </a:pPr>
            <a:r>
              <a:rPr sz="975" b="1">
                <a:solidFill>
                  <a:srgbClr val="5D7178"/>
                </a:solidFill>
              </a:rPr>
              <a:t>10</a:t>
            </a:r>
          </a:p>
        </p:txBody>
      </p:sp>
      <p:graphicFrame>
        <p:nvGraphicFramePr>
          <p:cNvPr id="21" name="表格 18"/>
          <p:cNvGraphicFramePr/>
          <p:nvPr/>
        </p:nvGraphicFramePr>
        <p:xfrm>
          <a:off xmlns:a="http://schemas.openxmlformats.org/drawingml/2006/main" x="685800" y="2038350"/>
          <a:ext xmlns:a="http://schemas.openxmlformats.org/drawingml/2006/main" cx="10820400" cy="32956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2762250"/>
                <a:gridCol w="2762250"/>
                <a:gridCol w="2628900"/>
              </a:tblGrid>
              <a:tr h="65913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133350" marR="133350" marT="114300" marB="95250">
                    <a:solidFill>
                      <a:srgbClr val="0E2A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Observed result</a:t>
                      </a:r>
                    </a:p>
                  </a:txBody>
                  <a:tcPr marL="133350" marR="133350" marT="114300" marB="95250">
                    <a:solidFill>
                      <a:srgbClr val="0E2A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Evidence</a:t>
                      </a:r>
                    </a:p>
                  </a:txBody>
                  <a:tcPr marL="133350" marR="133350" marT="114300" marB="95250">
                    <a:solidFill>
                      <a:srgbClr val="0E2A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133350" marR="133350" marT="114300" marB="95250">
                    <a:solidFill>
                      <a:srgbClr val="0E2A36"/>
                    </a:solidFill>
                  </a:tcPr>
                </a:tc>
              </a:tr>
              <a:tr h="65913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Search recovery</a:t>
                      </a:r>
                    </a:p>
                  </a:txBody>
                  <a:tcPr marL="133350" marR="133350" marT="114300" marB="95250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4/5 independent</a:t>
                      </a:r>
                    </a:p>
                  </a:txBody>
                  <a:tcPr marL="133350" marR="133350" marT="114300" marB="95250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44 s median; 4/5 understood recovery</a:t>
                      </a:r>
                    </a:p>
                  </a:txBody>
                  <a:tcPr marL="133350" marR="133350" marT="114300" marB="95250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PASS</a:t>
                      </a:r>
                    </a:p>
                  </a:txBody>
                  <a:tcPr marL="133350" marR="133350" marT="114300" marB="95250">
                    <a:solidFill>
                      <a:srgbClr val="F8FAF9"/>
                    </a:solidFill>
                  </a:tcPr>
                </a:tc>
              </a:tr>
              <a:tr h="65913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Verification cues</a:t>
                      </a:r>
                    </a:p>
                  </a:txBody>
                  <a:tcPr marL="133350" marR="133350" marT="114300" marB="95250"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5/5 independent</a:t>
                      </a:r>
                    </a:p>
                  </a:txBody>
                  <a:tcPr marL="133350" marR="133350" marT="114300" marB="95250"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No help; text + icon cues</a:t>
                      </a:r>
                    </a:p>
                  </a:txBody>
                  <a:tcPr marL="133350" marR="133350" marT="114300" marB="95250"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PASS</a:t>
                      </a:r>
                    </a:p>
                  </a:txBody>
                  <a:tcPr marL="133350" marR="133350" marT="114300" marB="95250">
                    <a:solidFill>
                      <a:srgbClr val="F3EEE6"/>
                    </a:solidFill>
                  </a:tcPr>
                </a:tc>
              </a:tr>
              <a:tr h="65913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Compatibility meaning</a:t>
                      </a:r>
                    </a:p>
                  </a:txBody>
                  <a:tcPr marL="133350" marR="133350" marT="114300" marB="95250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3/5 independent</a:t>
                      </a:r>
                    </a:p>
                  </a:txBody>
                  <a:tcPr marL="133350" marR="133350" marT="114300" marB="95250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Only 2/5 separated fit from safety</a:t>
                      </a:r>
                    </a:p>
                  </a:txBody>
                  <a:tcPr marL="133350" marR="133350" marT="114300" marB="95250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PARTIAL</a:t>
                      </a:r>
                    </a:p>
                  </a:txBody>
                  <a:tcPr marL="133350" marR="133350" marT="114300" marB="95250">
                    <a:solidFill>
                      <a:srgbClr val="F8FAF9"/>
                    </a:solidFill>
                  </a:tcPr>
                </a:tc>
              </a:tr>
              <a:tr h="65913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Safe contact / rules</a:t>
                      </a:r>
                    </a:p>
                  </a:txBody>
                  <a:tcPr marL="133350" marR="133350" marT="114300" marB="95250"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Contact warning improved</a:t>
                      </a:r>
                    </a:p>
                  </a:txBody>
                  <a:tcPr marL="133350" marR="133350" marT="114300" marB="95250"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Contact: Fail → Pass; activation: Fail</a:t>
                      </a:r>
                    </a:p>
                  </a:txBody>
                  <a:tcPr marL="133350" marR="133350" marT="114300" marB="95250"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MIXED</a:t>
                      </a:r>
                    </a:p>
                  </a:txBody>
                  <a:tcPr marL="133350" marR="133350" marT="114300" marB="95250">
                    <a:solidFill>
                      <a:srgbClr val="F3EEE6"/>
                    </a:solidFill>
                  </a:tcPr>
                </a:tc>
              </a:tr>
            </a:tbl>
          </a:graphicData>
        </a:graphic>
      </p:graphicFrame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05BFB5C3-4A10-4DF9-87B1-19590A2D1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8B87"/>
                </a:solidFill>
              </a:defRPr>
            </a:pPr>
            <a:r>
              <a:rPr sz="1050" b="1">
                <a:solidFill>
                  <a:srgbClr val="198B87"/>
                </a:solidFill>
              </a:rPr>
              <a:t>AUTOMATED QA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685902F-EF29-46B6-96CA-19437449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10225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E2A36"/>
                </a:solidFill>
              </a:defRPr>
            </a:pPr>
            <a:r>
              <a:rPr sz="1350" b="0">
                <a:solidFill>
                  <a:srgbClr val="0E2A36"/>
                </a:solidFill>
              </a:rPr>
              <a:t>18 findings: 8 functional/test infrastructure · 9 accessibility · 1 responsive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46B72ED6-65C5-4D61-B2C7-5A05F97A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610225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E77C64"/>
                </a:solidFill>
              </a:defRPr>
            </a:pPr>
            <a:r>
              <a:rPr sz="1350" b="1">
                <a:solidFill>
                  <a:srgbClr val="E77C64"/>
                </a:solidFill>
              </a:rPr>
              <a:t>Next: clarify fit limits and rule activation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D3AED5B7-DC3B-47BE-BD11-DA039F6A4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8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518C2564-DCB2-4963-86D4-0EDCF9B99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178"/>
                </a:solidFill>
              </a:defRPr>
            </a:pPr>
            <a:r>
              <a:rPr sz="825" b="0">
                <a:solidFill>
                  <a:srgbClr val="5D7178"/>
                </a:solidFill>
              </a:rPr>
              <a:t>RoomMate Haven · Final testing and QA</a:t>
            </a:r>
          </a:p>
        </p:txBody>
      </p:sp>
    </p:spTree>
    <p:extLst>
      <p:ext uri="{BB962C8B-B14F-4D97-AF65-F5344CB8AC3E}">
        <p14:creationId xmlns:p14="http://schemas.microsoft.com/office/powerpoint/2010/main" val="163194799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3EE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矩形 57">
            <a:extLst xmlns:a="http://schemas.openxmlformats.org/drawingml/2006/main">
              <a:ext uri="{FF2B5EF4-FFF2-40B4-BE49-F238E27FC236}">
                <a16:creationId xmlns:a16="http://schemas.microsoft.com/office/drawing/2014/main" id="{AF4F321E-54BE-4FFB-B44F-389898E07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018E18F9-8AAF-414A-B1AB-BE42BCE80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1EC4F7D2-5F3B-4437-9187-2E9770C23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105902B9-CEBA-4418-836B-1D669DC5C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37F82C67-71D6-440B-B020-6940034E5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75F0B8B9-135A-437D-B0E4-67ABE5FAA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464CEDB2-CBBA-4A54-AC0C-6EE40C840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05484AE3-6E77-4ADD-A0A2-35CBA045E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06E44A90-26EC-4700-942D-CA5863F8A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B67F924E-B5A8-4ACE-8B03-A3A61587A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D18D957-1F5D-46EB-ADC3-093ACE627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257D61D4-C5EB-47BE-8F96-8A02486A1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13A84DA-A3BD-44CA-A6F4-7D3C9609F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A285653C-1AE1-40A8-BF6E-FD8F412D3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FF10ED0C-E4B5-4C66-A375-FA82976AD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1C7977E-D9CF-46AF-802A-6A6E18FF0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157EDA2D-9CAD-4FBD-BC79-DA7463502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8E5AA8F-DF99-4C86-BCF9-998AE839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0B71B69-43B2-4949-8541-642544655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6C5E015-C86F-429D-B9B3-AE9D88872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F2C9CDE1-3F11-4C39-8FE1-A647F3E2F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CFA567FC-5EA3-4DAF-A3A7-3684C33A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131AB06C-6EC5-4DE4-96B1-DE6BD0ABF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008C7C18-CF0F-43D4-93E4-957DF60B8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9185B853-7B3A-4658-BBC6-84DD67657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63506E4E-E3FE-4B69-BFDE-3BDA526A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A50CFFDE-7219-45B1-BE8E-EA681851F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E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1A77A295-0212-4C1D-9472-A5E556ECA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8B87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54BE947C-AE9A-4D73-8E51-A77B109CE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"/>
            <a:ext cx="2743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D7178"/>
                </a:solidFill>
              </a:defRPr>
            </a:pPr>
            <a:r>
              <a:rPr sz="750" b="1">
                <a:solidFill>
                  <a:srgbClr val="5D7178"/>
                </a:solidFill>
              </a:rPr>
              <a:t>ROOMMATE HAVEN / SYSTEM VIEW</a:t>
            </a:r>
          </a:p>
        </p:txBody>
      </p:sp>
      <p:sp>
        <p:nvSpPr>
          <p:cNvPr id="30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45864FEA-D696-4BEF-9B41-6EE2BA7A2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8B87"/>
                </a:solidFill>
              </a:defRPr>
            </a:pPr>
            <a:r>
              <a:rPr sz="1050" b="1">
                <a:solidFill>
                  <a:srgbClr val="198B87"/>
                </a:solidFill>
              </a:rPr>
              <a:t>INNOVATION</a:t>
            </a:r>
          </a:p>
        </p:txBody>
      </p:sp>
      <p:sp>
        <p:nvSpPr>
          <p:cNvPr id="3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C70DF50-4BA4-4666-95C8-ABDF7BA1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2252D"/>
                </a:solidFill>
              </a:defRPr>
            </a:pPr>
            <a:r>
              <a:rPr sz="2850" b="1">
                <a:solidFill>
                  <a:srgbClr val="12252D"/>
                </a:solidFill>
              </a:rPr>
              <a:t>RoomMate Haven connects a fragmented housing journey.</a:t>
            </a:r>
          </a:p>
        </p:txBody>
      </p:sp>
      <p:sp>
        <p:nvSpPr>
          <p:cNvPr id="3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D43A58B-72A4-4000-9DCC-07E0925A8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572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D7178"/>
                </a:solidFill>
              </a:defRPr>
            </a:pPr>
            <a:r>
              <a:rPr sz="975" b="1">
                <a:solidFill>
                  <a:srgbClr val="5D7178"/>
                </a:solidFill>
              </a:rPr>
              <a:t>11</a:t>
            </a:r>
          </a:p>
        </p:txBody>
      </p:sp>
      <p:sp>
        <p:nvSpPr>
          <p:cNvPr id="33" name="矩形 32">
            <a:extLst xmlns:a="http://schemas.openxmlformats.org/drawingml/2006/main">
              <a:ext uri="{FF2B5EF4-FFF2-40B4-BE49-F238E27FC236}">
                <a16:creationId xmlns:a16="http://schemas.microsoft.com/office/drawing/2014/main" id="{0646C7C3-5064-4DAD-B3F5-68B927968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D7178"/>
                </a:solidFill>
              </a:defRPr>
            </a:pPr>
            <a:r>
              <a:rPr sz="1350" b="1">
                <a:solidFill>
                  <a:srgbClr val="5D7178"/>
                </a:solidFill>
              </a:rPr>
              <a:t>Current experience</a:t>
            </a:r>
          </a:p>
        </p:txBody>
      </p:sp>
      <p:sp>
        <p:nvSpPr>
          <p:cNvPr id="34" name="矩形 33">
            <a:extLst xmlns:a="http://schemas.openxmlformats.org/drawingml/2006/main">
              <a:ext uri="{FF2B5EF4-FFF2-40B4-BE49-F238E27FC236}">
                <a16:creationId xmlns:a16="http://schemas.microsoft.com/office/drawing/2014/main" id="{BF454A03-6911-432C-A54A-7DCD08AE4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238375"/>
            <a:ext cx="838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8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圆角矩形 34">
            <a:extLst xmlns:a="http://schemas.openxmlformats.org/drawingml/2006/main">
              <a:ext uri="{FF2B5EF4-FFF2-40B4-BE49-F238E27FC236}">
                <a16:creationId xmlns:a16="http://schemas.microsoft.com/office/drawing/2014/main" id="{3079CC57-F93B-4A39-99FA-83CA652D1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981200"/>
            <a:ext cx="14859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矩形 35">
            <a:extLst xmlns:a="http://schemas.openxmlformats.org/drawingml/2006/main">
              <a:ext uri="{FF2B5EF4-FFF2-40B4-BE49-F238E27FC236}">
                <a16:creationId xmlns:a16="http://schemas.microsoft.com/office/drawing/2014/main" id="{9520E90A-969F-43A1-BCC6-FC18770E6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14312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5D7178"/>
                </a:solidFill>
              </a:defRPr>
            </a:pPr>
            <a:r>
              <a:rPr sz="1125" b="1">
                <a:solidFill>
                  <a:srgbClr val="5D7178"/>
                </a:solidFill>
              </a:rPr>
              <a:t>Search</a:t>
            </a:r>
          </a:p>
        </p:txBody>
      </p:sp>
      <p:sp>
        <p:nvSpPr>
          <p:cNvPr id="37" name="圆角矩形 36">
            <a:extLst xmlns:a="http://schemas.openxmlformats.org/drawingml/2006/main">
              <a:ext uri="{FF2B5EF4-FFF2-40B4-BE49-F238E27FC236}">
                <a16:creationId xmlns:a16="http://schemas.microsoft.com/office/drawing/2014/main" id="{A899B12F-9BA2-4C7B-891D-92E48C1A4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981200"/>
            <a:ext cx="14859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矩形 37">
            <a:extLst xmlns:a="http://schemas.openxmlformats.org/drawingml/2006/main">
              <a:ext uri="{FF2B5EF4-FFF2-40B4-BE49-F238E27FC236}">
                <a16:creationId xmlns:a16="http://schemas.microsoft.com/office/drawing/2014/main" id="{5DEE3694-94A0-4B49-9F45-01F344F0C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14312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5D7178"/>
                </a:solidFill>
              </a:defRPr>
            </a:pPr>
            <a:r>
              <a:rPr sz="1125" b="1">
                <a:solidFill>
                  <a:srgbClr val="5D7178"/>
                </a:solidFill>
              </a:rPr>
              <a:t>Switch platform</a:t>
            </a:r>
          </a:p>
        </p:txBody>
      </p:sp>
      <p:sp>
        <p:nvSpPr>
          <p:cNvPr id="39" name="圆角矩形 38">
            <a:extLst xmlns:a="http://schemas.openxmlformats.org/drawingml/2006/main">
              <a:ext uri="{FF2B5EF4-FFF2-40B4-BE49-F238E27FC236}">
                <a16:creationId xmlns:a16="http://schemas.microsoft.com/office/drawing/2014/main" id="{5890B143-664D-4024-A9CE-E80083D0A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81200"/>
            <a:ext cx="14859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4154D3CB-DB15-4A4F-9B35-FCDAE08C5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14312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5D7178"/>
                </a:solidFill>
              </a:defRPr>
            </a:pPr>
            <a:r>
              <a:rPr sz="1125" b="1">
                <a:solidFill>
                  <a:srgbClr val="5D7178"/>
                </a:solidFill>
              </a:rPr>
              <a:t>Share contacts</a:t>
            </a:r>
          </a:p>
        </p:txBody>
      </p:sp>
      <p:sp>
        <p:nvSpPr>
          <p:cNvPr id="41" name="圆角矩形 40">
            <a:extLst xmlns:a="http://schemas.openxmlformats.org/drawingml/2006/main">
              <a:ext uri="{FF2B5EF4-FFF2-40B4-BE49-F238E27FC236}">
                <a16:creationId xmlns:a16="http://schemas.microsoft.com/office/drawing/2014/main" id="{77CF22EE-D894-4924-B3E5-00CBF5917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1981200"/>
            <a:ext cx="14859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矩形 41">
            <a:extLst xmlns:a="http://schemas.openxmlformats.org/drawingml/2006/main">
              <a:ext uri="{FF2B5EF4-FFF2-40B4-BE49-F238E27FC236}">
                <a16:creationId xmlns:a16="http://schemas.microsoft.com/office/drawing/2014/main" id="{6A43A10E-7BD7-43A2-BEFC-347DE90F2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14312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E77C64"/>
                </a:solidFill>
              </a:defRPr>
            </a:pPr>
            <a:r>
              <a:rPr sz="1125" b="1">
                <a:solidFill>
                  <a:srgbClr val="E77C64"/>
                </a:solidFill>
              </a:rPr>
              <a:t>Resolve conflict</a:t>
            </a:r>
          </a:p>
        </p:txBody>
      </p:sp>
      <p:sp>
        <p:nvSpPr>
          <p:cNvPr id="43" name="矩形 42">
            <a:extLst xmlns:a="http://schemas.openxmlformats.org/drawingml/2006/main">
              <a:ext uri="{FF2B5EF4-FFF2-40B4-BE49-F238E27FC236}">
                <a16:creationId xmlns:a16="http://schemas.microsoft.com/office/drawing/2014/main" id="{EBEA53B8-826B-4415-971D-60AC620B9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8B87"/>
                </a:solidFill>
              </a:defRPr>
            </a:pPr>
            <a:r>
              <a:rPr sz="1350" b="1">
                <a:solidFill>
                  <a:srgbClr val="198B87"/>
                </a:solidFill>
              </a:rPr>
              <a:t>RoomMate Haven</a:t>
            </a:r>
          </a:p>
        </p:txBody>
      </p:sp>
      <p:sp>
        <p:nvSpPr>
          <p:cNvPr id="44" name="矩形 43">
            <a:extLst xmlns:a="http://schemas.openxmlformats.org/drawingml/2006/main">
              <a:ext uri="{FF2B5EF4-FFF2-40B4-BE49-F238E27FC236}">
                <a16:creationId xmlns:a16="http://schemas.microsoft.com/office/drawing/2014/main" id="{EB35DA13-8C30-40BC-9F50-7CB88EC1C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00500"/>
            <a:ext cx="838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B9B1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圆角矩形 44">
            <a:extLst xmlns:a="http://schemas.openxmlformats.org/drawingml/2006/main">
              <a:ext uri="{FF2B5EF4-FFF2-40B4-BE49-F238E27FC236}">
                <a16:creationId xmlns:a16="http://schemas.microsoft.com/office/drawing/2014/main" id="{66B6ABB7-3F2E-487A-B310-24232167D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676650"/>
            <a:ext cx="1485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0E2A36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矩形 45">
            <a:extLst xmlns:a="http://schemas.openxmlformats.org/drawingml/2006/main">
              <a:ext uri="{FF2B5EF4-FFF2-40B4-BE49-F238E27FC236}">
                <a16:creationId xmlns:a16="http://schemas.microsoft.com/office/drawing/2014/main" id="{39A7E8B6-9BC4-4B38-85EC-85BF71F3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8862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Verify options</a:t>
            </a:r>
          </a:p>
        </p:txBody>
      </p:sp>
      <p:sp>
        <p:nvSpPr>
          <p:cNvPr id="47" name="圆角矩形 46">
            <a:extLst xmlns:a="http://schemas.openxmlformats.org/drawingml/2006/main">
              <a:ext uri="{FF2B5EF4-FFF2-40B4-BE49-F238E27FC236}">
                <a16:creationId xmlns:a16="http://schemas.microsoft.com/office/drawing/2014/main" id="{3EF8E126-3686-498D-B908-3D1A8971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676650"/>
            <a:ext cx="1485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98B87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矩形 47">
            <a:extLst xmlns:a="http://schemas.openxmlformats.org/drawingml/2006/main">
              <a:ext uri="{FF2B5EF4-FFF2-40B4-BE49-F238E27FC236}">
                <a16:creationId xmlns:a16="http://schemas.microsoft.com/office/drawing/2014/main" id="{97FCE679-1E81-47D2-A99B-2EE6AFCC8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38862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Compare fit</a:t>
            </a:r>
          </a:p>
        </p:txBody>
      </p:sp>
      <p:sp>
        <p:nvSpPr>
          <p:cNvPr id="49" name="圆角矩形 48">
            <a:extLst xmlns:a="http://schemas.openxmlformats.org/drawingml/2006/main">
              <a:ext uri="{FF2B5EF4-FFF2-40B4-BE49-F238E27FC236}">
                <a16:creationId xmlns:a16="http://schemas.microsoft.com/office/drawing/2014/main" id="{07AA5184-68F7-4902-A36D-27C93A89D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76650"/>
            <a:ext cx="1485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0E2A36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矩形 49">
            <a:extLst xmlns:a="http://schemas.openxmlformats.org/drawingml/2006/main">
              <a:ext uri="{FF2B5EF4-FFF2-40B4-BE49-F238E27FC236}">
                <a16:creationId xmlns:a16="http://schemas.microsoft.com/office/drawing/2014/main" id="{086A4A6B-4C64-4C3D-8712-278BAE4FC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8862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Message safely</a:t>
            </a:r>
          </a:p>
        </p:txBody>
      </p:sp>
      <p:sp>
        <p:nvSpPr>
          <p:cNvPr id="51" name="圆角矩形 50">
            <a:extLst xmlns:a="http://schemas.openxmlformats.org/drawingml/2006/main">
              <a:ext uri="{FF2B5EF4-FFF2-40B4-BE49-F238E27FC236}">
                <a16:creationId xmlns:a16="http://schemas.microsoft.com/office/drawing/2014/main" id="{03C45CD2-9C9C-4F69-9E97-7B90B8AD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676650"/>
            <a:ext cx="1485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0E2A36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2" name="矩形 51">
            <a:extLst xmlns:a="http://schemas.openxmlformats.org/drawingml/2006/main">
              <a:ext uri="{FF2B5EF4-FFF2-40B4-BE49-F238E27FC236}">
                <a16:creationId xmlns:a16="http://schemas.microsoft.com/office/drawing/2014/main" id="{01AF6959-FCA4-4433-826D-94E16BDC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8862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Agree expectations</a:t>
            </a:r>
          </a:p>
        </p:txBody>
      </p:sp>
      <p:sp>
        <p:nvSpPr>
          <p:cNvPr id="53" name="圆角矩形 52">
            <a:extLst xmlns:a="http://schemas.openxmlformats.org/drawingml/2006/main">
              <a:ext uri="{FF2B5EF4-FFF2-40B4-BE49-F238E27FC236}">
                <a16:creationId xmlns:a16="http://schemas.microsoft.com/office/drawing/2014/main" id="{902FE6F9-2591-4B52-A863-2BE1935EC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29200"/>
            <a:ext cx="77152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矩形 53">
            <a:extLst xmlns:a="http://schemas.openxmlformats.org/drawingml/2006/main">
              <a:ext uri="{FF2B5EF4-FFF2-40B4-BE49-F238E27FC236}">
                <a16:creationId xmlns:a16="http://schemas.microsoft.com/office/drawing/2014/main" id="{B30D9B6A-69B2-431C-B462-116DB3686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210175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E2A36"/>
                </a:solidFill>
              </a:defRPr>
            </a:pPr>
            <a:r>
              <a:rPr sz="1425" b="1">
                <a:solidFill>
                  <a:srgbClr val="0E2A36"/>
                </a:solidFill>
              </a:rPr>
              <a:t>The innovation is the integration:</a:t>
            </a:r>
          </a:p>
        </p:txBody>
      </p:sp>
      <p:sp>
        <p:nvSpPr>
          <p:cNvPr id="55" name="矩形 54">
            <a:extLst xmlns:a="http://schemas.openxmlformats.org/drawingml/2006/main">
              <a:ext uri="{FF2B5EF4-FFF2-40B4-BE49-F238E27FC236}">
                <a16:creationId xmlns:a16="http://schemas.microsoft.com/office/drawing/2014/main" id="{961D7DB7-87B2-4BBB-ABCB-53ED40D76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153025"/>
            <a:ext cx="457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98B87"/>
                </a:solidFill>
              </a:defRPr>
            </a:pPr>
            <a:r>
              <a:rPr sz="1875" b="1">
                <a:solidFill>
                  <a:srgbClr val="198B87"/>
                </a:solidFill>
              </a:rPr>
              <a:t>trust + preference fit + early agreements</a:t>
            </a:r>
          </a:p>
        </p:txBody>
      </p:sp>
      <p:sp>
        <p:nvSpPr>
          <p:cNvPr id="56" name="矩形 55">
            <a:extLst xmlns:a="http://schemas.openxmlformats.org/drawingml/2006/main">
              <a:ext uri="{FF2B5EF4-FFF2-40B4-BE49-F238E27FC236}">
                <a16:creationId xmlns:a16="http://schemas.microsoft.com/office/drawing/2014/main" id="{643D33EE-66C2-4338-A1A0-B1D4B88E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8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7" name="矩形 56">
            <a:extLst xmlns:a="http://schemas.openxmlformats.org/drawingml/2006/main">
              <a:ext uri="{FF2B5EF4-FFF2-40B4-BE49-F238E27FC236}">
                <a16:creationId xmlns:a16="http://schemas.microsoft.com/office/drawing/2014/main" id="{4D235D03-96D0-4585-8BEB-41E277124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178"/>
                </a:solidFill>
              </a:defRPr>
            </a:pPr>
            <a:r>
              <a:rPr sz="825" b="0">
                <a:solidFill>
                  <a:srgbClr val="5D7178"/>
                </a:solidFill>
              </a:rPr>
              <a:t>RoomMate Haven · Integrated innovation</a:t>
            </a:r>
          </a:p>
        </p:txBody>
      </p:sp>
    </p:spTree>
    <p:extLst>
      <p:ext uri="{BB962C8B-B14F-4D97-AF65-F5344CB8AC3E}">
        <p14:creationId xmlns:p14="http://schemas.microsoft.com/office/powerpoint/2010/main" val="27323548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E2A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矩形 46">
            <a:extLst xmlns:a="http://schemas.openxmlformats.org/drawingml/2006/main">
              <a:ext uri="{FF2B5EF4-FFF2-40B4-BE49-F238E27FC236}">
                <a16:creationId xmlns:a16="http://schemas.microsoft.com/office/drawing/2014/main" id="{56FAE736-6CCC-49CA-9D44-B39CB9EFB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F36359A-4F4C-4D02-A21D-248D7586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00AEFEA2-3C73-4D1C-AB79-D81959B9F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4EA68783-671C-4BEA-B532-E15F48206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83A3E68-2A0D-464B-B0CD-EBEDC7F21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4072D005-6553-458B-B59D-67703E904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D054DDB3-C3BE-454C-B806-EF566190B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D3B08D6D-6E5E-48BE-8C82-1E1965A5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884D0E0-6AF1-4A30-BD4F-557751478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DCD4C7DC-852A-4153-B512-AACEE4ABD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39427B67-9323-478E-B3B1-21E326ACA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70E1AA2-4A61-400D-A669-2A8EB3D6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B0B0C7A-0FCF-4D67-B139-3F4EE265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FCD91E0-A28C-49BF-A65D-6FEC893C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34F1A9F5-7A1B-4DD1-86D4-0E1D44CC4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6257065-D52E-4599-A3F9-6263AA3BD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9E9384F8-28F1-4AE8-835E-DAA08993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425C2E3D-C653-46C8-99A8-4C5E12705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C4CBF099-4A25-4092-B4F2-381203F10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CDC56C6D-3F73-4CCA-8925-149E92CD6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CDC0772E-6EB8-46D6-9502-50F9A8709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737CF577-48FA-4D30-A4C9-8FA457362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9FFCEB0B-5EC3-4D61-8BDE-D0DAC8ED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E1BDBA74-060F-4B52-99D4-2DFC4EA48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19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93B9D3D3-0730-4DCA-8B08-6BD506F32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A91DE35-F8C7-49E6-9E96-E7D4915F8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438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4575F3E1-2697-49D1-9F2C-93777524B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B8C32E4-FF2D-4894-9597-3FA09846D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57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815D15B5-EE2B-4A6D-B2D8-9BAF7164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67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F1F7B960-468D-4DC4-95EB-2BAD2BC4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76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矩形 30">
            <a:extLst xmlns:a="http://schemas.openxmlformats.org/drawingml/2006/main">
              <a:ext uri="{FF2B5EF4-FFF2-40B4-BE49-F238E27FC236}">
                <a16:creationId xmlns:a16="http://schemas.microsoft.com/office/drawing/2014/main" id="{EA58702E-DE65-4026-B948-4986683E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矩形 31">
            <a:extLst xmlns:a="http://schemas.openxmlformats.org/drawingml/2006/main">
              <a:ext uri="{FF2B5EF4-FFF2-40B4-BE49-F238E27FC236}">
                <a16:creationId xmlns:a16="http://schemas.microsoft.com/office/drawing/2014/main" id="{53D9544A-92B1-48F0-9524-7E88822F7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矩形 32">
            <a:extLst xmlns:a="http://schemas.openxmlformats.org/drawingml/2006/main">
              <a:ext uri="{FF2B5EF4-FFF2-40B4-BE49-F238E27FC236}">
                <a16:creationId xmlns:a16="http://schemas.microsoft.com/office/drawing/2014/main" id="{DC470EE1-189C-4E76-A8D1-52004DB38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F4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矩形 33">
            <a:extLst xmlns:a="http://schemas.openxmlformats.org/drawingml/2006/main">
              <a:ext uri="{FF2B5EF4-FFF2-40B4-BE49-F238E27FC236}">
                <a16:creationId xmlns:a16="http://schemas.microsoft.com/office/drawing/2014/main" id="{0C66C92D-9AFC-4082-A938-6EAE80EC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D7CF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95BD3DA5-E642-4298-BF1C-63485FCBC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"/>
            <a:ext cx="2743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5B9B1"/>
                </a:solidFill>
              </a:defRPr>
            </a:pPr>
            <a:r>
              <a:rPr sz="750" b="1">
                <a:solidFill>
                  <a:srgbClr val="55B9B1"/>
                </a:solidFill>
              </a:rPr>
              <a:t>ROOMMATE HAVEN / SYSTEM VIEW</a:t>
            </a:r>
          </a:p>
        </p:txBody>
      </p:sp>
      <p:sp>
        <p:nvSpPr>
          <p:cNvPr id="36" name="矩形 35">
            <a:extLst xmlns:a="http://schemas.openxmlformats.org/drawingml/2006/main">
              <a:ext uri="{FF2B5EF4-FFF2-40B4-BE49-F238E27FC236}">
                <a16:creationId xmlns:a16="http://schemas.microsoft.com/office/drawing/2014/main" id="{D2F42251-50D2-4F1F-8E73-E06F8616F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5B9B1"/>
                </a:solidFill>
              </a:defRPr>
            </a:pPr>
            <a:r>
              <a:rPr sz="1200" b="1">
                <a:solidFill>
                  <a:srgbClr val="55B9B1"/>
                </a:solidFill>
              </a:rPr>
              <a:t>RoomMate Haven</a:t>
            </a:r>
          </a:p>
        </p:txBody>
      </p:sp>
      <p:sp>
        <p:nvSpPr>
          <p:cNvPr id="37" name="矩形 36">
            <a:extLst xmlns:a="http://schemas.openxmlformats.org/drawingml/2006/main">
              <a:ext uri="{FF2B5EF4-FFF2-40B4-BE49-F238E27FC236}">
                <a16:creationId xmlns:a16="http://schemas.microsoft.com/office/drawing/2014/main" id="{A7DA3997-EEF2-4B63-9AA5-0306CAB3A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71625"/>
            <a:ext cx="3905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Trust.</a:t>
            </a:r>
          </a:p>
        </p:txBody>
      </p:sp>
      <p:sp>
        <p:nvSpPr>
          <p:cNvPr id="38" name="矩形 37">
            <a:extLst xmlns:a="http://schemas.openxmlformats.org/drawingml/2006/main">
              <a:ext uri="{FF2B5EF4-FFF2-40B4-BE49-F238E27FC236}">
                <a16:creationId xmlns:a16="http://schemas.microsoft.com/office/drawing/2014/main" id="{6B3063B5-890C-4695-85F7-D92E61FD8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71625"/>
            <a:ext cx="295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4350" b="1">
                <a:solidFill>
                  <a:srgbClr val="55B9B1"/>
                </a:solidFill>
              </a:defRPr>
            </a:pPr>
            <a:r>
              <a:rPr sz="4350" b="1">
                <a:solidFill>
                  <a:srgbClr val="55B9B1"/>
                </a:solidFill>
              </a:rPr>
              <a:t>Fit.</a:t>
            </a:r>
          </a:p>
        </p:txBody>
      </p:sp>
      <p:sp>
        <p:nvSpPr>
          <p:cNvPr id="39" name="矩形 38">
            <a:extLst xmlns:a="http://schemas.openxmlformats.org/drawingml/2006/main">
              <a:ext uri="{FF2B5EF4-FFF2-40B4-BE49-F238E27FC236}">
                <a16:creationId xmlns:a16="http://schemas.microsoft.com/office/drawing/2014/main" id="{47BC03FE-D85C-4F29-B0B8-6449C4E52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571625"/>
            <a:ext cx="3810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Clarity.</a:t>
            </a:r>
          </a:p>
        </p:txBody>
      </p:sp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9C23A077-CBA1-43AF-86FE-DF9B60EC8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24150"/>
            <a:ext cx="1047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8B87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矩形 40">
            <a:extLst xmlns:a="http://schemas.openxmlformats.org/drawingml/2006/main">
              <a:ext uri="{FF2B5EF4-FFF2-40B4-BE49-F238E27FC236}">
                <a16:creationId xmlns:a16="http://schemas.microsoft.com/office/drawing/2014/main" id="{67EB0085-A356-4515-9687-C020D5174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238500"/>
            <a:ext cx="9334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FFFFFF"/>
                </a:solidFill>
              </a:defRPr>
            </a:pPr>
            <a:r>
              <a:rPr sz="2175" b="1">
                <a:solidFill>
                  <a:srgbClr val="FFFFFF"/>
                </a:solidFill>
              </a:rPr>
              <a:t>Students should be able to choose not only where they live,</a:t>
            </a:r>
          </a:p>
          <a:p xmlns:a="http://schemas.openxmlformats.org/drawingml/2006/main">
            <a:pPr algn="ctr">
              <a:buNone/>
              <a:defRPr sz="2175" b="1">
                <a:solidFill>
                  <a:srgbClr val="FFFFFF"/>
                </a:solidFill>
              </a:defRPr>
            </a:pPr>
            <a:r>
              <a:rPr sz="2175" b="1">
                <a:solidFill>
                  <a:srgbClr val="FFFFFF"/>
                </a:solidFill>
              </a:rPr>
              <a:t>but who they live with—and how they will live together.</a:t>
            </a:r>
          </a:p>
        </p:txBody>
      </p:sp>
      <p:sp>
        <p:nvSpPr>
          <p:cNvPr id="42" name="圆角矩形 41">
            <a:extLst xmlns:a="http://schemas.openxmlformats.org/drawingml/2006/main">
              <a:ext uri="{FF2B5EF4-FFF2-40B4-BE49-F238E27FC236}">
                <a16:creationId xmlns:a16="http://schemas.microsoft.com/office/drawing/2014/main" id="{A3C1D376-76EB-493F-99E3-C67F4867E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762500"/>
            <a:ext cx="31242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02F3A"/>
          </a:solidFill>
          <a:ln xmlns:a="http://schemas.openxmlformats.org/drawingml/2006/main" w="19050">
            <a:solidFill>
              <a:srgbClr val="6ED7CF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矩形 42">
            <a:extLst xmlns:a="http://schemas.openxmlformats.org/drawingml/2006/main">
              <a:ext uri="{FF2B5EF4-FFF2-40B4-BE49-F238E27FC236}">
                <a16:creationId xmlns:a16="http://schemas.microsoft.com/office/drawing/2014/main" id="{A019EB5E-BB94-41BC-A217-0E856BE5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0101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LIVE PROTOTYPE</a:t>
            </a:r>
          </a:p>
        </p:txBody>
      </p:sp>
      <p:sp>
        <p:nvSpPr>
          <p:cNvPr id="44" name="矩形 43">
            <a:extLst xmlns:a="http://schemas.openxmlformats.org/drawingml/2006/main">
              <a:ext uri="{FF2B5EF4-FFF2-40B4-BE49-F238E27FC236}">
                <a16:creationId xmlns:a16="http://schemas.microsoft.com/office/drawing/2014/main" id="{B620A83D-01DB-4697-A36F-1DA738156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305425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55B9B1"/>
                </a:solidFill>
              </a:defRPr>
            </a:pPr>
            <a:r>
              <a:rPr sz="825" b="0">
                <a:solidFill>
                  <a:srgbClr val="55B9B1"/>
                </a:solidFill>
              </a:rPr>
              <a:t>Deployed online · Open in browser</a:t>
            </a:r>
          </a:p>
        </p:txBody>
      </p:sp>
      <p:sp>
        <p:nvSpPr>
          <p:cNvPr id="45" name="矩形 44">
            <a:extLst xmlns:a="http://schemas.openxmlformats.org/drawingml/2006/main">
              <a:ext uri="{FF2B5EF4-FFF2-40B4-BE49-F238E27FC236}">
                <a16:creationId xmlns:a16="http://schemas.microsoft.com/office/drawing/2014/main" id="{99752C34-DABE-4E89-94B5-B5AF1AE33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DECE8"/>
                </a:solidFill>
              </a:defRPr>
            </a:pPr>
            <a:r>
              <a:rPr sz="900" b="0">
                <a:solidFill>
                  <a:srgbClr val="CDECE8"/>
                </a:solidFill>
              </a:rPr>
              <a:t>Liam · Dylan · Nicky · Pranav</a:t>
            </a:r>
          </a:p>
        </p:txBody>
      </p:sp>
      <p:sp>
        <p:nvSpPr>
          <p:cNvPr id="46" name="矩形 45">
            <a:extLst xmlns:a="http://schemas.openxmlformats.org/drawingml/2006/main">
              <a:ext uri="{FF2B5EF4-FFF2-40B4-BE49-F238E27FC236}">
                <a16:creationId xmlns:a16="http://schemas.microsoft.com/office/drawing/2014/main" id="{D03241BF-EC56-49D9-B225-62306C9B5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6286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5B9B1"/>
                </a:solidFill>
              </a:defRPr>
            </a:pPr>
            <a:r>
              <a:rPr sz="1200" b="1">
                <a:solidFill>
                  <a:srgbClr val="55B9B1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5013547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2026-08-01T16:52:27.7570000Z</dcterms:created>
  <dcterms:modified xsi:type="dcterms:W3CDTF">2026-08-01T16:52:27.7570000Z</dcterms:modified>
</coreProperties>
</file>