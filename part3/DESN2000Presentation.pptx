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Liam · Target time: 15 seconds.</a:t>
            </a:r>
          </a:p>
          <a:p>
            <a:r>
              <a:t>Opening: RoomMate Haven helps students make a safer shared-home decision before commitment.</a:t>
            </a:r>
          </a:p>
          <a:p>
            <a:r>
              <a:t>Transition: To understand why this matters, start with the decision students actually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Liam · Target time: 35 seconds.</a:t>
            </a:r>
          </a:p>
          <a:p>
            <a:r>
              <a:t>Keep the problem emotional and concrete: a room can fit the budget but fail as a shared home.</a:t>
            </a:r>
          </a:p>
          <a:p>
            <a:r>
              <a:t>Transition: Our primary research shows that this is not an isolated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Liam · Target time: 35 seconds.</a:t>
            </a:r>
          </a:p>
          <a:p>
            <a:r>
              <a:t>Meaning: the housing decision is both transactional and social; verification alone is not enough.</a:t>
            </a:r>
          </a:p>
          <a:p>
            <a:r>
              <a:t>Transition: Existing products address parts of this decision, but not the connected journey.</a:t>
            </a:r>
          </a:p>
          <a:p>
            <a:r>
              <a:t>[Sources]</a:t>
            </a:r>
          </a:p>
          <a:p>
            <a:r>
              <a:t>- Team international student survey (n=16),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Nicky · Target time: 35 seconds.</a:t>
            </a:r>
          </a:p>
          <a:p>
            <a:r>
              <a:t>Treat this slide as the start of the solution section, not more background.</a:t>
            </a:r>
          </a:p>
          <a:p>
            <a:r>
              <a:t>Transition: We generated three concepts to close that gap and selected them systematically.</a:t>
            </a:r>
          </a:p>
          <a:p>
            <a:r>
              <a:t>[Sources]</a:t>
            </a:r>
          </a:p>
          <a:p>
            <a:r>
              <a:t>- https://www.domain.com.au/</a:t>
            </a:r>
          </a:p>
          <a:p>
            <a:r>
              <a:t>- https://www.realestate.com.au/</a:t>
            </a:r>
          </a:p>
          <a:p>
            <a:r>
              <a:t>- https://flatmates.com.au/</a:t>
            </a:r>
          </a:p>
          <a:p>
            <a:r>
              <a:t>- https://www.facebook.com/marketplace/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Nicky · Target time: 45 seconds.</a:t>
            </a:r>
          </a:p>
          <a:p>
            <a:r>
              <a:t>State the three scores once: Trust 4.15, Compatibility 4.45, Agreement 4.35.</a:t>
            </a:r>
          </a:p>
          <a:p>
            <a:r>
              <a:t>Transition: The selected direction becomes a five-step decision journey.</a:t>
            </a:r>
          </a:p>
          <a:p>
            <a:r>
              <a:t>[Sources]</a:t>
            </a:r>
          </a:p>
          <a:p>
            <a:r>
              <a:t>- Team weighted decision matrix and concept-development workshop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Nicky · Target time: 45 seconds.</a:t>
            </a:r>
          </a:p>
          <a:p>
            <a:r>
              <a:t>Walk left to right and explain how each stage removes uncertainty from the previous stage.</a:t>
            </a:r>
          </a:p>
          <a:p>
            <a:r>
              <a:t>Transition: The next slide demonstrates the same journey in the deployed prototype.</a:t>
            </a:r>
          </a:p>
          <a:p>
            <a:r>
              <a:t>[Sources]</a:t>
            </a:r>
          </a:p>
          <a:p>
            <a:r>
              <a:t>- Team Sprint 1 story map and selected RoomMate Haven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Dylan · Target time: 75 seconds.</a:t>
            </a:r>
          </a:p>
          <a:p>
            <a:r>
              <a:t>Before presenting: insert one 60–75 second MP4 across the three browser frames and set Playback to Automatically.</a:t>
            </a:r>
          </a:p>
          <a:p>
            <a:r>
              <a:t>Demo path: property search → verification cues → compatibility explanation → safe messaging → house-rule agreement.</a:t>
            </a:r>
          </a:p>
          <a:p>
            <a:r>
              <a:t>Plan B: if the embedded video fails, narrate the three still frames; if the network fails, use the embedded recording rather than the live site.</a:t>
            </a:r>
          </a:p>
          <a:p>
            <a:r>
              <a:t>Transition: Behind this journey are modular subsystems that can be validated separately.</a:t>
            </a:r>
          </a:p>
          <a:p>
            <a:r>
              <a:t>[Sources]</a:t>
            </a:r>
          </a:p>
          <a:p>
            <a:r>
              <a:t>- http://roommate-haven-dev.eba-2h6p4mxq.ap-southeast-2.elasticbeanstalk.com/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Dylan · Target time: 50 seconds.</a:t>
            </a:r>
          </a:p>
          <a:p>
            <a:r>
              <a:t>Explain data and decisions, not implementation jargon: preferences feed the fit engine; verification and privacy stay separate.</a:t>
            </a:r>
          </a:p>
          <a:p>
            <a:r>
              <a:t>Transition: We then tested whether users understood those system states—not only whether they could click through them.</a:t>
            </a:r>
          </a:p>
          <a:p>
            <a:r>
              <a:t>[Sources]</a:t>
            </a:r>
          </a:p>
          <a:p>
            <a:r>
              <a:t>- Team subsystem analysis and Sprint 1 prototype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Dylan · Target time: 55 seconds.</a:t>
            </a:r>
          </a:p>
          <a:p>
            <a:r>
              <a:t>Method: five participants, two iterations, tablet/laptop/mobile, moderated think-aloud.</a:t>
            </a:r>
          </a:p>
          <a:p>
            <a:r>
              <a:t>Do not claim overall success. State clearly that verification passed, compatibility meaning remained partial, and rule activation failed.</a:t>
            </a:r>
          </a:p>
          <a:p>
            <a:r>
              <a:t>Transition: The detailed results show where the revised design worked and where more development is needed.</a:t>
            </a:r>
          </a:p>
          <a:p>
            <a:r>
              <a:t>[Sources]</a:t>
            </a:r>
          </a:p>
          <a:p>
            <a:r>
              <a:t>- https://github.com/NuodiLiu/DESN2000/blob/main/part3/finalreport.tex</a:t>
            </a:r>
          </a:p>
          <a:p>
            <a:r>
              <a:t>- https://github.com/NuodiLiu/DESN2000/blob/main/part3/tests/participant-findings.md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Dylan · Target time: 60 seconds.</a:t>
            </a:r>
          </a:p>
          <a:p>
            <a:r>
              <a:t>Call out the exact method and the limits. The same five participants completed targeted Iteration 2 retests.</a:t>
            </a:r>
          </a:p>
          <a:p>
            <a:r>
              <a:t>Automated Playwright review logged 18 independent findings; this supports the need for continued technical hardening.</a:t>
            </a:r>
          </a:p>
          <a:p>
            <a:r>
              <a:t>Transition: These results clarify what is genuinely innovative about the final design.</a:t>
            </a:r>
          </a:p>
          <a:p>
            <a:r>
              <a:t>[Sources]</a:t>
            </a:r>
          </a:p>
          <a:p>
            <a:r>
              <a:t>- https://github.com/NuodiLiu/DESN2000/blob/main/part3/finalreport.tex</a:t>
            </a:r>
          </a:p>
          <a:p>
            <a:r>
              <a:t>- https://github.com/NuodiLiu/DESN2000/blob/main/part3/tests/roommate-haven-qa-findings.md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Pranav · Target time: 50 seconds.</a:t>
            </a:r>
          </a:p>
          <a:p>
            <a:r>
              <a:t>Frame innovation honestly: individual features exist elsewhere; the innovation is connecting them before commitment.</a:t>
            </a:r>
          </a:p>
          <a:p>
            <a:r>
              <a:t>Transition: The final value is a clearer shared-home decision—not simply another listing platform.</a:t>
            </a:r>
          </a:p>
          <a:p>
            <a:r>
              <a:t>[Sources]</a:t>
            </a:r>
          </a:p>
          <a:p>
            <a:r>
              <a:t>- Team competitive analysis, concept selection and user-journey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Speaker: Pranav · Target time: 45 seconds.</a:t>
            </a:r>
          </a:p>
          <a:p>
            <a:r>
              <a:t>Close by resolving the opening problem. Invite the audience to try the deployed prototype.</a:t>
            </a:r>
          </a:p>
          <a:p>
            <a:r>
              <a:t>Team rehearsal target: approximately 9 minutes 10 seconds, leaving a buffer below the 10-minute limit.</a:t>
            </a:r>
          </a:p>
          <a:p>
            <a:r>
              <a:t>[Sources]</a:t>
            </a:r>
          </a:p>
          <a:p>
            <a:r>
              <a:t>- http://roommate-haven-dev.eba-2h6p4mxq.ap-southeast-2.elasticbeanstalk.com/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A3E1B4F-E9C5-44A9-AE3D-39D4E1D33F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429250" cy="6858000"/>
          </a:xfrm>
          <a:prstGeom prst="rect">
            <a:avLst/>
          </a:prstGeom>
          <a:solidFill>
            <a:srgbClr val="0E2A3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9810BE-0253-42D9-B407-27C347E13F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4CF0D5-5B08-4043-8CFD-C3FC62B5F20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3C515-35E2-4493-961A-65D9DE959CE4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7001E2-1685-441A-BC61-11736E9EC61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1B60DE-59B2-49BC-8B49-1304C492E426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A877E-B3EE-4377-9B91-358F3A11081E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242353-A008-4F08-8DAF-C91AC996115A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14B202-6870-41F4-A0DF-47F3B97DAD32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301E3D-E075-4D3D-9825-91A54206ED6C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3C61E9-7B5C-4F1A-8A33-8DB8673C53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43C3C7-B15B-4117-941E-77306E6EFEDF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DDECCF-73D2-478B-A04C-B812E92CB95F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35C2CF-03C9-4274-B8C9-BCDE42456413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52A131-8C19-4F72-980B-6F1D5FB8D38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E82883-93F9-4D98-B3FE-6B9902661939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07A41A-8D35-49C2-AAF0-89FC2DAD6EDC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C7C953-AFC1-4268-8B0E-1195A0E7A87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E234CC-5050-4548-A26C-92587220235C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0690FE-B367-4B9C-AD19-B93EEAC61847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6AD068-8718-41BC-8D25-6F7F4626155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8303AA-9118-4BB7-8668-BCFC899A99BE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542925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03A625-A340-41F1-8BAF-1D66F8519B6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" cy="66675"/>
          </a:xfrm>
          <a:prstGeom prst="rect">
            <a:avLst/>
          </a:prstGeom>
          <a:solidFill>
            <a:srgbClr val="6ED7C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E630673-BDAB-4DA6-9022-CD3A0791E3D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1">
                <a:solidFill>
                  <a:srgbClr val="55B9B1"/>
                </a:solidFill>
              </a:defRPr>
            </a:pPr>
            <a:r>
              <a:rPr sz="825" b="1">
                <a:solidFill>
                  <a:srgbClr val="55B9B1"/>
                </a:solidFill>
              </a:rPr>
              <a:t>TRUSTED STUDENT HOUSING / FINAL DESIGN</a:t>
            </a:r>
          </a:p>
        </p:txBody>
      </p:sp>
      <p:sp>
        <p:nvSpPr>
          <p:cNvPr id="26" name="deck-title">
            <a:extLst>
              <a:ext uri="{FF2B5EF4-FFF2-40B4-BE49-F238E27FC236}">
                <a16:creationId xmlns:a16="http://schemas.microsoft.com/office/drawing/2014/main" id="{2D69BB06-CC51-443B-A652-17D84195B0D7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4286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RoomMate</a:t>
            </a:r>
          </a:p>
          <a:p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Haven</a:t>
            </a:r>
          </a:p>
        </p:txBody>
      </p:sp>
      <p:sp>
        <p:nvSpPr>
          <p:cNvPr id="27" name="deck-subtitle">
            <a:extLst>
              <a:ext uri="{FF2B5EF4-FFF2-40B4-BE49-F238E27FC236}">
                <a16:creationId xmlns:a16="http://schemas.microsoft.com/office/drawing/2014/main" id="{F8E1AE18-0730-4BCC-993D-18189B80553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CDECE8"/>
                </a:solidFill>
              </a:defRPr>
            </a:pPr>
            <a:r>
              <a:rPr sz="1875" b="0">
                <a:solidFill>
                  <a:srgbClr val="CDECE8"/>
                </a:solidFill>
              </a:rPr>
              <a:t>Choose the room. Understand the people.</a:t>
            </a:r>
          </a:p>
          <a:p>
            <a:pPr algn="l">
              <a:buNone/>
              <a:defRPr sz="1875" b="0">
                <a:solidFill>
                  <a:srgbClr val="CDECE8"/>
                </a:solidFill>
              </a:defRPr>
            </a:pPr>
            <a:r>
              <a:rPr sz="1875" b="0">
                <a:solidFill>
                  <a:srgbClr val="CDECE8"/>
                </a:solidFill>
              </a:rPr>
              <a:t>Agree how to live.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5A1A6D8-7C6F-4FDF-B23F-2DD4DBA094F3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ED7CF"/>
                </a:solidFill>
              </a:defRPr>
            </a:pPr>
            <a:r>
              <a:rPr sz="1200" b="1">
                <a:solidFill>
                  <a:srgbClr val="6ED7CF"/>
                </a:solidFill>
              </a:rPr>
              <a:t>DESN2000 Design Presentation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D91B11-5BC1-4B83-97D3-20AD16184DFA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DECE8"/>
                </a:solidFill>
              </a:defRPr>
            </a:pPr>
            <a:r>
              <a:rPr sz="1125" b="0">
                <a:solidFill>
                  <a:srgbClr val="CDECE8"/>
                </a:solidFill>
              </a:rPr>
              <a:t>Liam · Dylan · Nicky · Pranav · Week 10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C5627A-06C5-42B6-9412-F193103471FB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5B9B1"/>
                </a:solidFill>
              </a:defRPr>
            </a:pPr>
            <a:r>
              <a:rPr sz="825" b="0">
                <a:solidFill>
                  <a:srgbClr val="55B9B1"/>
                </a:solidFill>
              </a:rPr>
              <a:t>Deployed interactive HTML prototype</a:t>
            </a:r>
          </a:p>
        </p:txBody>
      </p:sp>
    </p:spTree>
    <p:extLst>
      <p:ext uri="{BB962C8B-B14F-4D97-AF65-F5344CB8AC3E}">
        <p14:creationId xmlns:p14="http://schemas.microsoft.com/office/powerpoint/2010/main" val="139234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椭圆形标注 45">
            <a:extLst>
              <a:ext uri="{FF2B5EF4-FFF2-40B4-BE49-F238E27FC236}">
                <a16:creationId xmlns:a16="http://schemas.microsoft.com/office/drawing/2014/main" id="{9E1BBF25-62C7-150A-002A-1777D510A1A8}"/>
              </a:ext>
            </a:extLst>
          </p:cNvPr>
          <p:cNvSpPr>
            <a:spLocks noGrp="1"/>
          </p:cNvSpPr>
          <p:nvPr/>
        </p:nvSpPr>
        <p:spPr>
          <a:xfrm>
            <a:off x="1478756" y="1790700"/>
            <a:ext cx="3681413" cy="1371600"/>
          </a:xfrm>
          <a:prstGeom prst="wedgeEllipseCallout">
            <a:avLst>
              <a:gd name="adj1" fmla="val -34287"/>
              <a:gd name="adj2" fmla="val 5477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982542B-B3AD-4E4F-AD97-629402D85463}"/>
              </a:ext>
            </a:extLst>
          </p:cNvPr>
          <p:cNvSpPr>
            <a:spLocks noGrp="1"/>
          </p:cNvSpPr>
          <p:nvPr/>
        </p:nvSpPr>
        <p:spPr>
          <a:xfrm>
            <a:off x="59055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3A7D13-955E-4944-A148-3F5B5A2B707F}"/>
              </a:ext>
            </a:extLst>
          </p:cNvPr>
          <p:cNvSpPr>
            <a:spLocks noGrp="1"/>
          </p:cNvSpPr>
          <p:nvPr/>
        </p:nvSpPr>
        <p:spPr>
          <a:xfrm>
            <a:off x="65913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927855-D52A-48F3-925D-7A94EA607F1F}"/>
              </a:ext>
            </a:extLst>
          </p:cNvPr>
          <p:cNvSpPr>
            <a:spLocks noGrp="1"/>
          </p:cNvSpPr>
          <p:nvPr/>
        </p:nvSpPr>
        <p:spPr>
          <a:xfrm>
            <a:off x="72771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A80050-FE9B-4A1E-8A45-B7ED31449135}"/>
              </a:ext>
            </a:extLst>
          </p:cNvPr>
          <p:cNvSpPr>
            <a:spLocks noGrp="1"/>
          </p:cNvSpPr>
          <p:nvPr/>
        </p:nvSpPr>
        <p:spPr>
          <a:xfrm>
            <a:off x="79629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B7C5B-1B62-4570-8B42-24F32542684C}"/>
              </a:ext>
            </a:extLst>
          </p:cNvPr>
          <p:cNvSpPr>
            <a:spLocks noGrp="1"/>
          </p:cNvSpPr>
          <p:nvPr/>
        </p:nvSpPr>
        <p:spPr>
          <a:xfrm>
            <a:off x="86487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BCF7E-79A3-4E89-82DC-76CED4A908AD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FB4457-0DA2-4791-950E-404BA16BC0DA}"/>
              </a:ext>
            </a:extLst>
          </p:cNvPr>
          <p:cNvSpPr>
            <a:spLocks noGrp="1"/>
          </p:cNvSpPr>
          <p:nvPr/>
        </p:nvSpPr>
        <p:spPr>
          <a:xfrm>
            <a:off x="100203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96220D-6E0C-4B4C-9DB2-63791BEBBB88}"/>
              </a:ext>
            </a:extLst>
          </p:cNvPr>
          <p:cNvSpPr>
            <a:spLocks noGrp="1"/>
          </p:cNvSpPr>
          <p:nvPr/>
        </p:nvSpPr>
        <p:spPr>
          <a:xfrm>
            <a:off x="107061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99B747-2A96-4713-BD24-581A20756F72}"/>
              </a:ext>
            </a:extLst>
          </p:cNvPr>
          <p:cNvSpPr>
            <a:spLocks noGrp="1"/>
          </p:cNvSpPr>
          <p:nvPr/>
        </p:nvSpPr>
        <p:spPr>
          <a:xfrm>
            <a:off x="113919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28A39B-D2AB-4905-963A-7177009D94FC}"/>
              </a:ext>
            </a:extLst>
          </p:cNvPr>
          <p:cNvSpPr>
            <a:spLocks noGrp="1"/>
          </p:cNvSpPr>
          <p:nvPr/>
        </p:nvSpPr>
        <p:spPr>
          <a:xfrm>
            <a:off x="120777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662B11-F919-44EE-85C6-13832DC422B6}"/>
              </a:ext>
            </a:extLst>
          </p:cNvPr>
          <p:cNvSpPr>
            <a:spLocks noGrp="1"/>
          </p:cNvSpPr>
          <p:nvPr/>
        </p:nvSpPr>
        <p:spPr>
          <a:xfrm>
            <a:off x="5905500" y="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AA9C86-F796-4D00-B6DA-E4DE16FF017E}"/>
              </a:ext>
            </a:extLst>
          </p:cNvPr>
          <p:cNvSpPr>
            <a:spLocks noGrp="1"/>
          </p:cNvSpPr>
          <p:nvPr/>
        </p:nvSpPr>
        <p:spPr>
          <a:xfrm>
            <a:off x="5905500" y="6858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8A5FBE-DD93-4431-A7A3-97007D2E5BAD}"/>
              </a:ext>
            </a:extLst>
          </p:cNvPr>
          <p:cNvSpPr>
            <a:spLocks noGrp="1"/>
          </p:cNvSpPr>
          <p:nvPr/>
        </p:nvSpPr>
        <p:spPr>
          <a:xfrm>
            <a:off x="5905500" y="13716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E58070-B7DA-4584-BA1B-90333E7CBB45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F1FBD3-0ED7-4F46-994B-E614948356AE}"/>
              </a:ext>
            </a:extLst>
          </p:cNvPr>
          <p:cNvSpPr>
            <a:spLocks noGrp="1"/>
          </p:cNvSpPr>
          <p:nvPr/>
        </p:nvSpPr>
        <p:spPr>
          <a:xfrm>
            <a:off x="5905500" y="27432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4F9D4-1A3A-45E2-AD3B-0A5AF2EE132B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6C45A6-FE0B-4404-B265-9904DAF54EEA}"/>
              </a:ext>
            </a:extLst>
          </p:cNvPr>
          <p:cNvSpPr>
            <a:spLocks noGrp="1"/>
          </p:cNvSpPr>
          <p:nvPr/>
        </p:nvSpPr>
        <p:spPr>
          <a:xfrm>
            <a:off x="5905500" y="41148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D23AAB-9F21-4A76-929A-2599DB5FB1DD}"/>
              </a:ext>
            </a:extLst>
          </p:cNvPr>
          <p:cNvSpPr>
            <a:spLocks noGrp="1"/>
          </p:cNvSpPr>
          <p:nvPr/>
        </p:nvSpPr>
        <p:spPr>
          <a:xfrm>
            <a:off x="5905500" y="48006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C648BA-2B79-4A3C-A850-0B79AB20334D}"/>
              </a:ext>
            </a:extLst>
          </p:cNvPr>
          <p:cNvSpPr>
            <a:spLocks noGrp="1"/>
          </p:cNvSpPr>
          <p:nvPr/>
        </p:nvSpPr>
        <p:spPr>
          <a:xfrm>
            <a:off x="5905500" y="54864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F39C16-5887-4348-A3F9-03260352C58E}"/>
              </a:ext>
            </a:extLst>
          </p:cNvPr>
          <p:cNvSpPr>
            <a:spLocks noGrp="1"/>
          </p:cNvSpPr>
          <p:nvPr/>
        </p:nvSpPr>
        <p:spPr>
          <a:xfrm>
            <a:off x="5905500" y="61722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7817EF-C0CB-46CF-BF9D-15E2372A68D4}"/>
              </a:ext>
            </a:extLst>
          </p:cNvPr>
          <p:cNvSpPr>
            <a:spLocks noGrp="1"/>
          </p:cNvSpPr>
          <p:nvPr/>
        </p:nvSpPr>
        <p:spPr>
          <a:xfrm>
            <a:off x="5905500" y="6858000"/>
            <a:ext cx="62865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06D205-7027-4931-B30A-60C6B403E3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8508EC-503F-43A2-B601-DCFA02E9304E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24" name="section-kicker">
            <a:extLst>
              <a:ext uri="{FF2B5EF4-FFF2-40B4-BE49-F238E27FC236}">
                <a16:creationId xmlns:a16="http://schemas.microsoft.com/office/drawing/2014/main" id="{BE27BB93-D043-4F24-BE92-558246EB5A8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PROBLEM</a:t>
            </a:r>
          </a:p>
        </p:txBody>
      </p:sp>
      <p:sp>
        <p:nvSpPr>
          <p:cNvPr id="25" name="slide-title">
            <a:extLst>
              <a:ext uri="{FF2B5EF4-FFF2-40B4-BE49-F238E27FC236}">
                <a16:creationId xmlns:a16="http://schemas.microsoft.com/office/drawing/2014/main" id="{FB14D54C-C644-4651-8B13-424F1D495C3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A good room can still become the wrong home.</a:t>
            </a:r>
          </a:p>
        </p:txBody>
      </p:sp>
      <p:sp>
        <p:nvSpPr>
          <p:cNvPr id="26" name="slide-number">
            <a:extLst>
              <a:ext uri="{FF2B5EF4-FFF2-40B4-BE49-F238E27FC236}">
                <a16:creationId xmlns:a16="http://schemas.microsoft.com/office/drawing/2014/main" id="{4F4DEAFA-C21F-4FFA-87CA-7571F194F1E0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02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C845AB-548D-477E-B95A-4B8C0F599FFB}"/>
              </a:ext>
            </a:extLst>
          </p:cNvPr>
          <p:cNvSpPr>
            <a:spLocks noGrp="1"/>
          </p:cNvSpPr>
          <p:nvPr/>
        </p:nvSpPr>
        <p:spPr>
          <a:xfrm>
            <a:off x="957263" y="5429250"/>
            <a:ext cx="10177462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sz="2400" b="1"/>
              <a:t>Students must judge the property, the people and the shared rules—often before trust exists.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0A6EBE-DE80-4EC5-869A-C7FBB2549603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D7178"/>
                </a:solidFill>
              </a:defRPr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C9B374-B5C4-4F39-8BED-C22D2431A857}"/>
              </a:ext>
            </a:extLst>
          </p:cNvPr>
          <p:cNvSpPr>
            <a:spLocks noGrp="1"/>
          </p:cNvSpPr>
          <p:nvPr/>
        </p:nvSpPr>
        <p:spPr>
          <a:xfrm>
            <a:off x="1624013" y="2247900"/>
            <a:ext cx="3543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2252D"/>
                </a:solidFill>
              </a:defRPr>
            </a:pPr>
            <a:r>
              <a:rPr sz="1650" b="1">
                <a:solidFill>
                  <a:srgbClr val="12252D"/>
                </a:solidFill>
              </a:rPr>
              <a:t>Is the listing genuine—and can I live with this person?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3569633-706D-45FA-B690-3C15D83AB156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79B96B-FC22-4F6E-ADF3-A5B2D5F67B0F}"/>
              </a:ext>
            </a:extLst>
          </p:cNvPr>
          <p:cNvSpPr>
            <a:spLocks noGrp="1"/>
          </p:cNvSpPr>
          <p:nvPr/>
        </p:nvSpPr>
        <p:spPr>
          <a:xfrm>
            <a:off x="6096000" y="21336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98B87"/>
                </a:solidFill>
              </a:defRPr>
            </a:pPr>
            <a:r>
              <a:rPr sz="1350" b="1">
                <a:solidFill>
                  <a:srgbClr val="198B87"/>
                </a:solidFill>
              </a:rPr>
              <a:t>01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3C303E-030A-427C-9288-2CEBBB74B137}"/>
              </a:ext>
            </a:extLst>
          </p:cNvPr>
          <p:cNvSpPr>
            <a:spLocks noGrp="1"/>
          </p:cNvSpPr>
          <p:nvPr/>
        </p:nvSpPr>
        <p:spPr>
          <a:xfrm>
            <a:off x="7181850" y="1933575"/>
            <a:ext cx="375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E2A36"/>
                </a:solidFill>
              </a:defRPr>
            </a:pPr>
            <a:r>
              <a:rPr sz="1800" b="1">
                <a:solidFill>
                  <a:srgbClr val="0E2A36"/>
                </a:solidFill>
              </a:rPr>
              <a:t>Find a real place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16A47B-2C25-433F-8866-3F1439B29F3F}"/>
              </a:ext>
            </a:extLst>
          </p:cNvPr>
          <p:cNvSpPr>
            <a:spLocks noGrp="1"/>
          </p:cNvSpPr>
          <p:nvPr/>
        </p:nvSpPr>
        <p:spPr>
          <a:xfrm>
            <a:off x="7181850" y="2314575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D7178"/>
                </a:solidFill>
              </a:defRPr>
            </a:pPr>
            <a:r>
              <a:rPr sz="1275" b="0">
                <a:solidFill>
                  <a:srgbClr val="5D7178"/>
                </a:solidFill>
              </a:rPr>
              <a:t>Price, location, verification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FD049C2-AF31-412B-8F73-17D8BE114CB8}"/>
              </a:ext>
            </a:extLst>
          </p:cNvPr>
          <p:cNvSpPr>
            <a:spLocks noGrp="1"/>
          </p:cNvSpPr>
          <p:nvPr/>
        </p:nvSpPr>
        <p:spPr>
          <a:xfrm>
            <a:off x="7181850" y="3171825"/>
            <a:ext cx="375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E2A36"/>
                </a:solidFill>
              </a:defRPr>
            </a:pPr>
            <a:r>
              <a:rPr sz="1800" b="1">
                <a:solidFill>
                  <a:srgbClr val="0E2A36"/>
                </a:solidFill>
              </a:rPr>
              <a:t>Understand the people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A6A264A-EB41-4B73-B5E9-C31E007A397D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D7178"/>
                </a:solidFill>
              </a:defRPr>
            </a:pPr>
            <a:r>
              <a:rPr sz="1275" b="0">
                <a:solidFill>
                  <a:srgbClr val="5D7178"/>
                </a:solidFill>
              </a:rPr>
              <a:t>Trust signals, habits, fit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C4042B1-36BD-41BB-BC65-6F316EB2C2DD}"/>
              </a:ext>
            </a:extLst>
          </p:cNvPr>
          <p:cNvSpPr>
            <a:spLocks noGrp="1"/>
          </p:cNvSpPr>
          <p:nvPr/>
        </p:nvSpPr>
        <p:spPr>
          <a:xfrm>
            <a:off x="6096000" y="43434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4D86D97-4A3E-4817-A347-F895EE74388D}"/>
              </a:ext>
            </a:extLst>
          </p:cNvPr>
          <p:cNvSpPr>
            <a:spLocks noGrp="1"/>
          </p:cNvSpPr>
          <p:nvPr/>
        </p:nvSpPr>
        <p:spPr>
          <a:xfrm>
            <a:off x="6096000" y="46101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98B87"/>
                </a:solidFill>
              </a:defRPr>
            </a:pPr>
            <a:r>
              <a:rPr sz="1350" b="1">
                <a:solidFill>
                  <a:srgbClr val="198B87"/>
                </a:solidFill>
              </a:rPr>
              <a:t>03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735FF79-839C-450A-B268-13EFAA320347}"/>
              </a:ext>
            </a:extLst>
          </p:cNvPr>
          <p:cNvSpPr>
            <a:spLocks noGrp="1"/>
          </p:cNvSpPr>
          <p:nvPr/>
        </p:nvSpPr>
        <p:spPr>
          <a:xfrm>
            <a:off x="7181850" y="4410075"/>
            <a:ext cx="375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E2A36"/>
                </a:solidFill>
              </a:defRPr>
            </a:pPr>
            <a:r>
              <a:rPr sz="1800" b="1">
                <a:solidFill>
                  <a:srgbClr val="0E2A36"/>
                </a:solidFill>
              </a:rPr>
              <a:t>Agree before moving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F7B7C41-FA02-4C88-9369-E38D77113018}"/>
              </a:ext>
            </a:extLst>
          </p:cNvPr>
          <p:cNvSpPr>
            <a:spLocks noGrp="1"/>
          </p:cNvSpPr>
          <p:nvPr/>
        </p:nvSpPr>
        <p:spPr>
          <a:xfrm>
            <a:off x="7181850" y="4791075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D7178"/>
                </a:solidFill>
              </a:defRPr>
            </a:pPr>
            <a:r>
              <a:rPr sz="1275" b="0">
                <a:solidFill>
                  <a:srgbClr val="5D7178"/>
                </a:solidFill>
              </a:rPr>
              <a:t>Bills, chores, privacy, guests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53BD07F-9B0D-4A29-AF4B-E8EE894F1E2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8651247-53B7-4E6B-913D-D197A855142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Problem context</a:t>
            </a:r>
          </a:p>
        </p:txBody>
      </p:sp>
      <p:pic>
        <p:nvPicPr>
          <p:cNvPr id="9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0074" y="2943225"/>
            <a:ext cx="2124075" cy="2124075"/>
          </a:xfrm>
          <a:prstGeom prst="rect">
            <a:avLst/>
          </a:prstGeom>
        </p:spPr>
      </p:pic>
      <p:sp>
        <p:nvSpPr>
          <p:cNvPr id="47" name="椭圆 46">
            <a:extLst>
              <a:ext uri="{FF2B5EF4-FFF2-40B4-BE49-F238E27FC236}">
                <a16:creationId xmlns:a16="http://schemas.microsoft.com/office/drawing/2014/main" id="{C9A83A40-6C5E-AC14-E1AD-F5C5A63D3E5C}"/>
              </a:ext>
            </a:extLst>
          </p:cNvPr>
          <p:cNvSpPr>
            <a:spLocks noGrp="1"/>
          </p:cNvSpPr>
          <p:nvPr/>
        </p:nvSpPr>
        <p:spPr>
          <a:xfrm>
            <a:off x="6096000" y="3095625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34212E6-B8F6-0421-87D9-E3DB15C228C6}"/>
              </a:ext>
            </a:extLst>
          </p:cNvPr>
          <p:cNvSpPr>
            <a:spLocks noGrp="1"/>
          </p:cNvSpPr>
          <p:nvPr/>
        </p:nvSpPr>
        <p:spPr>
          <a:xfrm>
            <a:off x="6096000" y="3362325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98B87"/>
                </a:solidFill>
              </a:defRPr>
            </a:pPr>
            <a:r>
              <a:rPr sz="1350" b="1">
                <a:solidFill>
                  <a:srgbClr val="198B8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194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ECE0E8E1-3AE4-885F-8859-22EE2A4119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09A847-2621-868F-2661-7B4F0AF4572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1EAE8B-20A7-474F-1B1D-A6CC3545DDA8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B2FB8C-726E-8836-F569-AAB504A2A7DB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305E77-8DFC-8566-4AB0-5B36ADD78C2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08522D-F00A-293E-D6B6-364B5C5EBE51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B35A53-D2D8-11AB-4C72-3CDF8A326482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BBFD32-AC99-B916-F451-F2329E2B8B05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B513F2-25DC-30ED-798D-850BB8C4C369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95E84E-B159-59B5-55B5-46C50BF74829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A219B5-2691-D608-F311-3AEA8AAE3A1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A73F56-95E4-EFD8-8532-FA4A863887AF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92C19A-43ED-9DDE-7786-FE635045959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C8C907-04B9-8686-D4AD-EC13BC6A4305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B803AA-CC5E-0475-367F-3509EB17531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86A137-C98A-2A90-279C-251942F05C68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D7B880-3706-E52F-8C78-16850F85D69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084057-2B80-5A72-449C-3EDE55180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DFA96F-8E44-25B7-FD31-35C0A5BE899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409A90-061B-205B-F82F-2985EA834DF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ACD41E-743D-08FD-BE6D-7F7907A4E4D0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736063-E96C-1B37-DB6F-FBBEC26AF99D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FE838D-2669-9628-D734-11DD0D1B84B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9FDA68-DAA8-A656-87A0-7FA2781FA516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5E1906-B964-A990-D97D-9F3B9C01F61F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6C49B6D-49F5-698F-AF36-E01E48CE217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35C875-2487-A540-02BA-08C5AAFBA4BD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0925BD-3A51-3FBB-E8A3-131F45AF8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06D70B-D7FB-02BC-8989-D7DD57E17B20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30" name="section-kicker">
            <a:extLst>
              <a:ext uri="{FF2B5EF4-FFF2-40B4-BE49-F238E27FC236}">
                <a16:creationId xmlns:a16="http://schemas.microsoft.com/office/drawing/2014/main" id="{5923030C-AB04-5340-04C5-42ED6490AF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RESEARCH EVIDENCE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7ED87356-CCD5-D56C-3C86-928F2288664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Trust and compatibility shape the housing decision.</a:t>
            </a:r>
          </a:p>
        </p:txBody>
      </p:sp>
      <p:sp>
        <p:nvSpPr>
          <p:cNvPr id="32" name="slide-subtitle">
            <a:extLst>
              <a:ext uri="{FF2B5EF4-FFF2-40B4-BE49-F238E27FC236}">
                <a16:creationId xmlns:a16="http://schemas.microsoft.com/office/drawing/2014/main" id="{122CEF4C-1488-4244-36EF-FE50B171F22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5D7178"/>
                </a:solidFill>
              </a:defRPr>
            </a:pPr>
            <a:r>
              <a:rPr sz="1425" b="0">
                <a:solidFill>
                  <a:srgbClr val="5D7178"/>
                </a:solidFill>
              </a:rPr>
              <a:t>Survey of 16 international students currently studying in Australia.</a:t>
            </a:r>
          </a:p>
        </p:txBody>
      </p:sp>
      <p:sp>
        <p:nvSpPr>
          <p:cNvPr id="33" name="slide-number">
            <a:extLst>
              <a:ext uri="{FF2B5EF4-FFF2-40B4-BE49-F238E27FC236}">
                <a16:creationId xmlns:a16="http://schemas.microsoft.com/office/drawing/2014/main" id="{8FFF7D56-4428-E1AB-EE82-50A3F3834332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03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2BC4B3-B014-E47A-E8C3-89398CF2EF7E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609600" cy="57150"/>
          </a:xfrm>
          <a:prstGeom prst="rect">
            <a:avLst/>
          </a:prstGeom>
          <a:solidFill>
            <a:srgbClr val="E77C64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1AD9343-10CF-9650-5F90-8B0D26A5BFAE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95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1">
                <a:solidFill>
                  <a:srgbClr val="0E2A36"/>
                </a:solidFill>
              </a:defRPr>
            </a:pPr>
            <a:r>
              <a:rPr sz="4050" b="1">
                <a:solidFill>
                  <a:srgbClr val="0E2A36"/>
                </a:solidFill>
              </a:rPr>
              <a:t>100%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6FEBF1-8658-EF23-A041-622654E02D36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2252D"/>
                </a:solidFill>
              </a:defRPr>
            </a:pPr>
            <a:r>
              <a:rPr sz="1500" b="1">
                <a:solidFill>
                  <a:srgbClr val="12252D"/>
                </a:solidFill>
              </a:rPr>
              <a:t>concerned about scams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8A98891-F213-34D2-E1AD-0D968C074FAC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D7178"/>
                </a:solidFill>
              </a:defRPr>
            </a:pPr>
            <a:r>
              <a:rPr sz="1200" b="0">
                <a:solidFill>
                  <a:srgbClr val="5D7178"/>
                </a:solidFill>
              </a:rPr>
              <a:t>All respondents reported some concern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F934788-980A-097B-9D2A-F89629ADCAA0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609600" cy="5715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91A031-EF28-3789-A422-BF3CB9DBEC9F}"/>
              </a:ext>
            </a:extLst>
          </p:cNvPr>
          <p:cNvSpPr>
            <a:spLocks noGrp="1"/>
          </p:cNvSpPr>
          <p:nvPr/>
        </p:nvSpPr>
        <p:spPr>
          <a:xfrm>
            <a:off x="4476750" y="2533650"/>
            <a:ext cx="295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1">
                <a:solidFill>
                  <a:srgbClr val="0E2A36"/>
                </a:solidFill>
              </a:defRPr>
            </a:pPr>
            <a:r>
              <a:rPr sz="4050" b="1">
                <a:solidFill>
                  <a:srgbClr val="0E2A36"/>
                </a:solidFill>
              </a:rPr>
              <a:t>4.44/5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F83880-CA15-A498-E1EF-FC7AFE78A699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2252D"/>
                </a:solidFill>
              </a:defRPr>
            </a:pPr>
            <a:r>
              <a:rPr sz="1500" b="1">
                <a:solidFill>
                  <a:srgbClr val="12252D"/>
                </a:solidFill>
              </a:rPr>
              <a:t>importance of compatibility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A222FD7-D0D5-1695-5950-D1D1F7AB4FFF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D7178"/>
                </a:solidFill>
              </a:defRPr>
            </a:pPr>
            <a:r>
              <a:rPr sz="1200" b="0">
                <a:solidFill>
                  <a:srgbClr val="5D7178"/>
                </a:solidFill>
              </a:rPr>
              <a:t>Average rating across respondents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98DAABC-5BD7-4315-D453-B728D6ED5A8C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609600" cy="57150"/>
          </a:xfrm>
          <a:prstGeom prst="rect">
            <a:avLst/>
          </a:prstGeom>
          <a:solidFill>
            <a:srgbClr val="E9B85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3B97093-38CA-1B1A-44F9-D6500D11EAD0}"/>
              </a:ext>
            </a:extLst>
          </p:cNvPr>
          <p:cNvSpPr>
            <a:spLocks noGrp="1"/>
          </p:cNvSpPr>
          <p:nvPr/>
        </p:nvSpPr>
        <p:spPr>
          <a:xfrm>
            <a:off x="8286750" y="2533650"/>
            <a:ext cx="295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1">
                <a:solidFill>
                  <a:srgbClr val="0E2A36"/>
                </a:solidFill>
              </a:defRPr>
            </a:pPr>
            <a:r>
              <a:rPr sz="4050" b="1">
                <a:solidFill>
                  <a:srgbClr val="0E2A36"/>
                </a:solidFill>
              </a:rPr>
              <a:t>68.75%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8E76066-1833-F164-930D-C39E938E950F}"/>
              </a:ext>
            </a:extLst>
          </p:cNvPr>
          <p:cNvSpPr>
            <a:spLocks noGrp="1"/>
          </p:cNvSpPr>
          <p:nvPr/>
        </p:nvSpPr>
        <p:spPr>
          <a:xfrm>
            <a:off x="8286750" y="32956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2252D"/>
                </a:solidFill>
              </a:defRPr>
            </a:pPr>
            <a:r>
              <a:rPr sz="1500" b="1">
                <a:solidFill>
                  <a:srgbClr val="12252D"/>
                </a:solidFill>
              </a:rPr>
              <a:t>experienced housemate conflict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8CA8138-4A27-2E5B-8C14-74F54F6EB923}"/>
              </a:ext>
            </a:extLst>
          </p:cNvPr>
          <p:cNvSpPr>
            <a:spLocks noGrp="1"/>
          </p:cNvSpPr>
          <p:nvPr/>
        </p:nvSpPr>
        <p:spPr>
          <a:xfrm>
            <a:off x="8286750" y="3829050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D7178"/>
                </a:solidFill>
              </a:defRPr>
            </a:pPr>
            <a:r>
              <a:rPr sz="1200" b="0">
                <a:solidFill>
                  <a:srgbClr val="5D7178"/>
                </a:solidFill>
              </a:rPr>
              <a:t>Conflict continues after move-in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53537E1A-B30F-B8A9-82D7-E3995EE646F0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DCECF1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A60414D4-34E9-C637-8535-3AE1198A98B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77C64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FF7D9B8-CA75-0F22-8860-5CF1A9BE0E65}"/>
              </a:ext>
            </a:extLst>
          </p:cNvPr>
          <p:cNvSpPr>
            <a:spLocks noGrp="1"/>
          </p:cNvSpPr>
          <p:nvPr/>
        </p:nvSpPr>
        <p:spPr>
          <a:xfrm>
            <a:off x="3429000" y="444817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77C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1981055-FBB2-366B-ACB2-2CD57F897BA7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5D7178"/>
                </a:solidFill>
              </a:defRPr>
            </a:pPr>
            <a:r>
              <a:rPr sz="900" b="1">
                <a:solidFill>
                  <a:srgbClr val="5D7178"/>
                </a:solidFill>
              </a:rPr>
              <a:t>16 of 16 respondents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5FD3DE66-48A4-735A-63B2-3E9AAD4633CA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DCECF1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92A55DEA-274F-E3E3-861E-98C3C42432B5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2537460" cy="114300"/>
          </a:xfrm>
          <a:prstGeom prst="roundRect">
            <a:avLst>
              <a:gd name="adj" fmla="val 50000"/>
            </a:avLst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57C7818-E844-6554-6487-16F5C6944778}"/>
              </a:ext>
            </a:extLst>
          </p:cNvPr>
          <p:cNvSpPr>
            <a:spLocks noGrp="1"/>
          </p:cNvSpPr>
          <p:nvPr/>
        </p:nvSpPr>
        <p:spPr>
          <a:xfrm>
            <a:off x="6957060" y="444817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8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1CDD3CA-99D8-D0BA-659F-3B209B3A0B70}"/>
              </a:ext>
            </a:extLst>
          </p:cNvPr>
          <p:cNvSpPr>
            <a:spLocks noGrp="1"/>
          </p:cNvSpPr>
          <p:nvPr/>
        </p:nvSpPr>
        <p:spPr>
          <a:xfrm>
            <a:off x="4476750" y="46767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5D7178"/>
                </a:solidFill>
              </a:defRPr>
            </a:pPr>
            <a:r>
              <a:rPr sz="900" b="1">
                <a:solidFill>
                  <a:srgbClr val="5D7178"/>
                </a:solidFill>
              </a:rPr>
              <a:t>4.44 of 5 average rating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752C33A8-0AD4-BB9B-6C2B-AB3D83897BE9}"/>
              </a:ext>
            </a:extLst>
          </p:cNvPr>
          <p:cNvSpPr>
            <a:spLocks noGrp="1"/>
          </p:cNvSpPr>
          <p:nvPr/>
        </p:nvSpPr>
        <p:spPr>
          <a:xfrm>
            <a:off x="8286750" y="44767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DCECF1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542E0A5D-CCA1-0284-EE7C-3AB166160A84}"/>
              </a:ext>
            </a:extLst>
          </p:cNvPr>
          <p:cNvSpPr>
            <a:spLocks noGrp="1"/>
          </p:cNvSpPr>
          <p:nvPr/>
        </p:nvSpPr>
        <p:spPr>
          <a:xfrm>
            <a:off x="8286750" y="4476750"/>
            <a:ext cx="1964531" cy="114300"/>
          </a:xfrm>
          <a:prstGeom prst="roundRect">
            <a:avLst>
              <a:gd name="adj" fmla="val 50000"/>
            </a:avLst>
          </a:prstGeom>
          <a:solidFill>
            <a:srgbClr val="E9B85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01899E6E-66DB-4582-FB97-5E5C2BC808F9}"/>
              </a:ext>
            </a:extLst>
          </p:cNvPr>
          <p:cNvSpPr>
            <a:spLocks noGrp="1"/>
          </p:cNvSpPr>
          <p:nvPr/>
        </p:nvSpPr>
        <p:spPr>
          <a:xfrm>
            <a:off x="10194131" y="444817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9B8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14B311B-89C3-95FE-3DAD-A16877527EA4}"/>
              </a:ext>
            </a:extLst>
          </p:cNvPr>
          <p:cNvSpPr>
            <a:spLocks noGrp="1"/>
          </p:cNvSpPr>
          <p:nvPr/>
        </p:nvSpPr>
        <p:spPr>
          <a:xfrm>
            <a:off x="8286750" y="46767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5D7178"/>
                </a:solidFill>
              </a:defRPr>
            </a:pPr>
            <a:r>
              <a:rPr sz="900" b="1">
                <a:solidFill>
                  <a:srgbClr val="5D7178"/>
                </a:solidFill>
              </a:rPr>
              <a:t>11 of 16 respondents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55AF895-826A-1E10-D957-BE19FE9BAD10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The design must address trust before contact and conflict before move-in.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63BB508-9915-090C-97B2-CC485501F16A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1747565-5DF1-A177-6CBC-A32A2E84728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International student survey, n = 16</a:t>
            </a:r>
          </a:p>
        </p:txBody>
      </p:sp>
    </p:spTree>
    <p:extLst>
      <p:ext uri="{BB962C8B-B14F-4D97-AF65-F5344CB8AC3E}">
        <p14:creationId xmlns:p14="http://schemas.microsoft.com/office/powerpoint/2010/main" val="319667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ED0B8BF-AD49-4CE7-9B68-99AA2B4336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BDF0A8-0D30-4FDF-B5A2-93C1E773E3DC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3" name="section-kicker">
            <a:extLst>
              <a:ext uri="{FF2B5EF4-FFF2-40B4-BE49-F238E27FC236}">
                <a16:creationId xmlns:a16="http://schemas.microsoft.com/office/drawing/2014/main" id="{D6D134B3-15EC-4DC2-B2FA-C858F0E7D6D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DESIGN GAP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BFA23036-DA42-4DEF-9E5F-759065CD4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Existing tools solve stages—not the whole journey.</a:t>
            </a:r>
          </a:p>
        </p:txBody>
      </p:sp>
      <p:sp>
        <p:nvSpPr>
          <p:cNvPr id="5" name="slide-number">
            <a:extLst>
              <a:ext uri="{FF2B5EF4-FFF2-40B4-BE49-F238E27FC236}">
                <a16:creationId xmlns:a16="http://schemas.microsoft.com/office/drawing/2014/main" id="{0B89F05D-A16D-4929-8138-6AC7DBD335AB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04</a:t>
            </a:r>
          </a:p>
        </p:txBody>
      </p:sp>
      <p:graphicFrame>
        <p:nvGraphicFramePr>
          <p:cNvPr id="18" name="表格 15"/>
          <p:cNvGraphicFramePr/>
          <p:nvPr/>
        </p:nvGraphicFramePr>
        <p:xfrm>
          <a:off x="704850" y="1643062"/>
          <a:ext cx="10782299" cy="4019550"/>
        </p:xfrm>
        <a:graphic>
          <a:graphicData uri="http://schemas.openxmlformats.org/drawingml/2006/table">
            <a:tbl>
              <a:tblPr/>
              <a:tblGrid>
                <a:gridCol w="1950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Tool type</a:t>
                      </a:r>
                    </a:p>
                  </a:txBody>
                  <a:tcPr marL="152400" marR="152400" marT="114300" marB="95250"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152400" marR="152400" marT="114300" marB="95250"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Strong at</a:t>
                      </a:r>
                    </a:p>
                  </a:txBody>
                  <a:tcPr marL="152400" marR="152400" marT="114300" marB="95250"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Still missing</a:t>
                      </a:r>
                    </a:p>
                  </a:txBody>
                  <a:tcPr marL="152400" marR="152400" marT="114300" marB="95250">
                    <a:solidFill>
                      <a:srgbClr val="0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400"/>
                        <a:t>Property portals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Domain / realestate.com.au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Property detail and inspections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Housemate fit and shared expectations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400"/>
                        <a:t>Social groups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Facebook Marketplace / groups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Reach and informal contact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Verification and safe communication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400"/>
                        <a:t>Housemate platforms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Flatmates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Profiles and introductions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Explainable fit and early agreements</a:t>
                      </a:r>
                    </a:p>
                  </a:txBody>
                  <a:tcPr marL="152400" marR="152400" marT="104775" marB="85725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400"/>
                        <a:t>Household apps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Splitwise / Tody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Bills and chores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Pre-move-in prevention and trust</a:t>
                      </a:r>
                    </a:p>
                  </a:txBody>
                  <a:tcPr marL="152400" marR="152400" marT="104775" marB="85725"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707726-35B8-4EE2-AFF7-D7521A87A993}"/>
              </a:ext>
            </a:extLst>
          </p:cNvPr>
          <p:cNvSpPr>
            <a:spLocks noGrp="1"/>
          </p:cNvSpPr>
          <p:nvPr/>
        </p:nvSpPr>
        <p:spPr>
          <a:xfrm>
            <a:off x="1225549" y="5829300"/>
            <a:ext cx="974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E2A36"/>
                </a:solidFill>
              </a:defRPr>
            </a:pPr>
            <a:r>
              <a:rPr sz="1875" b="1"/>
              <a:t>Design opportunity: connect trust → preference-based fit → shared expectations before commitment.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F02D7C-6FEF-4E8A-BC26-2F0BD026A56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A8F7ED-457A-4B52-8C46-2D489F7BE89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Competitive gap</a:t>
            </a:r>
          </a:p>
        </p:txBody>
      </p:sp>
    </p:spTree>
    <p:extLst>
      <p:ext uri="{BB962C8B-B14F-4D97-AF65-F5344CB8AC3E}">
        <p14:creationId xmlns:p14="http://schemas.microsoft.com/office/powerpoint/2010/main" val="417227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CB10801B-3FC5-4C90-BDDF-316C4D1C0A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C7E1D5-EFD0-49D4-800F-79C6E1A6BE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CONCEPT SELECTION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2DAC0A4-C128-4893-BA92-7250BA486AF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625" b="1">
                <a:solidFill>
                  <a:srgbClr val="12252D"/>
                </a:solidFill>
              </a:defRPr>
            </a:pPr>
            <a:r>
              <a:rPr sz="2625" b="1">
                <a:solidFill>
                  <a:srgbClr val="12252D"/>
                </a:solidFill>
              </a:rPr>
              <a:t>Compatibility leads; trust and agreement complete it.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2F0D3E-EB7C-4AF7-86CF-09073E693344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D7178"/>
                </a:solidFill>
              </a:defRPr>
            </a:pPr>
            <a:r>
              <a:rPr sz="1275" b="0">
                <a:solidFill>
                  <a:srgbClr val="5D7178"/>
                </a:solidFill>
              </a:rPr>
              <a:t>Weighted by evidence fit, user value, feasibility, testability, innovation and privacy.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9BAB3B-27D8-4C51-858E-3633A1D20CE1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B5ED08-DAF3-4EDF-A927-B31E1CD6F6E6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77C64"/>
                </a:solidFill>
              </a:defRPr>
            </a:pPr>
            <a:r>
              <a:rPr sz="1350" b="1">
                <a:solidFill>
                  <a:srgbClr val="E77C64"/>
                </a:solidFill>
              </a:rPr>
              <a:t>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CD1435-3BD9-4DC7-AEDF-854BE51D9A1A}"/>
              </a:ext>
            </a:extLst>
          </p:cNvPr>
          <p:cNvSpPr>
            <a:spLocks noGrp="1"/>
          </p:cNvSpPr>
          <p:nvPr/>
        </p:nvSpPr>
        <p:spPr>
          <a:xfrm>
            <a:off x="2914650" y="203835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325" b="1">
                <a:solidFill>
                  <a:srgbClr val="0E2A36"/>
                </a:solidFill>
              </a:defRPr>
            </a:pPr>
            <a:r>
              <a:rPr sz="2325" b="1">
                <a:solidFill>
                  <a:srgbClr val="0E2A36"/>
                </a:solidFill>
              </a:rPr>
              <a:t>4.15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50EF3A-3270-4DB2-A5BC-AAF2C5328ED5}"/>
              </a:ext>
            </a:extLst>
          </p:cNvPr>
          <p:cNvSpPr>
            <a:spLocks noGrp="1"/>
          </p:cNvSpPr>
          <p:nvPr/>
        </p:nvSpPr>
        <p:spPr>
          <a:xfrm>
            <a:off x="2914650" y="24384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OUT OF 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B37E97-3C20-4829-9AC0-EBCE8A57C915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E77C64"/>
                </a:solidFill>
              </a:defRPr>
            </a:pPr>
            <a:r>
              <a:rPr sz="975" b="1">
                <a:solidFill>
                  <a:srgbClr val="E77C64"/>
                </a:solidFill>
              </a:rPr>
              <a:t>TRUST FLOW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77C044-F481-46D5-96DD-70679DBDE600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0E2A36"/>
                </a:solidFill>
              </a:defRPr>
            </a:pPr>
            <a:r>
              <a:rPr sz="1875" b="1">
                <a:solidFill>
                  <a:srgbClr val="0E2A36"/>
                </a:solidFill>
              </a:rPr>
              <a:t>Verified accommodation &amp; housemate trust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369C39-4C71-4557-85A8-F13DC7B5ED49}"/>
              </a:ext>
            </a:extLst>
          </p:cNvPr>
          <p:cNvSpPr>
            <a:spLocks noGrp="1"/>
          </p:cNvSpPr>
          <p:nvPr/>
        </p:nvSpPr>
        <p:spPr>
          <a:xfrm>
            <a:off x="723900" y="3752850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D7178"/>
                </a:solidFill>
              </a:defRPr>
            </a:pPr>
            <a:r>
              <a:rPr sz="1200" b="0">
                <a:solidFill>
                  <a:srgbClr val="5D7178"/>
                </a:solidFill>
              </a:rPr>
              <a:t>Reduce scam risk through clear verification signals and safer contact.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6DFB6AF-7BC7-4FE1-9BA0-E49691ABCE87}"/>
              </a:ext>
            </a:extLst>
          </p:cNvPr>
          <p:cNvSpPr>
            <a:spLocks noGrp="1"/>
          </p:cNvSpPr>
          <p:nvPr/>
        </p:nvSpPr>
        <p:spPr>
          <a:xfrm>
            <a:off x="723900" y="4610100"/>
            <a:ext cx="3143250" cy="95250"/>
          </a:xfrm>
          <a:prstGeom prst="roundRect">
            <a:avLst>
              <a:gd name="adj" fmla="val 50000"/>
            </a:avLst>
          </a:prstGeom>
          <a:solidFill>
            <a:srgbClr val="E4EFF1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6B50680-F676-4359-90C9-3DA20566DB22}"/>
              </a:ext>
            </a:extLst>
          </p:cNvPr>
          <p:cNvSpPr>
            <a:spLocks noGrp="1"/>
          </p:cNvSpPr>
          <p:nvPr/>
        </p:nvSpPr>
        <p:spPr>
          <a:xfrm>
            <a:off x="723900" y="4610100"/>
            <a:ext cx="2608898" cy="95250"/>
          </a:xfrm>
          <a:prstGeom prst="roundRect">
            <a:avLst>
              <a:gd name="adj" fmla="val 50000"/>
            </a:avLst>
          </a:prstGeom>
          <a:solidFill>
            <a:srgbClr val="E77C64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0676050-DFB7-4DCD-BB97-540376FED0C4}"/>
              </a:ext>
            </a:extLst>
          </p:cNvPr>
          <p:cNvSpPr>
            <a:spLocks noGrp="1"/>
          </p:cNvSpPr>
          <p:nvPr/>
        </p:nvSpPr>
        <p:spPr>
          <a:xfrm>
            <a:off x="4343400" y="1924050"/>
            <a:ext cx="3486150" cy="3086100"/>
          </a:xfrm>
          <a:prstGeom prst="roundRect">
            <a:avLst>
              <a:gd name="adj" fmla="val 3704"/>
            </a:avLst>
          </a:prstGeom>
          <a:solidFill>
            <a:srgbClr val="198B87"/>
          </a:solidFill>
          <a:ln w="28575">
            <a:solidFill>
              <a:srgbClr val="65D5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CE10C4-04DA-4B93-A47E-85B605A4FBBD}"/>
              </a:ext>
            </a:extLst>
          </p:cNvPr>
          <p:cNvSpPr>
            <a:spLocks noGrp="1"/>
          </p:cNvSpPr>
          <p:nvPr/>
        </p:nvSpPr>
        <p:spPr>
          <a:xfrm>
            <a:off x="4514850" y="20955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65D5CD"/>
                </a:solidFill>
              </a:defRPr>
            </a:pPr>
            <a:r>
              <a:rPr sz="1350" b="1">
                <a:solidFill>
                  <a:srgbClr val="65D5CD"/>
                </a:solidFill>
              </a:rPr>
              <a:t>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5DD93A-4715-4CA2-A87B-B55CF568D417}"/>
              </a:ext>
            </a:extLst>
          </p:cNvPr>
          <p:cNvSpPr>
            <a:spLocks noGrp="1"/>
          </p:cNvSpPr>
          <p:nvPr/>
        </p:nvSpPr>
        <p:spPr>
          <a:xfrm>
            <a:off x="6705600" y="203835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4.45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A5AD42-879C-4E19-BC60-BBB818958E42}"/>
              </a:ext>
            </a:extLst>
          </p:cNvPr>
          <p:cNvSpPr>
            <a:spLocks noGrp="1"/>
          </p:cNvSpPr>
          <p:nvPr/>
        </p:nvSpPr>
        <p:spPr>
          <a:xfrm>
            <a:off x="6705600" y="24384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D2EFEC"/>
                </a:solidFill>
              </a:defRPr>
            </a:pPr>
            <a:r>
              <a:rPr sz="750" b="1">
                <a:solidFill>
                  <a:srgbClr val="D2EFEC"/>
                </a:solidFill>
              </a:rPr>
              <a:t>OUT OF 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AEFD63-6E9A-4DF0-9ED4-C6C8402D9A19}"/>
              </a:ext>
            </a:extLst>
          </p:cNvPr>
          <p:cNvSpPr>
            <a:spLocks noGrp="1"/>
          </p:cNvSpPr>
          <p:nvPr/>
        </p:nvSpPr>
        <p:spPr>
          <a:xfrm>
            <a:off x="4514850" y="26289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5D5CD"/>
                </a:solidFill>
              </a:defRPr>
            </a:pPr>
            <a:r>
              <a:rPr sz="975" b="1">
                <a:solidFill>
                  <a:srgbClr val="65D5CD"/>
                </a:solidFill>
              </a:rPr>
              <a:t>COMPATIBILITY MATCHING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3DF09D-AAAE-43D9-8BA2-96E0385D80CF}"/>
              </a:ext>
            </a:extLst>
          </p:cNvPr>
          <p:cNvSpPr>
            <a:spLocks noGrp="1"/>
          </p:cNvSpPr>
          <p:nvPr/>
        </p:nvSpPr>
        <p:spPr>
          <a:xfrm>
            <a:off x="4514850" y="29527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Lifestyle comparison &amp; explainable fit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51CBB9-9261-43FD-ACA2-8138C77B1588}"/>
              </a:ext>
            </a:extLst>
          </p:cNvPr>
          <p:cNvSpPr>
            <a:spLocks noGrp="1"/>
          </p:cNvSpPr>
          <p:nvPr/>
        </p:nvSpPr>
        <p:spPr>
          <a:xfrm>
            <a:off x="4514850" y="3752850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D2EFEC"/>
                </a:solidFill>
              </a:defRPr>
            </a:pPr>
            <a:r>
              <a:rPr sz="1200" b="0">
                <a:solidFill>
                  <a:srgbClr val="D2EFEC"/>
                </a:solidFill>
              </a:rPr>
              <a:t>Compare cleanliness, noise, guests, schedules, chores and bills.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AB192A3-2E78-45E6-AB7B-7F8853FFEE1C}"/>
              </a:ext>
            </a:extLst>
          </p:cNvPr>
          <p:cNvSpPr>
            <a:spLocks noGrp="1"/>
          </p:cNvSpPr>
          <p:nvPr/>
        </p:nvSpPr>
        <p:spPr>
          <a:xfrm>
            <a:off x="4514850" y="4610100"/>
            <a:ext cx="3143250" cy="95250"/>
          </a:xfrm>
          <a:prstGeom prst="roundRect">
            <a:avLst>
              <a:gd name="adj" fmla="val 50000"/>
            </a:avLst>
          </a:prstGeom>
          <a:solidFill>
            <a:srgbClr val="163B4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026E2C33-E4F3-4B69-9DE8-856D74494392}"/>
              </a:ext>
            </a:extLst>
          </p:cNvPr>
          <p:cNvSpPr>
            <a:spLocks noGrp="1"/>
          </p:cNvSpPr>
          <p:nvPr/>
        </p:nvSpPr>
        <p:spPr>
          <a:xfrm>
            <a:off x="4514850" y="4610100"/>
            <a:ext cx="2797493" cy="95250"/>
          </a:xfrm>
          <a:prstGeom prst="roundRect">
            <a:avLst>
              <a:gd name="adj" fmla="val 50000"/>
            </a:avLst>
          </a:prstGeom>
          <a:solidFill>
            <a:srgbClr val="65D5CD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19DD44-E984-48FA-A6F4-A879FAA18B33}"/>
              </a:ext>
            </a:extLst>
          </p:cNvPr>
          <p:cNvSpPr>
            <a:spLocks noGrp="1"/>
          </p:cNvSpPr>
          <p:nvPr/>
        </p:nvSpPr>
        <p:spPr>
          <a:xfrm>
            <a:off x="4514850" y="47815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SELECTED CORE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ABC0B2-39B5-427D-B05E-1BA6880D1804}"/>
              </a:ext>
            </a:extLst>
          </p:cNvPr>
          <p:cNvSpPr>
            <a:spLocks noGrp="1"/>
          </p:cNvSpPr>
          <p:nvPr/>
        </p:nvSpPr>
        <p:spPr>
          <a:xfrm>
            <a:off x="8305800" y="20955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9B85F"/>
                </a:solidFill>
              </a:defRPr>
            </a:pPr>
            <a:r>
              <a:rPr sz="1350" b="1">
                <a:solidFill>
                  <a:srgbClr val="E9B85F"/>
                </a:solidFill>
              </a:rPr>
              <a:t>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C56010-97E1-4AA7-9B3A-199493CA4EB9}"/>
              </a:ext>
            </a:extLst>
          </p:cNvPr>
          <p:cNvSpPr>
            <a:spLocks noGrp="1"/>
          </p:cNvSpPr>
          <p:nvPr/>
        </p:nvSpPr>
        <p:spPr>
          <a:xfrm>
            <a:off x="10496550" y="203835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325" b="1">
                <a:solidFill>
                  <a:srgbClr val="0E2A36"/>
                </a:solidFill>
              </a:defRPr>
            </a:pPr>
            <a:r>
              <a:rPr sz="2325" b="1">
                <a:solidFill>
                  <a:srgbClr val="0E2A36"/>
                </a:solidFill>
              </a:rPr>
              <a:t>4.35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79FF02-3CD1-4262-BA7E-61A193959725}"/>
              </a:ext>
            </a:extLst>
          </p:cNvPr>
          <p:cNvSpPr>
            <a:spLocks noGrp="1"/>
          </p:cNvSpPr>
          <p:nvPr/>
        </p:nvSpPr>
        <p:spPr>
          <a:xfrm>
            <a:off x="10496550" y="24384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OUT OF 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E90F59-225D-4222-8D4F-E875B5761A06}"/>
              </a:ext>
            </a:extLst>
          </p:cNvPr>
          <p:cNvSpPr>
            <a:spLocks noGrp="1"/>
          </p:cNvSpPr>
          <p:nvPr/>
        </p:nvSpPr>
        <p:spPr>
          <a:xfrm>
            <a:off x="8305800" y="26289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E9B85F"/>
                </a:solidFill>
              </a:defRPr>
            </a:pPr>
            <a:r>
              <a:rPr sz="975" b="1">
                <a:solidFill>
                  <a:srgbClr val="E9B85F"/>
                </a:solidFill>
              </a:rPr>
              <a:t>CO-LIVING AGREEMENT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B1823D-EDEA-4C11-A6AB-52AD97F973C3}"/>
              </a:ext>
            </a:extLst>
          </p:cNvPr>
          <p:cNvSpPr>
            <a:spLocks noGrp="1"/>
          </p:cNvSpPr>
          <p:nvPr/>
        </p:nvSpPr>
        <p:spPr>
          <a:xfrm>
            <a:off x="8305800" y="29527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0E2A36"/>
                </a:solidFill>
              </a:defRPr>
            </a:pPr>
            <a:r>
              <a:rPr sz="1875" b="1">
                <a:solidFill>
                  <a:srgbClr val="0E2A36"/>
                </a:solidFill>
              </a:rPr>
              <a:t>Pre-move-in expectations &amp; responsibilities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344567-0751-4E2C-9ECD-5C15F03B2799}"/>
              </a:ext>
            </a:extLst>
          </p:cNvPr>
          <p:cNvSpPr>
            <a:spLocks noGrp="1"/>
          </p:cNvSpPr>
          <p:nvPr/>
        </p:nvSpPr>
        <p:spPr>
          <a:xfrm>
            <a:off x="8305800" y="3752850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D7178"/>
                </a:solidFill>
              </a:defRPr>
            </a:pPr>
            <a:r>
              <a:rPr sz="1200" b="0">
                <a:solidFill>
                  <a:srgbClr val="5D7178"/>
                </a:solidFill>
              </a:rPr>
              <a:t>Clarify chores, bills, privacy and house rules before commitment.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D4FAC7B-D39F-4EF3-84C7-877ABAC4522A}"/>
              </a:ext>
            </a:extLst>
          </p:cNvPr>
          <p:cNvSpPr>
            <a:spLocks noGrp="1"/>
          </p:cNvSpPr>
          <p:nvPr/>
        </p:nvSpPr>
        <p:spPr>
          <a:xfrm>
            <a:off x="8305800" y="4610100"/>
            <a:ext cx="3143250" cy="95250"/>
          </a:xfrm>
          <a:prstGeom prst="roundRect">
            <a:avLst>
              <a:gd name="adj" fmla="val 50000"/>
            </a:avLst>
          </a:prstGeom>
          <a:solidFill>
            <a:srgbClr val="E4EFF1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867CAFDA-0354-4CED-AC33-EB600F474BD1}"/>
              </a:ext>
            </a:extLst>
          </p:cNvPr>
          <p:cNvSpPr>
            <a:spLocks noGrp="1"/>
          </p:cNvSpPr>
          <p:nvPr/>
        </p:nvSpPr>
        <p:spPr>
          <a:xfrm>
            <a:off x="8305800" y="4610100"/>
            <a:ext cx="2734627" cy="95250"/>
          </a:xfrm>
          <a:prstGeom prst="roundRect">
            <a:avLst>
              <a:gd name="adj" fmla="val 50000"/>
            </a:avLst>
          </a:prstGeom>
          <a:solidFill>
            <a:srgbClr val="E9B85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3A67F61-1AC8-4E34-B51D-457823F38B95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820400" cy="781050"/>
          </a:xfrm>
          <a:prstGeom prst="roundRect">
            <a:avLst>
              <a:gd name="adj" fmla="val 14634"/>
            </a:avLst>
          </a:prstGeom>
          <a:solidFill>
            <a:srgbClr val="0E2A36"/>
          </a:solidFill>
          <a:ln w="9525">
            <a:solidFill>
              <a:srgbClr val="65D5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FF5B169-1451-473E-B5DF-FECDF22AEF72}"/>
              </a:ext>
            </a:extLst>
          </p:cNvPr>
          <p:cNvSpPr>
            <a:spLocks noGrp="1"/>
          </p:cNvSpPr>
          <p:nvPr/>
        </p:nvSpPr>
        <p:spPr>
          <a:xfrm>
            <a:off x="914400" y="54768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5D5CD"/>
                </a:solidFill>
              </a:defRPr>
            </a:pPr>
            <a:r>
              <a:rPr sz="975" b="1">
                <a:solidFill>
                  <a:srgbClr val="65D5CD"/>
                </a:solidFill>
              </a:rPr>
              <a:t>FINAL DIRECTION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77E74C1-5213-48F0-B209-863A90B2E39B}"/>
              </a:ext>
            </a:extLst>
          </p:cNvPr>
          <p:cNvSpPr>
            <a:spLocks noGrp="1"/>
          </p:cNvSpPr>
          <p:nvPr/>
        </p:nvSpPr>
        <p:spPr>
          <a:xfrm>
            <a:off x="2647950" y="5429250"/>
            <a:ext cx="851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Concept B as the core  +  trust indicators from A  +  agreement setup from C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75D0AF9-4D9F-4DCD-A6AC-0A4F394ED614}"/>
              </a:ext>
            </a:extLst>
          </p:cNvPr>
          <p:cNvSpPr>
            <a:spLocks noGrp="1"/>
          </p:cNvSpPr>
          <p:nvPr/>
        </p:nvSpPr>
        <p:spPr>
          <a:xfrm>
            <a:off x="2647950" y="5791200"/>
            <a:ext cx="851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D2EFEC"/>
                </a:solidFill>
              </a:defRPr>
            </a:pPr>
            <a:r>
              <a:rPr sz="975" b="0">
                <a:solidFill>
                  <a:srgbClr val="D2EFEC"/>
                </a:solidFill>
              </a:rPr>
              <a:t>The result is one focused, feasible and testable product journey.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48F107-0ED4-4A90-9247-4D53FC99A3F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A369475-791F-4BD5-9A3A-81ADB595585C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Weighted decision matrix</a:t>
            </a:r>
          </a:p>
        </p:txBody>
      </p:sp>
    </p:spTree>
    <p:extLst>
      <p:ext uri="{BB962C8B-B14F-4D97-AF65-F5344CB8AC3E}">
        <p14:creationId xmlns:p14="http://schemas.microsoft.com/office/powerpoint/2010/main" val="60144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>
            <a:extLst>
              <a:ext uri="{FF2B5EF4-FFF2-40B4-BE49-F238E27FC236}">
                <a16:creationId xmlns:a16="http://schemas.microsoft.com/office/drawing/2014/main" id="{B1F598DD-0400-40D4-BA6D-5D0A57C231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043536-D71E-46E1-9487-A87483EEDDF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29F231-06EF-499B-84D1-3CF4026277F4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210A42-4958-4732-B39E-044654BD2264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E7304B-C1ED-4663-8AC2-8847D07140C9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ED71C1-53D5-435B-A23B-958B58DA336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2B2695-8C43-4A7A-81F0-24D14A89B89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2BCC30-5019-49D5-AAA1-19790B585E52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2B39CE-0EF2-4A15-82B7-904E931D1A21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32334B-479F-4A8F-911E-BA9E1003BB43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E8293-4AE4-4811-98FE-6C968004AD6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FA3EA7-3371-4A9E-9342-662BFFFE8928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53093E-E019-4F40-B365-F0B62E6EC60B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B04AF9-089D-4ACE-98D2-534FBC08C2A7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5B6C09-5434-4111-A58E-246830B402C0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35F171-B71B-4C15-B22A-1F3D23DFAF4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B037F4-1A58-4A0E-A07B-85578C73227B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ACABE5-11BB-453F-9BCC-CB83B3CDC6B0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029672-9770-497D-881F-8209E8695CDE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F3A6BA-48EF-4D86-B65A-AD0E14BC03D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9F7413-E46F-4858-9713-29F2C3E9C160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A5830D-51A4-4656-991A-3008D509D7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3768F7-AC24-4E62-9051-771B8D98F334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FF6BA7-56BE-4160-ABAB-480D7CFAEE91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2EDF79-8A47-4FD2-A58C-B82DFA4E8054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CCD0E7-E609-46EE-90EF-F10146E7E20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57D62A-D38F-4B9B-A9BD-3512668D7E1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F4DFE08-5468-4926-ACED-E0C67E5DDF96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71D5E3-DED2-46FA-8822-C9D11EEE239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5DA4BF-62E6-4A78-8AF8-0875B1188F90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F093F7-77AD-45BA-B3C9-F912148DCB98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236AF7B-BCE4-4580-BF52-CE37BD91E90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FF47FF-7EC1-481E-8799-A91142007DD1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0ECDA4-92B7-424D-B323-1F5C260433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ED7C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38A7E21-1476-46E2-BAA8-BA9FBDE080F9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5B9B1"/>
                </a:solidFill>
              </a:defRPr>
            </a:pPr>
            <a:r>
              <a:rPr sz="750" b="1">
                <a:solidFill>
                  <a:srgbClr val="55B9B1"/>
                </a:solidFill>
              </a:rPr>
              <a:t>ROOMMATE HAVEN / SYSTEM VIEW</a:t>
            </a:r>
          </a:p>
        </p:txBody>
      </p:sp>
      <p:sp>
        <p:nvSpPr>
          <p:cNvPr id="36" name="section-kicker">
            <a:extLst>
              <a:ext uri="{FF2B5EF4-FFF2-40B4-BE49-F238E27FC236}">
                <a16:creationId xmlns:a16="http://schemas.microsoft.com/office/drawing/2014/main" id="{7AB6A495-4452-4B78-8C7F-B30DD07F362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5B9B1"/>
                </a:solidFill>
              </a:defRPr>
            </a:pPr>
            <a:r>
              <a:rPr sz="1050" b="1">
                <a:solidFill>
                  <a:srgbClr val="55B9B1"/>
                </a:solidFill>
              </a:rPr>
              <a:t>SELECTED SOLUTION</a:t>
            </a:r>
          </a:p>
        </p:txBody>
      </p:sp>
      <p:sp>
        <p:nvSpPr>
          <p:cNvPr id="37" name="slide-title">
            <a:extLst>
              <a:ext uri="{FF2B5EF4-FFF2-40B4-BE49-F238E27FC236}">
                <a16:creationId xmlns:a16="http://schemas.microsoft.com/office/drawing/2014/main" id="{26563AF6-C65D-4F0D-B79B-18C52E148E1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Five connected decisions reduce risk before commitment.</a:t>
            </a:r>
          </a:p>
        </p:txBody>
      </p:sp>
      <p:sp>
        <p:nvSpPr>
          <p:cNvPr id="38" name="slide-subtitle">
            <a:extLst>
              <a:ext uri="{FF2B5EF4-FFF2-40B4-BE49-F238E27FC236}">
                <a16:creationId xmlns:a16="http://schemas.microsoft.com/office/drawing/2014/main" id="{F6906937-8EEA-4A8B-B193-2B0D3712A8F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CDECE8"/>
                </a:solidFill>
              </a:defRPr>
            </a:pPr>
            <a:r>
              <a:rPr sz="1425" b="0">
                <a:solidFill>
                  <a:srgbClr val="CDECE8"/>
                </a:solidFill>
              </a:rPr>
              <a:t>Find home → verify → compare fit → talk safely → agree early.</a:t>
            </a:r>
          </a:p>
        </p:txBody>
      </p:sp>
      <p:sp>
        <p:nvSpPr>
          <p:cNvPr id="39" name="slide-number">
            <a:extLst>
              <a:ext uri="{FF2B5EF4-FFF2-40B4-BE49-F238E27FC236}">
                <a16:creationId xmlns:a16="http://schemas.microsoft.com/office/drawing/2014/main" id="{6B737E96-E115-4B21-94C1-C778E2661EE3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CDECE8"/>
                </a:solidFill>
              </a:defRPr>
            </a:pPr>
            <a:r>
              <a:rPr sz="975" b="1">
                <a:solidFill>
                  <a:srgbClr val="CDECE8"/>
                </a:solidFill>
              </a:rPr>
              <a:t>06</a:t>
            </a:r>
          </a:p>
        </p:txBody>
      </p:sp>
      <p:sp>
        <p:nvSpPr>
          <p:cNvPr id="40" name="flow-anchor-1">
            <a:extLst>
              <a:ext uri="{FF2B5EF4-FFF2-40B4-BE49-F238E27FC236}">
                <a16:creationId xmlns:a16="http://schemas.microsoft.com/office/drawing/2014/main" id="{C05723E8-604C-4C2D-B768-8FFB9ACEB0C7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714500" cy="1524000"/>
          </a:xfrm>
          <a:prstGeom prst="roundRect">
            <a:avLst>
              <a:gd name="adj" fmla="val 750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flow-anchor-2">
            <a:extLst>
              <a:ext uri="{FF2B5EF4-FFF2-40B4-BE49-F238E27FC236}">
                <a16:creationId xmlns:a16="http://schemas.microsoft.com/office/drawing/2014/main" id="{4019F432-118B-4E17-9EDB-F23E947469F4}"/>
              </a:ext>
            </a:extLst>
          </p:cNvPr>
          <p:cNvSpPr>
            <a:spLocks noGrp="1"/>
          </p:cNvSpPr>
          <p:nvPr/>
        </p:nvSpPr>
        <p:spPr>
          <a:xfrm>
            <a:off x="2990850" y="2857500"/>
            <a:ext cx="1714500" cy="1524000"/>
          </a:xfrm>
          <a:prstGeom prst="roundRect">
            <a:avLst>
              <a:gd name="adj" fmla="val 750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flow-anchor-3">
            <a:extLst>
              <a:ext uri="{FF2B5EF4-FFF2-40B4-BE49-F238E27FC236}">
                <a16:creationId xmlns:a16="http://schemas.microsoft.com/office/drawing/2014/main" id="{7AA1C0B3-B104-4625-978A-DF47C8D65573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714500" cy="1524000"/>
          </a:xfrm>
          <a:prstGeom prst="roundRect">
            <a:avLst>
              <a:gd name="adj" fmla="val 750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flow-anchor-4">
            <a:extLst>
              <a:ext uri="{FF2B5EF4-FFF2-40B4-BE49-F238E27FC236}">
                <a16:creationId xmlns:a16="http://schemas.microsoft.com/office/drawing/2014/main" id="{6F0159E3-BB3E-4D3E-B981-0890C5C3F801}"/>
              </a:ext>
            </a:extLst>
          </p:cNvPr>
          <p:cNvSpPr>
            <a:spLocks noGrp="1"/>
          </p:cNvSpPr>
          <p:nvPr/>
        </p:nvSpPr>
        <p:spPr>
          <a:xfrm>
            <a:off x="7486650" y="2857500"/>
            <a:ext cx="1714500" cy="1524000"/>
          </a:xfrm>
          <a:prstGeom prst="roundRect">
            <a:avLst>
              <a:gd name="adj" fmla="val 750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flow-anchor-5">
            <a:extLst>
              <a:ext uri="{FF2B5EF4-FFF2-40B4-BE49-F238E27FC236}">
                <a16:creationId xmlns:a16="http://schemas.microsoft.com/office/drawing/2014/main" id="{CB45B495-EACF-4A8C-B95D-31EA1A8C4171}"/>
              </a:ext>
            </a:extLst>
          </p:cNvPr>
          <p:cNvSpPr>
            <a:spLocks noGrp="1"/>
          </p:cNvSpPr>
          <p:nvPr/>
        </p:nvSpPr>
        <p:spPr>
          <a:xfrm>
            <a:off x="9734550" y="2857500"/>
            <a:ext cx="1714500" cy="1524000"/>
          </a:xfrm>
          <a:prstGeom prst="roundRect">
            <a:avLst>
              <a:gd name="adj" fmla="val 750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11" name="直线箭头连接符 114"/>
          <p:cNvCxnSpPr>
            <a:stCxn id="40" idx="3"/>
            <a:endCxn id="41" idx="1"/>
          </p:cNvCxnSpPr>
          <p:nvPr/>
        </p:nvCxnSpPr>
        <p:spPr>
          <a:xfrm>
            <a:off x="2457450" y="3619500"/>
            <a:ext cx="533400" cy="0"/>
          </a:xfrm>
          <a:prstGeom prst="straightConnector1">
            <a:avLst/>
          </a:prstGeom>
          <a:ln w="28575">
            <a:solidFill>
              <a:srgbClr val="55B9B1"/>
            </a:solidFill>
            <a:prstDash val="solid"/>
            <a:tailEnd type="arrow" w="med" len="med"/>
          </a:ln>
        </p:spPr>
      </p:cxnSp>
      <p:cxnSp>
        <p:nvCxnSpPr>
          <p:cNvPr id="212" name="直线箭头连接符 115"/>
          <p:cNvCxnSpPr>
            <a:stCxn id="41" idx="3"/>
            <a:endCxn id="42" idx="1"/>
          </p:cNvCxnSpPr>
          <p:nvPr/>
        </p:nvCxnSpPr>
        <p:spPr>
          <a:xfrm>
            <a:off x="4705350" y="3619500"/>
            <a:ext cx="533400" cy="0"/>
          </a:xfrm>
          <a:prstGeom prst="straightConnector1">
            <a:avLst/>
          </a:prstGeom>
          <a:ln w="28575">
            <a:solidFill>
              <a:srgbClr val="55B9B1"/>
            </a:solidFill>
            <a:prstDash val="solid"/>
            <a:tailEnd type="arrow" w="med" len="med"/>
          </a:ln>
        </p:spPr>
      </p:cxnSp>
      <p:cxnSp>
        <p:nvCxnSpPr>
          <p:cNvPr id="213" name="直线箭头连接符 116"/>
          <p:cNvCxnSpPr>
            <a:stCxn id="42" idx="3"/>
            <a:endCxn id="43" idx="1"/>
          </p:cNvCxnSpPr>
          <p:nvPr/>
        </p:nvCxnSpPr>
        <p:spPr>
          <a:xfrm>
            <a:off x="6953250" y="3619500"/>
            <a:ext cx="533400" cy="0"/>
          </a:xfrm>
          <a:prstGeom prst="straightConnector1">
            <a:avLst/>
          </a:prstGeom>
          <a:ln w="28575">
            <a:solidFill>
              <a:srgbClr val="55B9B1"/>
            </a:solidFill>
            <a:prstDash val="solid"/>
            <a:tailEnd type="arrow" w="med" len="med"/>
          </a:ln>
        </p:spPr>
      </p:cxnSp>
      <p:cxnSp>
        <p:nvCxnSpPr>
          <p:cNvPr id="214" name="直线箭头连接符 117"/>
          <p:cNvCxnSpPr>
            <a:stCxn id="43" idx="3"/>
            <a:endCxn id="44" idx="1"/>
          </p:cNvCxnSpPr>
          <p:nvPr/>
        </p:nvCxnSpPr>
        <p:spPr>
          <a:xfrm>
            <a:off x="9201150" y="3619500"/>
            <a:ext cx="533400" cy="0"/>
          </a:xfrm>
          <a:prstGeom prst="straightConnector1">
            <a:avLst/>
          </a:prstGeom>
          <a:ln w="28575">
            <a:solidFill>
              <a:srgbClr val="55B9B1"/>
            </a:solidFill>
            <a:prstDash val="solid"/>
            <a:tailEnd type="arrow" w="med" len="med"/>
          </a:ln>
        </p:spPr>
      </p:cxn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1D8C6C88-32CF-49C1-88D9-71FCB9D8A642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714500" cy="1524000"/>
          </a:xfrm>
          <a:prstGeom prst="roundRect">
            <a:avLst>
              <a:gd name="adj" fmla="val 7500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7D9E257-2392-4BF2-ACD2-23D4264A06B4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ED7CF"/>
                </a:solidFill>
              </a:defRPr>
            </a:pPr>
            <a:r>
              <a:rPr sz="1200" b="1">
                <a:solidFill>
                  <a:srgbClr val="6ED7CF"/>
                </a:solidFill>
              </a:rPr>
              <a:t>1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3335746-34CD-4E06-8507-22449F8E0C28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138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Find home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EBDBA36-370F-43C5-B38B-5F1467D7346C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DECE8"/>
                </a:solidFill>
              </a:defRPr>
            </a:pPr>
            <a:r>
              <a:rPr sz="1125" b="0">
                <a:solidFill>
                  <a:srgbClr val="CDECE8"/>
                </a:solidFill>
              </a:rPr>
              <a:t>Price + location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4B77B21F-8F96-4942-A1BF-E05E7B4CEB0E}"/>
              </a:ext>
            </a:extLst>
          </p:cNvPr>
          <p:cNvSpPr>
            <a:spLocks noGrp="1"/>
          </p:cNvSpPr>
          <p:nvPr/>
        </p:nvSpPr>
        <p:spPr>
          <a:xfrm>
            <a:off x="2990850" y="2857500"/>
            <a:ext cx="1714500" cy="1524000"/>
          </a:xfrm>
          <a:prstGeom prst="roundRect">
            <a:avLst>
              <a:gd name="adj" fmla="val 7500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BE8D033-6EFC-4861-95A4-A1AC44352CDA}"/>
              </a:ext>
            </a:extLst>
          </p:cNvPr>
          <p:cNvSpPr>
            <a:spLocks noGrp="1"/>
          </p:cNvSpPr>
          <p:nvPr/>
        </p:nvSpPr>
        <p:spPr>
          <a:xfrm>
            <a:off x="3162300" y="30099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ED7CF"/>
                </a:solidFill>
              </a:defRPr>
            </a:pPr>
            <a:r>
              <a:rPr sz="1200" b="1">
                <a:solidFill>
                  <a:srgbClr val="6ED7CF"/>
                </a:solidFill>
              </a:rPr>
              <a:t>2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B71200A-6649-4499-9FD0-807DE53C37AA}"/>
              </a:ext>
            </a:extLst>
          </p:cNvPr>
          <p:cNvSpPr>
            <a:spLocks noGrp="1"/>
          </p:cNvSpPr>
          <p:nvPr/>
        </p:nvSpPr>
        <p:spPr>
          <a:xfrm>
            <a:off x="3162300" y="3409950"/>
            <a:ext cx="138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9002514-036C-4C64-AA03-28F77C4EB78E}"/>
              </a:ext>
            </a:extLst>
          </p:cNvPr>
          <p:cNvSpPr>
            <a:spLocks noGrp="1"/>
          </p:cNvSpPr>
          <p:nvPr/>
        </p:nvSpPr>
        <p:spPr>
          <a:xfrm>
            <a:off x="3162300" y="38481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DECE8"/>
                </a:solidFill>
              </a:defRPr>
            </a:pPr>
            <a:r>
              <a:rPr sz="1125"/>
              <a:t>Listings + people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D6C47A6F-7231-45A6-9DFE-0F419BE0547D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714500" cy="1524000"/>
          </a:xfrm>
          <a:prstGeom prst="roundRect">
            <a:avLst>
              <a:gd name="adj" fmla="val 7500"/>
            </a:avLst>
          </a:prstGeom>
          <a:solidFill>
            <a:srgbClr val="198B87"/>
          </a:solidFill>
          <a:ln w="28575">
            <a:solidFill>
              <a:srgbClr val="6ED7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E93921F-DE2C-46FF-98A2-770573AFAF14}"/>
              </a:ext>
            </a:extLst>
          </p:cNvPr>
          <p:cNvSpPr>
            <a:spLocks noGrp="1"/>
          </p:cNvSpPr>
          <p:nvPr/>
        </p:nvSpPr>
        <p:spPr>
          <a:xfrm>
            <a:off x="5410200" y="30099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0CE4D3E-09F8-49B9-97ED-F1C8548207B0}"/>
              </a:ext>
            </a:extLst>
          </p:cNvPr>
          <p:cNvSpPr>
            <a:spLocks noGrp="1"/>
          </p:cNvSpPr>
          <p:nvPr/>
        </p:nvSpPr>
        <p:spPr>
          <a:xfrm>
            <a:off x="5410200" y="3409950"/>
            <a:ext cx="138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Compare fit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E675648-9812-4846-B437-BDC215ED2199}"/>
              </a:ext>
            </a:extLst>
          </p:cNvPr>
          <p:cNvSpPr>
            <a:spLocks noGrp="1"/>
          </p:cNvSpPr>
          <p:nvPr/>
        </p:nvSpPr>
        <p:spPr>
          <a:xfrm>
            <a:off x="5410200" y="38862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DECE8"/>
                </a:solidFill>
              </a:defRPr>
            </a:pPr>
            <a:r>
              <a:rPr sz="1125" b="0">
                <a:solidFill>
                  <a:srgbClr val="CDECE8"/>
                </a:solidFill>
              </a:rPr>
              <a:t>Habits + gaps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3101B0D7-73A7-4ADD-9CC2-7EDFDCDCE76C}"/>
              </a:ext>
            </a:extLst>
          </p:cNvPr>
          <p:cNvSpPr>
            <a:spLocks noGrp="1"/>
          </p:cNvSpPr>
          <p:nvPr/>
        </p:nvSpPr>
        <p:spPr>
          <a:xfrm>
            <a:off x="7486650" y="2857500"/>
            <a:ext cx="1714500" cy="1524000"/>
          </a:xfrm>
          <a:prstGeom prst="roundRect">
            <a:avLst>
              <a:gd name="adj" fmla="val 7500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849F923-69C8-4F5A-8BE7-4DE6604BBE16}"/>
              </a:ext>
            </a:extLst>
          </p:cNvPr>
          <p:cNvSpPr>
            <a:spLocks noGrp="1"/>
          </p:cNvSpPr>
          <p:nvPr/>
        </p:nvSpPr>
        <p:spPr>
          <a:xfrm>
            <a:off x="7658100" y="30099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ED7CF"/>
                </a:solidFill>
              </a:defRPr>
            </a:pPr>
            <a:r>
              <a:rPr sz="1200" b="1">
                <a:solidFill>
                  <a:srgbClr val="6ED7CF"/>
                </a:solidFill>
              </a:rPr>
              <a:t>4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7BF0CC-63DB-4D74-8641-D80C35A36EC4}"/>
              </a:ext>
            </a:extLst>
          </p:cNvPr>
          <p:cNvSpPr>
            <a:spLocks noGrp="1"/>
          </p:cNvSpPr>
          <p:nvPr/>
        </p:nvSpPr>
        <p:spPr>
          <a:xfrm>
            <a:off x="7658100" y="3409950"/>
            <a:ext cx="138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Talk safely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E965EB3-08AD-49BE-8D10-9B5187D3BB97}"/>
              </a:ext>
            </a:extLst>
          </p:cNvPr>
          <p:cNvSpPr>
            <a:spLocks noGrp="1"/>
          </p:cNvSpPr>
          <p:nvPr/>
        </p:nvSpPr>
        <p:spPr>
          <a:xfrm>
            <a:off x="7658100" y="38862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DECE8"/>
                </a:solidFill>
              </a:defRPr>
            </a:pPr>
            <a:r>
              <a:rPr sz="1125" b="0">
                <a:solidFill>
                  <a:srgbClr val="CDECE8"/>
                </a:solidFill>
              </a:rPr>
              <a:t>Guided messages</a:t>
            </a: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A540D645-1214-428E-B3C9-EF8E90B4E27C}"/>
              </a:ext>
            </a:extLst>
          </p:cNvPr>
          <p:cNvSpPr>
            <a:spLocks noGrp="1"/>
          </p:cNvSpPr>
          <p:nvPr/>
        </p:nvSpPr>
        <p:spPr>
          <a:xfrm>
            <a:off x="9734550" y="2857500"/>
            <a:ext cx="1714500" cy="1524000"/>
          </a:xfrm>
          <a:prstGeom prst="roundRect">
            <a:avLst>
              <a:gd name="adj" fmla="val 7500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FD437A6-5B50-4AF9-B570-A3DF67377418}"/>
              </a:ext>
            </a:extLst>
          </p:cNvPr>
          <p:cNvSpPr>
            <a:spLocks noGrp="1"/>
          </p:cNvSpPr>
          <p:nvPr/>
        </p:nvSpPr>
        <p:spPr>
          <a:xfrm>
            <a:off x="9906000" y="30099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ED7CF"/>
                </a:solidFill>
              </a:defRPr>
            </a:pPr>
            <a:r>
              <a:rPr sz="1200" b="1">
                <a:solidFill>
                  <a:srgbClr val="6ED7CF"/>
                </a:solidFill>
              </a:rPr>
              <a:t>5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4FCCC87-F699-4565-9A7C-ACDF1C56E3B1}"/>
              </a:ext>
            </a:extLst>
          </p:cNvPr>
          <p:cNvSpPr>
            <a:spLocks noGrp="1"/>
          </p:cNvSpPr>
          <p:nvPr/>
        </p:nvSpPr>
        <p:spPr>
          <a:xfrm>
            <a:off x="9906000" y="3409950"/>
            <a:ext cx="138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Agree early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5057003-BEA4-4619-A3D3-999F4072950A}"/>
              </a:ext>
            </a:extLst>
          </p:cNvPr>
          <p:cNvSpPr>
            <a:spLocks noGrp="1"/>
          </p:cNvSpPr>
          <p:nvPr/>
        </p:nvSpPr>
        <p:spPr>
          <a:xfrm>
            <a:off x="9906000" y="38862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DECE8"/>
                </a:solidFill>
              </a:defRPr>
            </a:pPr>
            <a:r>
              <a:rPr sz="1125" b="0">
                <a:solidFill>
                  <a:srgbClr val="CDECE8"/>
                </a:solidFill>
              </a:rPr>
              <a:t>Rules + consent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B2DC383-F0EC-4E50-AC59-F74520E9F0D1}"/>
              </a:ext>
            </a:extLst>
          </p:cNvPr>
          <p:cNvSpPr>
            <a:spLocks noGrp="1"/>
          </p:cNvSpPr>
          <p:nvPr/>
        </p:nvSpPr>
        <p:spPr>
          <a:xfrm>
            <a:off x="4000500" y="51625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55B9B1"/>
                </a:solidFill>
              </a:defRPr>
            </a:pPr>
            <a:r>
              <a:rPr sz="1425" b="1">
                <a:solidFill>
                  <a:srgbClr val="55B9B1"/>
                </a:solidFill>
              </a:rPr>
              <a:t>TRUST AND FIT ARE DIFFERENT SIGNALS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02E0427-57B0-4E1A-895E-E0DF02B06282}"/>
              </a:ext>
            </a:extLst>
          </p:cNvPr>
          <p:cNvSpPr>
            <a:spLocks noGrp="1"/>
          </p:cNvSpPr>
          <p:nvPr/>
        </p:nvSpPr>
        <p:spPr>
          <a:xfrm>
            <a:off x="2762250" y="55435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Verification reduces uncertainty; compatibility supports conversation—not a safety guarantee.</a:t>
            </a:r>
          </a:p>
        </p:txBody>
      </p:sp>
    </p:spTree>
    <p:extLst>
      <p:ext uri="{BB962C8B-B14F-4D97-AF65-F5344CB8AC3E}">
        <p14:creationId xmlns:p14="http://schemas.microsoft.com/office/powerpoint/2010/main" val="85485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>
            <a:extLst>
              <a:ext uri="{FF2B5EF4-FFF2-40B4-BE49-F238E27FC236}">
                <a16:creationId xmlns:a16="http://schemas.microsoft.com/office/drawing/2014/main" id="{30D2EB98-B843-4901-A269-1BBA771AD6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D39CA5-4E14-46F8-99FB-614E8EE34144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5C21D2-D7A5-457F-9023-60B7D5BDBD2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361AB9-F157-45D8-B2C0-93E055CE6327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3ABAE1-DE98-4240-BCE5-82A8B8CC5A2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C71FA-A0A5-468E-8C18-D4512C00B0F2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A61FA5-F677-4BEA-A52A-CB43F0AC98CF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A905A5-B1DE-4C7C-B95E-ED94D9C7158F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81CD91-3810-4BEE-B3DA-7764F0BE11A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A6967C-9933-44B2-9078-214F96400648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B63670-206F-48EF-9AB6-3F1990C95D3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0B99A9-84F6-4D9A-BE96-0F2DD4A9BC5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B8FA62-6761-4073-BA07-13AAE8E811C1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67823B-E93E-434C-90B9-14015446264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04D838-28D8-4926-B767-E79A61443E0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A2242B-8C05-4714-9EA7-F38A5CCED632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0CA86E-B1B5-4C0A-BA97-34AA3443EBB4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60E669-64F2-443A-8E8E-36AEB724E2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D4120E-DBF5-4517-A3ED-6C48F2C9D696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4FD8D7-7BA3-4C61-9E60-7FE03694523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C8EF35-7306-47CE-AEB2-BCBA28551C3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581A2D-C518-4BB8-83AE-B34D514EC44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9211A6-6186-44BF-8B96-1FB61B7041C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5525FE-6856-4B60-B0F5-13A36CAC53F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82EED0-828B-4183-BC23-2556421A16B6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CEBAEE-F289-42C8-8C82-064D6D7DC25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527AE12-9FFE-406F-B961-483DBB27EA4B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2AB2D9-D4B5-41FE-AAFB-DAA665BAAA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68EFE3C-2196-4775-9514-D309554E1FF0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30" name="section-kicker">
            <a:extLst>
              <a:ext uri="{FF2B5EF4-FFF2-40B4-BE49-F238E27FC236}">
                <a16:creationId xmlns:a16="http://schemas.microsoft.com/office/drawing/2014/main" id="{C760D48C-8547-4D4D-84BE-D8CC61F9B87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RECORDED PROTOTYPE DEMO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B04BFF54-1544-4BF0-B81D-6D0B4B42BF2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The deployed prototype connects the full decision journey.</a:t>
            </a:r>
          </a:p>
        </p:txBody>
      </p:sp>
      <p:sp>
        <p:nvSpPr>
          <p:cNvPr id="33" name="slide-number">
            <a:extLst>
              <a:ext uri="{FF2B5EF4-FFF2-40B4-BE49-F238E27FC236}">
                <a16:creationId xmlns:a16="http://schemas.microsoft.com/office/drawing/2014/main" id="{5E5BE6C1-4ACB-431C-8280-120F8C16965D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07</a:t>
            </a:r>
          </a:p>
        </p:txBody>
      </p:sp>
      <p:pic>
        <p:nvPicPr>
          <p:cNvPr id="76" name="RoomMate-Haven-Prototype-Demo-60s">
            <a:hlinkClick r:id="" action="ppaction://media"/>
            <a:extLst>
              <a:ext uri="{FF2B5EF4-FFF2-40B4-BE49-F238E27FC236}">
                <a16:creationId xmlns:a16="http://schemas.microsoft.com/office/drawing/2014/main" id="{D3C09A42-986E-3CC0-E641-AB62F85B20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9050" y="-9525"/>
            <a:ext cx="12225858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8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>
            <a:extLst>
              <a:ext uri="{FF2B5EF4-FFF2-40B4-BE49-F238E27FC236}">
                <a16:creationId xmlns:a16="http://schemas.microsoft.com/office/drawing/2014/main" id="{474C1718-8C87-4AAE-A36F-85BACA9523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9E346F-162E-4465-8A87-25F8EF3B23D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7273DD-9EA4-4275-A71B-5FF343AF1E25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9EF32A-DF97-4F2A-AC6A-D174058FE836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AA1954-0144-44F5-95C5-07C5E0E942E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9C1B7B-DD7E-4B42-987E-C3CB7AAA77A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1F3357-293E-41AF-907D-D376FA4E35FF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3F9767-3E50-4F56-B973-5F7DCAE06DB5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E9EAFA-B718-4A74-9EE8-ABC82342C15B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264CC8-D361-4E2A-BD92-F4E940CB78D9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2B1A34-4ADE-4A6E-8504-B5EF4FADB64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5D4E50-A668-4B18-A548-E1B13BE4FF8A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86AB39-C640-45B6-9FD0-C59649889586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329C7-B8A6-4883-A969-8DCC6C9F47DF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B8A6FE-2E7D-4FD8-BEAE-F63984D616BB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63C17B-330C-473D-8168-94A262FB107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61850F-644B-4F02-9378-3A41F16BA1C3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B8A569-E625-40D0-BD69-0D21A08200E6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C1C9FB-A799-4F27-A7A8-08D10624A64E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CA7BBB-812A-4EC8-B5FC-A2A74FAB63D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0DA2AF-4CAD-4578-926B-C41BD36B6D88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1050CF-AA31-4AEF-8720-38839DEE44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DCFB49-935B-4ACD-B4C2-95B9A6D94D10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4F708E-167C-43A8-8FDE-357F3DF5DF29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D076B0-D375-4C55-8541-C66F94D5C3CF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4C427E-3B1F-410C-A2B1-B8F05EB67675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FE9A5E-BC05-4CB7-A9AE-FC7ADF6586C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A0470E-2C18-4E99-A638-D618979F7D85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0EF902-B8D1-4F28-AA79-98C3E09CCA8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C2F7A6-29BD-44F3-ADE5-DE6DC3B2AC95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D3DC54-EEAA-4D97-A1D4-4F505DA3865C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84F5B0-0E0A-42D7-891D-DBD564B7FAF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D5FC162-7E54-42D2-9CBE-260F09336383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DABE4D-C9B9-425D-961B-06D474E3DD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ED7C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45D0EC-D614-4023-8052-762FC1C0B9D9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5B9B1"/>
                </a:solidFill>
              </a:defRPr>
            </a:pPr>
            <a:r>
              <a:rPr sz="750" b="1">
                <a:solidFill>
                  <a:srgbClr val="55B9B1"/>
                </a:solidFill>
              </a:rPr>
              <a:t>ROOMMATE HAVEN / SYSTEM VIEW</a:t>
            </a:r>
          </a:p>
        </p:txBody>
      </p:sp>
      <p:sp>
        <p:nvSpPr>
          <p:cNvPr id="36" name="section-kicker">
            <a:extLst>
              <a:ext uri="{FF2B5EF4-FFF2-40B4-BE49-F238E27FC236}">
                <a16:creationId xmlns:a16="http://schemas.microsoft.com/office/drawing/2014/main" id="{F333D4C7-743B-435D-8B73-2711379A353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5B9B1"/>
                </a:solidFill>
              </a:defRPr>
            </a:pPr>
            <a:r>
              <a:rPr sz="1050" b="1">
                <a:solidFill>
                  <a:srgbClr val="55B9B1"/>
                </a:solidFill>
              </a:rPr>
              <a:t>TECHNICAL ARCHITECTURE</a:t>
            </a:r>
          </a:p>
        </p:txBody>
      </p:sp>
      <p:sp>
        <p:nvSpPr>
          <p:cNvPr id="37" name="slide-title">
            <a:extLst>
              <a:ext uri="{FF2B5EF4-FFF2-40B4-BE49-F238E27FC236}">
                <a16:creationId xmlns:a16="http://schemas.microsoft.com/office/drawing/2014/main" id="{051DD5FC-D95B-4D63-A773-2183EA96DB7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Connected subsystems make the concept feasible.</a:t>
            </a:r>
          </a:p>
        </p:txBody>
      </p:sp>
      <p:sp>
        <p:nvSpPr>
          <p:cNvPr id="38" name="slide-subtitle">
            <a:extLst>
              <a:ext uri="{FF2B5EF4-FFF2-40B4-BE49-F238E27FC236}">
                <a16:creationId xmlns:a16="http://schemas.microsoft.com/office/drawing/2014/main" id="{C93478F8-D1D7-4364-95AB-A877C084C88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CDECE8"/>
                </a:solidFill>
              </a:defRPr>
            </a:pPr>
            <a:r>
              <a:rPr sz="1425" b="0">
                <a:solidFill>
                  <a:srgbClr val="CDECE8"/>
                </a:solidFill>
              </a:rPr>
              <a:t>Each module maps to a Sprint task and can be validated independently.</a:t>
            </a:r>
          </a:p>
        </p:txBody>
      </p:sp>
      <p:sp>
        <p:nvSpPr>
          <p:cNvPr id="39" name="slide-number">
            <a:extLst>
              <a:ext uri="{FF2B5EF4-FFF2-40B4-BE49-F238E27FC236}">
                <a16:creationId xmlns:a16="http://schemas.microsoft.com/office/drawing/2014/main" id="{78089DFE-E77B-41B8-847B-6D839358DECB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CDECE8"/>
                </a:solidFill>
              </a:defRPr>
            </a:pPr>
            <a:r>
              <a:rPr sz="975" b="1">
                <a:solidFill>
                  <a:srgbClr val="CDECE8"/>
                </a:solidFill>
              </a:rPr>
              <a:t>08</a:t>
            </a:r>
          </a:p>
        </p:txBody>
      </p:sp>
      <p:sp>
        <p:nvSpPr>
          <p:cNvPr id="40" name="arch-anchor-ui">
            <a:extLst>
              <a:ext uri="{FF2B5EF4-FFF2-40B4-BE49-F238E27FC236}">
                <a16:creationId xmlns:a16="http://schemas.microsoft.com/office/drawing/2014/main" id="{BA0D5692-2071-4E0F-B615-4B5284C8A05F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1619250" cy="1047750"/>
          </a:xfrm>
          <a:prstGeom prst="roundRect">
            <a:avLst>
              <a:gd name="adj" fmla="val 10909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arch-anchor-profile">
            <a:extLst>
              <a:ext uri="{FF2B5EF4-FFF2-40B4-BE49-F238E27FC236}">
                <a16:creationId xmlns:a16="http://schemas.microsoft.com/office/drawing/2014/main" id="{BA6465D7-CE56-4449-A90C-4F3B90D813EF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714500" cy="1047750"/>
          </a:xfrm>
          <a:prstGeom prst="roundRect">
            <a:avLst>
              <a:gd name="adj" fmla="val 10909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arch-anchor-match">
            <a:extLst>
              <a:ext uri="{FF2B5EF4-FFF2-40B4-BE49-F238E27FC236}">
                <a16:creationId xmlns:a16="http://schemas.microsoft.com/office/drawing/2014/main" id="{69DE4C84-93D5-4AB8-8B6F-C4953568AD24}"/>
              </a:ext>
            </a:extLst>
          </p:cNvPr>
          <p:cNvSpPr>
            <a:spLocks noGrp="1"/>
          </p:cNvSpPr>
          <p:nvPr/>
        </p:nvSpPr>
        <p:spPr>
          <a:xfrm>
            <a:off x="5334000" y="2143125"/>
            <a:ext cx="1714500" cy="1047750"/>
          </a:xfrm>
          <a:prstGeom prst="roundRect">
            <a:avLst>
              <a:gd name="adj" fmla="val 10909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arch-anchor-chat">
            <a:extLst>
              <a:ext uri="{FF2B5EF4-FFF2-40B4-BE49-F238E27FC236}">
                <a16:creationId xmlns:a16="http://schemas.microsoft.com/office/drawing/2014/main" id="{3127B59A-9A5E-47B3-AC44-1651D23FCE17}"/>
              </a:ext>
            </a:extLst>
          </p:cNvPr>
          <p:cNvSpPr>
            <a:spLocks noGrp="1"/>
          </p:cNvSpPr>
          <p:nvPr/>
        </p:nvSpPr>
        <p:spPr>
          <a:xfrm>
            <a:off x="7620000" y="2143125"/>
            <a:ext cx="1714500" cy="1047750"/>
          </a:xfrm>
          <a:prstGeom prst="roundRect">
            <a:avLst>
              <a:gd name="adj" fmla="val 10909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arch-anchor-agreement">
            <a:extLst>
              <a:ext uri="{FF2B5EF4-FFF2-40B4-BE49-F238E27FC236}">
                <a16:creationId xmlns:a16="http://schemas.microsoft.com/office/drawing/2014/main" id="{0234466C-0121-41FE-99E9-408DE1C996BF}"/>
              </a:ext>
            </a:extLst>
          </p:cNvPr>
          <p:cNvSpPr>
            <a:spLocks noGrp="1"/>
          </p:cNvSpPr>
          <p:nvPr/>
        </p:nvSpPr>
        <p:spPr>
          <a:xfrm>
            <a:off x="9906000" y="2143125"/>
            <a:ext cx="1619250" cy="1047750"/>
          </a:xfrm>
          <a:prstGeom prst="roundRect">
            <a:avLst>
              <a:gd name="adj" fmla="val 10909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arch-anchor-verify">
            <a:extLst>
              <a:ext uri="{FF2B5EF4-FFF2-40B4-BE49-F238E27FC236}">
                <a16:creationId xmlns:a16="http://schemas.microsoft.com/office/drawing/2014/main" id="{18BCD11B-EF5D-4A62-8C63-D06B2C0A4A0D}"/>
              </a:ext>
            </a:extLst>
          </p:cNvPr>
          <p:cNvSpPr>
            <a:spLocks noGrp="1"/>
          </p:cNvSpPr>
          <p:nvPr/>
        </p:nvSpPr>
        <p:spPr>
          <a:xfrm>
            <a:off x="3048000" y="4286250"/>
            <a:ext cx="1714500" cy="857250"/>
          </a:xfrm>
          <a:prstGeom prst="roundRect">
            <a:avLst>
              <a:gd name="adj" fmla="val 13333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arch-anchor-privacy">
            <a:extLst>
              <a:ext uri="{FF2B5EF4-FFF2-40B4-BE49-F238E27FC236}">
                <a16:creationId xmlns:a16="http://schemas.microsoft.com/office/drawing/2014/main" id="{8ECF9279-FD7F-487C-B482-F4A7AB89DFA3}"/>
              </a:ext>
            </a:extLst>
          </p:cNvPr>
          <p:cNvSpPr>
            <a:spLocks noGrp="1"/>
          </p:cNvSpPr>
          <p:nvPr/>
        </p:nvSpPr>
        <p:spPr>
          <a:xfrm>
            <a:off x="7620000" y="4286250"/>
            <a:ext cx="1714500" cy="857250"/>
          </a:xfrm>
          <a:prstGeom prst="roundRect">
            <a:avLst>
              <a:gd name="adj" fmla="val 13333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27" name="直线箭头连接符 122"/>
          <p:cNvCxnSpPr>
            <a:stCxn id="40" idx="3"/>
            <a:endCxn id="41" idx="1"/>
          </p:cNvCxnSpPr>
          <p:nvPr/>
        </p:nvCxnSpPr>
        <p:spPr>
          <a:xfrm flipV="1">
            <a:off x="2381250" y="2667000"/>
            <a:ext cx="666750" cy="333375"/>
          </a:xfrm>
          <a:prstGeom prst="straightConnector1">
            <a:avLst/>
          </a:prstGeom>
          <a:ln w="28575">
            <a:solidFill>
              <a:srgbClr val="6ED7CF"/>
            </a:solidFill>
            <a:prstDash val="solid"/>
            <a:tailEnd type="arrow" w="med" len="med"/>
          </a:ln>
        </p:spPr>
      </p:cxnSp>
      <p:cxnSp>
        <p:nvCxnSpPr>
          <p:cNvPr id="228" name="直线箭头连接符 123"/>
          <p:cNvCxnSpPr>
            <a:stCxn id="41" idx="3"/>
            <a:endCxn id="42" idx="1"/>
          </p:cNvCxnSpPr>
          <p:nvPr/>
        </p:nvCxnSpPr>
        <p:spPr>
          <a:xfrm>
            <a:off x="4762500" y="2667000"/>
            <a:ext cx="571500" cy="0"/>
          </a:xfrm>
          <a:prstGeom prst="straightConnector1">
            <a:avLst/>
          </a:prstGeom>
          <a:ln w="28575">
            <a:solidFill>
              <a:srgbClr val="6ED7CF"/>
            </a:solidFill>
            <a:prstDash val="solid"/>
            <a:tailEnd type="arrow" w="med" len="med"/>
          </a:ln>
        </p:spPr>
      </p:cxnSp>
      <p:cxnSp>
        <p:nvCxnSpPr>
          <p:cNvPr id="229" name="直线箭头连接符 124"/>
          <p:cNvCxnSpPr>
            <a:stCxn id="42" idx="3"/>
            <a:endCxn id="43" idx="1"/>
          </p:cNvCxnSpPr>
          <p:nvPr/>
        </p:nvCxnSpPr>
        <p:spPr>
          <a:xfrm>
            <a:off x="7048500" y="2667000"/>
            <a:ext cx="571500" cy="0"/>
          </a:xfrm>
          <a:prstGeom prst="straightConnector1">
            <a:avLst/>
          </a:prstGeom>
          <a:ln w="28575">
            <a:solidFill>
              <a:srgbClr val="6ED7CF"/>
            </a:solidFill>
            <a:prstDash val="solid"/>
            <a:tailEnd type="arrow" w="med" len="med"/>
          </a:ln>
        </p:spPr>
      </p:cxnSp>
      <p:cxnSp>
        <p:nvCxnSpPr>
          <p:cNvPr id="230" name="直线箭头连接符 125"/>
          <p:cNvCxnSpPr>
            <a:stCxn id="43" idx="3"/>
            <a:endCxn id="44" idx="1"/>
          </p:cNvCxnSpPr>
          <p:nvPr/>
        </p:nvCxnSpPr>
        <p:spPr>
          <a:xfrm>
            <a:off x="9334500" y="2667000"/>
            <a:ext cx="571500" cy="0"/>
          </a:xfrm>
          <a:prstGeom prst="straightConnector1">
            <a:avLst/>
          </a:prstGeom>
          <a:ln w="28575">
            <a:solidFill>
              <a:srgbClr val="6ED7CF"/>
            </a:solidFill>
            <a:prstDash val="solid"/>
            <a:tailEnd type="arrow" w="med" len="med"/>
          </a:ln>
        </p:spPr>
      </p:cxnSp>
      <p:cxnSp>
        <p:nvCxnSpPr>
          <p:cNvPr id="231" name="直线箭头连接符 126"/>
          <p:cNvCxnSpPr>
            <a:stCxn id="45" idx="0"/>
            <a:endCxn id="41" idx="2"/>
          </p:cNvCxnSpPr>
          <p:nvPr/>
        </p:nvCxnSpPr>
        <p:spPr>
          <a:xfrm flipV="1">
            <a:off x="3905250" y="3190875"/>
            <a:ext cx="0" cy="1095375"/>
          </a:xfrm>
          <a:prstGeom prst="straightConnector1">
            <a:avLst/>
          </a:prstGeom>
          <a:ln w="28575">
            <a:solidFill>
              <a:srgbClr val="6ED7CF"/>
            </a:solidFill>
            <a:prstDash val="solid"/>
            <a:tailEnd type="arrow" w="med" len="med"/>
          </a:ln>
        </p:spPr>
      </p:cxnSp>
      <p:cxnSp>
        <p:nvCxnSpPr>
          <p:cNvPr id="232" name="直线箭头连接符 127"/>
          <p:cNvCxnSpPr>
            <a:stCxn id="46" idx="0"/>
            <a:endCxn id="43" idx="2"/>
          </p:cNvCxnSpPr>
          <p:nvPr/>
        </p:nvCxnSpPr>
        <p:spPr>
          <a:xfrm flipV="1">
            <a:off x="8477250" y="3190875"/>
            <a:ext cx="0" cy="1095375"/>
          </a:xfrm>
          <a:prstGeom prst="straightConnector1">
            <a:avLst/>
          </a:prstGeom>
          <a:ln w="28575">
            <a:solidFill>
              <a:srgbClr val="6ED7CF"/>
            </a:solidFill>
            <a:prstDash val="solid"/>
            <a:tailEnd type="arrow" w="med" len="med"/>
          </a:ln>
        </p:spPr>
      </p:cxn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35FDCCDC-2307-447F-9A61-217D76E3AB94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1619250" cy="1047750"/>
          </a:xfrm>
          <a:prstGeom prst="roundRect">
            <a:avLst>
              <a:gd name="adj" fmla="val 10909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1BCE51A-BABC-489F-BF09-48EE8A299050}"/>
              </a:ext>
            </a:extLst>
          </p:cNvPr>
          <p:cNvSpPr>
            <a:spLocks noGrp="1"/>
          </p:cNvSpPr>
          <p:nvPr/>
        </p:nvSpPr>
        <p:spPr>
          <a:xfrm>
            <a:off x="895350" y="2676525"/>
            <a:ext cx="1352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User interface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228AC51-49CC-4CF1-B478-849A00B59A92}"/>
              </a:ext>
            </a:extLst>
          </p:cNvPr>
          <p:cNvSpPr>
            <a:spLocks noGrp="1"/>
          </p:cNvSpPr>
          <p:nvPr/>
        </p:nvSpPr>
        <p:spPr>
          <a:xfrm>
            <a:off x="895350" y="30670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DECE8"/>
                </a:solidFill>
              </a:defRPr>
            </a:pPr>
            <a:r>
              <a:rPr sz="975" b="0">
                <a:solidFill>
                  <a:srgbClr val="CDECE8"/>
                </a:solidFill>
              </a:rPr>
              <a:t>Search + decisions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28224BBC-5008-44E0-80DB-F323CC667B62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714500" cy="1047750"/>
          </a:xfrm>
          <a:prstGeom prst="roundRect">
            <a:avLst>
              <a:gd name="adj" fmla="val 10909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D5BCAC5-60AC-43AB-A8AF-0828E392734F}"/>
              </a:ext>
            </a:extLst>
          </p:cNvPr>
          <p:cNvSpPr>
            <a:spLocks noGrp="1"/>
          </p:cNvSpPr>
          <p:nvPr/>
        </p:nvSpPr>
        <p:spPr>
          <a:xfrm>
            <a:off x="3181350" y="2343150"/>
            <a:ext cx="1447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Profile data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4C135BA-A4CF-4773-AAAA-DA054BE4D183}"/>
              </a:ext>
            </a:extLst>
          </p:cNvPr>
          <p:cNvSpPr>
            <a:spLocks noGrp="1"/>
          </p:cNvSpPr>
          <p:nvPr/>
        </p:nvSpPr>
        <p:spPr>
          <a:xfrm>
            <a:off x="3181350" y="2733675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DECE8"/>
                </a:solidFill>
              </a:defRPr>
            </a:pPr>
            <a:r>
              <a:rPr sz="975" b="0">
                <a:solidFill>
                  <a:srgbClr val="CDECE8"/>
                </a:solidFill>
              </a:rPr>
              <a:t>Preferences + history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60E53889-5F05-4B5B-86F5-77D2BAFA5AE3}"/>
              </a:ext>
            </a:extLst>
          </p:cNvPr>
          <p:cNvSpPr>
            <a:spLocks noGrp="1"/>
          </p:cNvSpPr>
          <p:nvPr/>
        </p:nvSpPr>
        <p:spPr>
          <a:xfrm>
            <a:off x="5334000" y="2143125"/>
            <a:ext cx="1714500" cy="1047750"/>
          </a:xfrm>
          <a:prstGeom prst="roundRect">
            <a:avLst>
              <a:gd name="adj" fmla="val 10909"/>
            </a:avLst>
          </a:prstGeom>
          <a:solidFill>
            <a:srgbClr val="198B87"/>
          </a:solidFill>
          <a:ln w="9525">
            <a:solidFill>
              <a:srgbClr val="6ED7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F747D41-8307-42CB-A163-356C13CDB8E0}"/>
              </a:ext>
            </a:extLst>
          </p:cNvPr>
          <p:cNvSpPr>
            <a:spLocks noGrp="1"/>
          </p:cNvSpPr>
          <p:nvPr/>
        </p:nvSpPr>
        <p:spPr>
          <a:xfrm>
            <a:off x="5467350" y="2343150"/>
            <a:ext cx="1447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Compatibility engine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ED00915-E266-4879-A2B1-A808CD2EC5F2}"/>
              </a:ext>
            </a:extLst>
          </p:cNvPr>
          <p:cNvSpPr>
            <a:spLocks noGrp="1"/>
          </p:cNvSpPr>
          <p:nvPr/>
        </p:nvSpPr>
        <p:spPr>
          <a:xfrm>
            <a:off x="5467350" y="2733675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DECE8"/>
                </a:solidFill>
              </a:defRPr>
            </a:pPr>
            <a:r>
              <a:rPr sz="975" b="0">
                <a:solidFill>
                  <a:srgbClr val="CDECE8"/>
                </a:solidFill>
              </a:rPr>
              <a:t>Preference fit—not safety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92D476EE-9314-4106-899C-8A4F4FAD21E3}"/>
              </a:ext>
            </a:extLst>
          </p:cNvPr>
          <p:cNvSpPr>
            <a:spLocks noGrp="1"/>
          </p:cNvSpPr>
          <p:nvPr/>
        </p:nvSpPr>
        <p:spPr>
          <a:xfrm>
            <a:off x="7620000" y="2143125"/>
            <a:ext cx="1714500" cy="1047750"/>
          </a:xfrm>
          <a:prstGeom prst="roundRect">
            <a:avLst>
              <a:gd name="adj" fmla="val 10909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BEA95F0-A084-465F-A614-3D59C27A9555}"/>
              </a:ext>
            </a:extLst>
          </p:cNvPr>
          <p:cNvSpPr>
            <a:spLocks noGrp="1"/>
          </p:cNvSpPr>
          <p:nvPr/>
        </p:nvSpPr>
        <p:spPr>
          <a:xfrm>
            <a:off x="7753350" y="2343150"/>
            <a:ext cx="1447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Guided messaging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5B20D88-9504-4812-BECA-520FA5A8620D}"/>
              </a:ext>
            </a:extLst>
          </p:cNvPr>
          <p:cNvSpPr>
            <a:spLocks noGrp="1"/>
          </p:cNvSpPr>
          <p:nvPr/>
        </p:nvSpPr>
        <p:spPr>
          <a:xfrm>
            <a:off x="7753350" y="2733675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DECE8"/>
                </a:solidFill>
              </a:defRPr>
            </a:pPr>
            <a:r>
              <a:rPr sz="975" b="0">
                <a:solidFill>
                  <a:srgbClr val="CDECE8"/>
                </a:solidFill>
              </a:rPr>
              <a:t>Contact block + prompts</a:t>
            </a: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02BA1EFD-2269-4C9A-8327-D32A2FE533B1}"/>
              </a:ext>
            </a:extLst>
          </p:cNvPr>
          <p:cNvSpPr>
            <a:spLocks noGrp="1"/>
          </p:cNvSpPr>
          <p:nvPr/>
        </p:nvSpPr>
        <p:spPr>
          <a:xfrm>
            <a:off x="9906000" y="2143125"/>
            <a:ext cx="1619250" cy="1047750"/>
          </a:xfrm>
          <a:prstGeom prst="roundRect">
            <a:avLst>
              <a:gd name="adj" fmla="val 10909"/>
            </a:avLst>
          </a:prstGeom>
          <a:solidFill>
            <a:srgbClr val="102F3A"/>
          </a:solidFill>
          <a:ln w="9525">
            <a:solidFill>
              <a:srgbClr val="2349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6215B4D-E4F8-40AF-BCF1-2AF1E36449F0}"/>
              </a:ext>
            </a:extLst>
          </p:cNvPr>
          <p:cNvSpPr>
            <a:spLocks noGrp="1"/>
          </p:cNvSpPr>
          <p:nvPr/>
        </p:nvSpPr>
        <p:spPr>
          <a:xfrm>
            <a:off x="10039350" y="2343150"/>
            <a:ext cx="1352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Agreement builder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311C7C5-F373-4D1D-B558-5308609B14FD}"/>
              </a:ext>
            </a:extLst>
          </p:cNvPr>
          <p:cNvSpPr>
            <a:spLocks noGrp="1"/>
          </p:cNvSpPr>
          <p:nvPr/>
        </p:nvSpPr>
        <p:spPr>
          <a:xfrm>
            <a:off x="10039350" y="273367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DECE8"/>
                </a:solidFill>
              </a:defRPr>
            </a:pPr>
            <a:r>
              <a:rPr sz="975" b="0">
                <a:solidFill>
                  <a:srgbClr val="CDECE8"/>
                </a:solidFill>
              </a:rPr>
              <a:t>Proposal + approval state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30E88E01-E060-4ACD-BA10-0ECB1C70F82B}"/>
              </a:ext>
            </a:extLst>
          </p:cNvPr>
          <p:cNvSpPr>
            <a:spLocks noGrp="1"/>
          </p:cNvSpPr>
          <p:nvPr/>
        </p:nvSpPr>
        <p:spPr>
          <a:xfrm>
            <a:off x="3048000" y="4286250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CDECE8"/>
          </a:solidFill>
          <a:ln w="9525">
            <a:solidFill>
              <a:srgbClr val="CDE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C6C94A3-B58A-469A-9773-54C6CCA9B0A1}"/>
              </a:ext>
            </a:extLst>
          </p:cNvPr>
          <p:cNvSpPr>
            <a:spLocks noGrp="1"/>
          </p:cNvSpPr>
          <p:nvPr/>
        </p:nvSpPr>
        <p:spPr>
          <a:xfrm>
            <a:off x="3181350" y="44291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E2A36"/>
                </a:solidFill>
              </a:defRPr>
            </a:pPr>
            <a:r>
              <a:rPr sz="1350" b="1">
                <a:solidFill>
                  <a:srgbClr val="0E2A36"/>
                </a:solidFill>
              </a:rPr>
              <a:t>Verification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BEF7849-7DCC-4327-879F-68F1B73057BB}"/>
              </a:ext>
            </a:extLst>
          </p:cNvPr>
          <p:cNvSpPr>
            <a:spLocks noGrp="1"/>
          </p:cNvSpPr>
          <p:nvPr/>
        </p:nvSpPr>
        <p:spPr>
          <a:xfrm>
            <a:off x="3181350" y="47625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Verified / pending / unverified</a:t>
            </a: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C867547D-A357-4DA6-BC12-49E6E8C8D6B9}"/>
              </a:ext>
            </a:extLst>
          </p:cNvPr>
          <p:cNvSpPr>
            <a:spLocks noGrp="1"/>
          </p:cNvSpPr>
          <p:nvPr/>
        </p:nvSpPr>
        <p:spPr>
          <a:xfrm>
            <a:off x="7620000" y="4286250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F7D8D1"/>
          </a:solidFill>
          <a:ln w="9525">
            <a:solidFill>
              <a:srgbClr val="F7D8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52C3354-0B02-41CA-B356-C1D81888AF77}"/>
              </a:ext>
            </a:extLst>
          </p:cNvPr>
          <p:cNvSpPr>
            <a:spLocks noGrp="1"/>
          </p:cNvSpPr>
          <p:nvPr/>
        </p:nvSpPr>
        <p:spPr>
          <a:xfrm>
            <a:off x="7753350" y="442912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E2A36"/>
                </a:solidFill>
              </a:defRPr>
            </a:pPr>
            <a:r>
              <a:rPr sz="1350" b="1">
                <a:solidFill>
                  <a:srgbClr val="0E2A36"/>
                </a:solidFill>
              </a:rPr>
              <a:t>Privacy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5C33644-BA0C-4426-A848-DC41028EF4B5}"/>
              </a:ext>
            </a:extLst>
          </p:cNvPr>
          <p:cNvSpPr>
            <a:spLocks noGrp="1"/>
          </p:cNvSpPr>
          <p:nvPr/>
        </p:nvSpPr>
        <p:spPr>
          <a:xfrm>
            <a:off x="7753350" y="47625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Consent / alert / block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9F6C067-FCBD-41AC-B143-CE20D3984576}"/>
              </a:ext>
            </a:extLst>
          </p:cNvPr>
          <p:cNvSpPr>
            <a:spLocks noGrp="1"/>
          </p:cNvSpPr>
          <p:nvPr/>
        </p:nvSpPr>
        <p:spPr>
          <a:xfrm>
            <a:off x="2286000" y="56959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CDECE8"/>
                </a:solidFill>
              </a:defRPr>
            </a:pPr>
            <a:r>
              <a:rPr sz="1350" b="0">
                <a:solidFill>
                  <a:srgbClr val="CDECE8"/>
                </a:solidFill>
              </a:rPr>
              <a:t>Search recovery, score meaning and status feedback became the key iteration points.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1903167-B1D2-49DC-A6FE-D040A988E61C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234955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7B401BA-6ED3-4AE9-B92F-E098740622B4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5B9B1"/>
                </a:solidFill>
              </a:defRPr>
            </a:pPr>
            <a:r>
              <a:rPr sz="825" b="0">
                <a:solidFill>
                  <a:srgbClr val="55B9B1"/>
                </a:solidFill>
              </a:rPr>
              <a:t>RoomMate Haven · Technical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3706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000B165D-3FE8-4FE9-9305-1011D81BC1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9623EE-868B-406E-86C8-1DDE8AA46478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CD6612-3EDD-4C3F-B7A0-27CC1E9FDB56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C7A38A-C8E1-4254-A077-5E7702F5FDF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A23396-3FF1-4EE5-A2DF-547F29D0427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084560-D26B-4555-A7D6-DABC983F246D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74FB8C-4608-430E-A780-23014F0A420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259224-41B4-47DA-BB17-72FD12EA7E1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031821-9419-4020-91F6-A0F94FAE172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EDF477-93F3-43E5-A949-BAC33D22927E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1D84DC-AFA4-4257-9EB5-823CA1976BF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7EB309-1A5B-49D7-AA71-C32E707DF788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6901D-D9D3-4EBE-B051-328BD7A3D24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5DB93F-8F93-410B-A146-02057F8970D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F8151C-20B6-40FA-BC1A-5F4339961DB2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91E4A5-1215-4E0B-8A96-B8DE613C28E9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00B37-4024-4EC6-9128-F8DF8B61AB22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8E56F6-9AF2-452F-B2E6-37E2DB6A99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023235-DE4D-4929-A526-C01DCCDDE51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B409FE-342A-4BE8-8157-5834F0E9DB6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2D441C-C121-4E76-BE7D-CEE329C3ED24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8EDE67-56F9-474C-A235-1AE7E3CC2C6C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E80B5A-A17F-4B1F-8122-63AEB221858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1F2000-82FB-48DE-AD70-AE996116AA23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5A404D-5CE4-420D-B133-F1240692867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A3965C-CFBA-46C6-801E-A21B7E5FC579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4EAAF9E-4C2F-4747-8F48-F168105E1B61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BF8262-90AB-4010-8C3C-3F408AD99F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FCED06-FD87-4E73-8842-E90BB1D687A1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30" name="section-kicker">
            <a:extLst>
              <a:ext uri="{FF2B5EF4-FFF2-40B4-BE49-F238E27FC236}">
                <a16:creationId xmlns:a16="http://schemas.microsoft.com/office/drawing/2014/main" id="{F1F4DCFB-3DB0-4E0D-9659-8C42692DC9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FINAL TESTING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E05062BC-4CE9-453B-B839-031E5EB44F8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Trust cues worked—but meaning gaps remained.</a:t>
            </a:r>
          </a:p>
        </p:txBody>
      </p:sp>
      <p:sp>
        <p:nvSpPr>
          <p:cNvPr id="32" name="slide-number">
            <a:extLst>
              <a:ext uri="{FF2B5EF4-FFF2-40B4-BE49-F238E27FC236}">
                <a16:creationId xmlns:a16="http://schemas.microsoft.com/office/drawing/2014/main" id="{47969B43-6BE4-41CA-8EBA-B2C67B85664F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09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0A8FA0-7914-4765-8201-A2AB5FA95F7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E2A36"/>
                </a:solidFill>
              </a:defRPr>
            </a:pPr>
            <a:r>
              <a:rPr sz="1800" b="1">
                <a:solidFill>
                  <a:srgbClr val="0E2A36"/>
                </a:solidFill>
              </a:rPr>
              <a:t>PASS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9001633-FFF7-416B-880D-58E8B670B82A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048000" cy="253365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C498B361-5E8D-4439-A641-244472A1EC77}"/>
              </a:ext>
            </a:extLst>
          </p:cNvPr>
          <p:cNvSpPr>
            <a:spLocks noGrp="1"/>
          </p:cNvSpPr>
          <p:nvPr/>
        </p:nvSpPr>
        <p:spPr>
          <a:xfrm>
            <a:off x="971550" y="29146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E2F3EC"/>
          </a:solidFill>
          <a:ln w="9525">
            <a:solidFill>
              <a:srgbClr val="2B9A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E53C77-70F1-4BC2-8BCA-10736BF082CA}"/>
              </a:ext>
            </a:extLst>
          </p:cNvPr>
          <p:cNvSpPr>
            <a:spLocks noGrp="1"/>
          </p:cNvSpPr>
          <p:nvPr/>
        </p:nvSpPr>
        <p:spPr>
          <a:xfrm>
            <a:off x="1104900" y="305752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2252D"/>
                </a:solidFill>
              </a:defRPr>
            </a:pPr>
            <a:r>
              <a:rPr sz="1200" b="1">
                <a:solidFill>
                  <a:srgbClr val="12252D"/>
                </a:solidFill>
              </a:rPr>
              <a:t>Verification cues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8B1789C-106C-4934-A900-85C8D529A940}"/>
              </a:ext>
            </a:extLst>
          </p:cNvPr>
          <p:cNvSpPr>
            <a:spLocks noGrp="1"/>
          </p:cNvSpPr>
          <p:nvPr/>
        </p:nvSpPr>
        <p:spPr>
          <a:xfrm>
            <a:off x="2019300" y="3562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B9A73"/>
                </a:solidFill>
              </a:defRPr>
            </a:pPr>
            <a:r>
              <a:rPr sz="1650" b="1">
                <a:solidFill>
                  <a:srgbClr val="2B9A73"/>
                </a:solidFill>
              </a:rPr>
              <a:t>↓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4E4153-920B-4CBB-832B-AC97404A328B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12252D"/>
                </a:solidFill>
              </a:defRPr>
            </a:pPr>
            <a:r>
              <a:rPr sz="1275" b="0">
                <a:solidFill>
                  <a:srgbClr val="12252D"/>
                </a:solidFill>
              </a:rPr>
              <a:t>5/5 independent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A1CDC1-4C4C-4902-AEC6-60889DB76D06}"/>
              </a:ext>
            </a:extLst>
          </p:cNvPr>
          <p:cNvSpPr>
            <a:spLocks noGrp="1"/>
          </p:cNvSpPr>
          <p:nvPr/>
        </p:nvSpPr>
        <p:spPr>
          <a:xfrm>
            <a:off x="2019300" y="4324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B9A73"/>
                </a:solidFill>
              </a:defRPr>
            </a:pPr>
            <a:r>
              <a:rPr sz="1650" b="1">
                <a:solidFill>
                  <a:srgbClr val="2B9A73"/>
                </a:solidFill>
              </a:rPr>
              <a:t>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9E49803-5BF7-4DAE-B66B-8DB9EA7BEA75}"/>
              </a:ext>
            </a:extLst>
          </p:cNvPr>
          <p:cNvSpPr>
            <a:spLocks noGrp="1"/>
          </p:cNvSpPr>
          <p:nvPr/>
        </p:nvSpPr>
        <p:spPr>
          <a:xfrm>
            <a:off x="990600" y="46482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B9A73"/>
                </a:solidFill>
              </a:defRPr>
            </a:pPr>
            <a:r>
              <a:rPr sz="1275" b="1">
                <a:solidFill>
                  <a:srgbClr val="2B9A73"/>
                </a:solidFill>
              </a:rPr>
              <a:t>No help · text + icon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71F4FD4-3ED4-4442-B4FE-17A08B688DFF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E2A36"/>
                </a:solidFill>
              </a:defRPr>
            </a:pPr>
            <a:r>
              <a:rPr sz="1800" b="1">
                <a:solidFill>
                  <a:srgbClr val="0E2A36"/>
                </a:solidFill>
              </a:rPr>
              <a:t>PARTIAL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85E28982-1FF0-4790-B242-E59704D1B9D8}"/>
              </a:ext>
            </a:extLst>
          </p:cNvPr>
          <p:cNvSpPr>
            <a:spLocks noGrp="1"/>
          </p:cNvSpPr>
          <p:nvPr/>
        </p:nvSpPr>
        <p:spPr>
          <a:xfrm>
            <a:off x="4381500" y="2609850"/>
            <a:ext cx="3048000" cy="253365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BD9D89C-FC53-4F9A-A10F-C2932FC36077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F7D8D1"/>
          </a:solidFill>
          <a:ln w="9525">
            <a:solidFill>
              <a:srgbClr val="E77C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5FB4E01-3721-4A44-BD9D-F2528A00F090}"/>
              </a:ext>
            </a:extLst>
          </p:cNvPr>
          <p:cNvSpPr>
            <a:spLocks noGrp="1"/>
          </p:cNvSpPr>
          <p:nvPr/>
        </p:nvSpPr>
        <p:spPr>
          <a:xfrm>
            <a:off x="4800600" y="305752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2252D"/>
                </a:solidFill>
              </a:defRPr>
            </a:pPr>
            <a:r>
              <a:rPr sz="1200" b="1">
                <a:solidFill>
                  <a:srgbClr val="12252D"/>
                </a:solidFill>
              </a:rPr>
              <a:t>Compatibility meaning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7D82416-067A-435E-9F50-399F3A48194F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E77C64"/>
                </a:solidFill>
              </a:defRPr>
            </a:pPr>
            <a:r>
              <a:rPr sz="1650" b="1">
                <a:solidFill>
                  <a:srgbClr val="E77C64"/>
                </a:solidFill>
              </a:rPr>
              <a:t>↓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E6831D3-4329-41DE-BCB7-D3FDEF80B3F4}"/>
              </a:ext>
            </a:extLst>
          </p:cNvPr>
          <p:cNvSpPr>
            <a:spLocks noGrp="1"/>
          </p:cNvSpPr>
          <p:nvPr/>
        </p:nvSpPr>
        <p:spPr>
          <a:xfrm>
            <a:off x="4686300" y="39052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12252D"/>
                </a:solidFill>
              </a:defRPr>
            </a:pPr>
            <a:r>
              <a:rPr sz="1275" b="0">
                <a:solidFill>
                  <a:srgbClr val="12252D"/>
                </a:solidFill>
              </a:rPr>
              <a:t>2/5 separated fit from safety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036E72D-1383-4E01-ADF4-E9F226CCE5F0}"/>
              </a:ext>
            </a:extLst>
          </p:cNvPr>
          <p:cNvSpPr>
            <a:spLocks noGrp="1"/>
          </p:cNvSpPr>
          <p:nvPr/>
        </p:nvSpPr>
        <p:spPr>
          <a:xfrm>
            <a:off x="5715000" y="4324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E77C64"/>
                </a:solidFill>
              </a:defRPr>
            </a:pPr>
            <a:r>
              <a:rPr sz="1650" b="1">
                <a:solidFill>
                  <a:srgbClr val="E77C64"/>
                </a:solidFill>
              </a:rPr>
              <a:t>↓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B31EC20-7E51-4078-A5D4-8111F6D64655}"/>
              </a:ext>
            </a:extLst>
          </p:cNvPr>
          <p:cNvSpPr>
            <a:spLocks noGrp="1"/>
          </p:cNvSpPr>
          <p:nvPr/>
        </p:nvSpPr>
        <p:spPr>
          <a:xfrm>
            <a:off x="4686300" y="46482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E77C64"/>
                </a:solidFill>
              </a:defRPr>
            </a:pPr>
            <a:r>
              <a:rPr sz="1275" b="1">
                <a:solidFill>
                  <a:srgbClr val="E77C64"/>
                </a:solidFill>
              </a:rPr>
              <a:t>Explain score limits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B26FD35-4AFF-4D62-B5BF-8BD39DFDADD0}"/>
              </a:ext>
            </a:extLst>
          </p:cNvPr>
          <p:cNvSpPr>
            <a:spLocks noGrp="1"/>
          </p:cNvSpPr>
          <p:nvPr/>
        </p:nvSpPr>
        <p:spPr>
          <a:xfrm>
            <a:off x="8077200" y="20955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E2A36"/>
                </a:solidFill>
              </a:defRPr>
            </a:pPr>
            <a:r>
              <a:rPr sz="1800" b="1">
                <a:solidFill>
                  <a:srgbClr val="0E2A36"/>
                </a:solidFill>
              </a:rPr>
              <a:t>FAIL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49F7EC85-ECD6-4FFA-BE84-AFD3CC16C8B9}"/>
              </a:ext>
            </a:extLst>
          </p:cNvPr>
          <p:cNvSpPr>
            <a:spLocks noGrp="1"/>
          </p:cNvSpPr>
          <p:nvPr/>
        </p:nvSpPr>
        <p:spPr>
          <a:xfrm>
            <a:off x="8077200" y="2609850"/>
            <a:ext cx="3048000" cy="253365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3F78F199-01B7-40B8-BC92-6D4CFD8A48C3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FAEED5"/>
          </a:solidFill>
          <a:ln w="9525">
            <a:solidFill>
              <a:srgbClr val="E9B8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81D6851-693D-4E31-A329-6FF9398D6470}"/>
              </a:ext>
            </a:extLst>
          </p:cNvPr>
          <p:cNvSpPr>
            <a:spLocks noGrp="1"/>
          </p:cNvSpPr>
          <p:nvPr/>
        </p:nvSpPr>
        <p:spPr>
          <a:xfrm>
            <a:off x="8496300" y="3057525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12252D"/>
                </a:solidFill>
              </a:defRPr>
            </a:pPr>
            <a:r>
              <a:rPr sz="1200" b="1">
                <a:solidFill>
                  <a:srgbClr val="12252D"/>
                </a:solidFill>
              </a:rPr>
              <a:t>Rule activation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079357C-0E55-41C5-A28C-2AA622CF344F}"/>
              </a:ext>
            </a:extLst>
          </p:cNvPr>
          <p:cNvSpPr>
            <a:spLocks noGrp="1"/>
          </p:cNvSpPr>
          <p:nvPr/>
        </p:nvSpPr>
        <p:spPr>
          <a:xfrm>
            <a:off x="9410700" y="3562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E9B85F"/>
                </a:solidFill>
              </a:defRPr>
            </a:pPr>
            <a:r>
              <a:rPr sz="1650" b="1">
                <a:solidFill>
                  <a:srgbClr val="E9B85F"/>
                </a:solidFill>
              </a:rPr>
              <a:t>↓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721E12F-B6AE-4ADE-A546-01B8DF163382}"/>
              </a:ext>
            </a:extLst>
          </p:cNvPr>
          <p:cNvSpPr>
            <a:spLocks noGrp="1"/>
          </p:cNvSpPr>
          <p:nvPr/>
        </p:nvSpPr>
        <p:spPr>
          <a:xfrm>
            <a:off x="8382000" y="39052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12252D"/>
                </a:solidFill>
              </a:defRPr>
            </a:pPr>
            <a:r>
              <a:rPr sz="1275" b="0">
                <a:solidFill>
                  <a:srgbClr val="12252D"/>
                </a:solidFill>
              </a:rPr>
              <a:t>AC-US10-02 failed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3CB13D6-F378-44D1-A3A7-3F04F6DABAC5}"/>
              </a:ext>
            </a:extLst>
          </p:cNvPr>
          <p:cNvSpPr>
            <a:spLocks noGrp="1"/>
          </p:cNvSpPr>
          <p:nvPr/>
        </p:nvSpPr>
        <p:spPr>
          <a:xfrm>
            <a:off x="9410700" y="4324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E9B85F"/>
                </a:solidFill>
              </a:defRPr>
            </a:pPr>
            <a:r>
              <a:rPr sz="1650" b="1">
                <a:solidFill>
                  <a:srgbClr val="E9B85F"/>
                </a:solidFill>
              </a:rPr>
              <a:t>↓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A8418A2-84BC-4C4B-90AC-0A4C9CF1742B}"/>
              </a:ext>
            </a:extLst>
          </p:cNvPr>
          <p:cNvSpPr>
            <a:spLocks noGrp="1"/>
          </p:cNvSpPr>
          <p:nvPr/>
        </p:nvSpPr>
        <p:spPr>
          <a:xfrm>
            <a:off x="8382000" y="46482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E9B85F"/>
                </a:solidFill>
              </a:defRPr>
            </a:pPr>
            <a:r>
              <a:rPr sz="1275" b="1">
                <a:solidFill>
                  <a:srgbClr val="E9B85F"/>
                </a:solidFill>
              </a:rPr>
              <a:t>Clarify activation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DCE9C99-6B21-4063-816D-7A85738EF2B3}"/>
              </a:ext>
            </a:extLst>
          </p:cNvPr>
          <p:cNvSpPr>
            <a:spLocks noGrp="1"/>
          </p:cNvSpPr>
          <p:nvPr/>
        </p:nvSpPr>
        <p:spPr>
          <a:xfrm>
            <a:off x="1771650" y="5600700"/>
            <a:ext cx="8648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E2A36"/>
                </a:solidFill>
              </a:defRPr>
            </a:pPr>
            <a:r>
              <a:rPr sz="1875" b="1">
                <a:solidFill>
                  <a:srgbClr val="0E2A36"/>
                </a:solidFill>
              </a:rPr>
              <a:t>The contact-detail warning improved from Fail → Pass after Iteration 2.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8895992-9496-47AB-916E-4D520622C2F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02FB8C7-0E8E-42ED-B807-5DD8069334B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Final usability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210853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8B8F5B3-D0EF-462B-9BA0-53E63D0431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EA1A28-0228-4109-B002-8EF70997BBBC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3" name="section-kicker">
            <a:extLst>
              <a:ext uri="{FF2B5EF4-FFF2-40B4-BE49-F238E27FC236}">
                <a16:creationId xmlns:a16="http://schemas.microsoft.com/office/drawing/2014/main" id="{BB3FD19F-1135-44D7-BFCD-7C565986AB0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FINAL TESTING RESULTS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3DEAA11A-71B5-467C-917C-CA5A6BA6D96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Two iterations produced measurable design changes.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4F06792B-7978-4A98-998F-781A64A255D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5D7178"/>
                </a:solidFill>
              </a:defRPr>
            </a:pPr>
            <a:r>
              <a:rPr sz="1425" b="0">
                <a:solidFill>
                  <a:srgbClr val="5D7178"/>
                </a:solidFill>
              </a:rPr>
              <a:t>Five participants · moderated think-aloud · tablet, laptop and mobile</a:t>
            </a:r>
          </a:p>
        </p:txBody>
      </p:sp>
      <p:sp>
        <p:nvSpPr>
          <p:cNvPr id="6" name="slide-number">
            <a:extLst>
              <a:ext uri="{FF2B5EF4-FFF2-40B4-BE49-F238E27FC236}">
                <a16:creationId xmlns:a16="http://schemas.microsoft.com/office/drawing/2014/main" id="{0DD91244-ED2B-42FE-A6CB-DF9E0F529489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10</a:t>
            </a:r>
          </a:p>
        </p:txBody>
      </p:sp>
      <p:graphicFrame>
        <p:nvGraphicFramePr>
          <p:cNvPr id="21" name="表格 18"/>
          <p:cNvGraphicFramePr/>
          <p:nvPr/>
        </p:nvGraphicFramePr>
        <p:xfrm>
          <a:off x="685800" y="2038350"/>
          <a:ext cx="10820400" cy="329565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133350" marR="133350" marT="114300" marB="95250"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Observed result</a:t>
                      </a:r>
                    </a:p>
                  </a:txBody>
                  <a:tcPr marL="133350" marR="133350" marT="114300" marB="95250"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133350" marR="133350" marT="114300" marB="95250"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133350" marR="133350" marT="114300" marB="95250">
                    <a:solidFill>
                      <a:srgbClr val="0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Search recovery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4/5 independent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44 s median; 4/5 understood recovery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PASS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Verification cues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5/5 independent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No help; text + icon cues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PASS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Compatibility meaning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3/5 independent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Only 2/5 separated fit from safety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PARTIAL</a:t>
                      </a:r>
                    </a:p>
                  </a:txBody>
                  <a:tcPr marL="133350" marR="133350" marT="114300" marB="95250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Safe contact / rules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Contact warning improved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Contact: Fail → Pass; activation: Fail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52D"/>
                          </a:solidFill>
                        </a:rPr>
                        <a:t>MIXED</a:t>
                      </a:r>
                    </a:p>
                  </a:txBody>
                  <a:tcPr marL="133350" marR="133350" marT="114300" marB="95250"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5BFB5C3-4A10-4DF9-87B1-19590A2D11FE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AUTOMATED QA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85902F-EF29-46B6-96CA-19437449E044}"/>
              </a:ext>
            </a:extLst>
          </p:cNvPr>
          <p:cNvSpPr>
            <a:spLocks noGrp="1"/>
          </p:cNvSpPr>
          <p:nvPr/>
        </p:nvSpPr>
        <p:spPr>
          <a:xfrm>
            <a:off x="1943100" y="5610225"/>
            <a:ext cx="609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0E2A36"/>
                </a:solidFill>
              </a:defRPr>
            </a:pPr>
            <a:r>
              <a:rPr sz="1350" b="0">
                <a:solidFill>
                  <a:srgbClr val="0E2A36"/>
                </a:solidFill>
              </a:rPr>
              <a:t>18 findings: 8 functional/test infrastructure · 9 accessibility · 1 responsive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B72ED6-65C5-4D61-B2C7-5A05F97A0FF9}"/>
              </a:ext>
            </a:extLst>
          </p:cNvPr>
          <p:cNvSpPr>
            <a:spLocks noGrp="1"/>
          </p:cNvSpPr>
          <p:nvPr/>
        </p:nvSpPr>
        <p:spPr>
          <a:xfrm>
            <a:off x="8058150" y="561022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350" b="1">
                <a:solidFill>
                  <a:srgbClr val="E77C64"/>
                </a:solidFill>
              </a:defRPr>
            </a:pPr>
            <a:r>
              <a:rPr sz="1350" b="1">
                <a:solidFill>
                  <a:srgbClr val="E77C64"/>
                </a:solidFill>
              </a:rPr>
              <a:t>Next: clarify fit limits and rule activation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AED5B7-DC3B-47BE-BD11-DA039F6A4CA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8C2564-DCB2-4963-86D4-0EDCF9B9912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Final testing and QA</a:t>
            </a:r>
          </a:p>
        </p:txBody>
      </p:sp>
    </p:spTree>
    <p:extLst>
      <p:ext uri="{BB962C8B-B14F-4D97-AF65-F5344CB8AC3E}">
        <p14:creationId xmlns:p14="http://schemas.microsoft.com/office/powerpoint/2010/main" val="163194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AF4F321E-54BE-4FFB-B44F-389898E079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8E18F9-8AAF-414A-B1AB-BE42BCE804B2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C4F7D2-5F3B-4437-9187-2E9770C231C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5902B9-CEBA-4418-836B-1D669DC5CC77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F82C67-71D6-440B-B020-6940034E5AD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F0B8B9-135A-437D-B0E4-67ABE5FAAB2F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4CEDB2-CBBA-4A54-AC0C-6EE40C8404E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484AE3-6E77-4ADD-A0A2-35CBA045E2D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E44A90-26EC-4700-942D-CA5863F8A4F8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7F924E-B5A8-4ACE-8B03-A3A61587ADA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18D957-1F5D-46EB-ADC3-093ACE627E7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7D61D4-C5EB-47BE-8F96-8A02486A1067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3A84DA-A3BD-44CA-A6F4-7D3C9609F429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85653C-1AE1-40A8-BF6E-FD8F412D3840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10ED0C-E4B5-4C66-A375-FA82976AD0D4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C7977E-D9CF-46AF-802A-6A6E18FF0063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7EDA2D-9CAD-4FBD-BC79-DA746350219C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E5AA8F-DF99-4C86-BCF9-998AE8393A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B71B69-43B2-4949-8541-642544655F02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C5E015-C86F-429D-B9B3-AE9D88872D9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C9CDE1-3F11-4C39-8FE1-A647F3E2F982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A567FC-5EA3-4DAF-A3A7-3684C33AD3C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1AB06C-6EC5-4DE4-96B1-DE6BD0ABF38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8C7C18-CF0F-43D4-93E4-957DF60B8F4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85B853-7B3A-4658-BBC6-84DD67657A2A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506E4E-E3FE-4B69-BFDE-3BDA526ACE9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0CFFDE-7219-45B1-BE8E-EA681851FA9F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9525"/>
          </a:xfrm>
          <a:prstGeom prst="rect">
            <a:avLst/>
          </a:prstGeom>
          <a:solidFill>
            <a:srgbClr val="E5EEEE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77A295-0212-4C1D-9472-A5E556ECA9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BE947C-AE9A-4D73-8E51-A77B109CEE49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D7178"/>
                </a:solidFill>
              </a:defRPr>
            </a:pPr>
            <a:r>
              <a:rPr sz="750" b="1">
                <a:solidFill>
                  <a:srgbClr val="5D7178"/>
                </a:solidFill>
              </a:rPr>
              <a:t>ROOMMATE HAVEN / SYSTEM VIEW</a:t>
            </a:r>
          </a:p>
        </p:txBody>
      </p:sp>
      <p:sp>
        <p:nvSpPr>
          <p:cNvPr id="30" name="section-kicker">
            <a:extLst>
              <a:ext uri="{FF2B5EF4-FFF2-40B4-BE49-F238E27FC236}">
                <a16:creationId xmlns:a16="http://schemas.microsoft.com/office/drawing/2014/main" id="{45864FEA-D696-4BEF-9B41-6EE2BA7A287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198B87"/>
                </a:solidFill>
              </a:defRPr>
            </a:pPr>
            <a:r>
              <a:rPr sz="1050" b="1">
                <a:solidFill>
                  <a:srgbClr val="198B87"/>
                </a:solidFill>
              </a:rPr>
              <a:t>INNOVATION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9C70DF50-4BA4-4666-95C8-ABDF7BA1825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12252D"/>
                </a:solidFill>
              </a:defRPr>
            </a:pPr>
            <a:r>
              <a:rPr sz="2850" b="1">
                <a:solidFill>
                  <a:srgbClr val="12252D"/>
                </a:solidFill>
              </a:rPr>
              <a:t>RoomMate Haven connects a fragmented housing journey.</a:t>
            </a:r>
          </a:p>
        </p:txBody>
      </p:sp>
      <p:sp>
        <p:nvSpPr>
          <p:cNvPr id="32" name="slide-number">
            <a:extLst>
              <a:ext uri="{FF2B5EF4-FFF2-40B4-BE49-F238E27FC236}">
                <a16:creationId xmlns:a16="http://schemas.microsoft.com/office/drawing/2014/main" id="{4D43A58B-72A4-4000-9DCC-07E0925A8A5B}"/>
              </a:ext>
            </a:extLst>
          </p:cNvPr>
          <p:cNvSpPr>
            <a:spLocks noGrp="1"/>
          </p:cNvSpPr>
          <p:nvPr/>
        </p:nvSpPr>
        <p:spPr>
          <a:xfrm>
            <a:off x="11334750" y="457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5D7178"/>
                </a:solidFill>
              </a:defRPr>
            </a:pPr>
            <a:r>
              <a:rPr sz="975" b="1">
                <a:solidFill>
                  <a:srgbClr val="5D7178"/>
                </a:solidFill>
              </a:rPr>
              <a:t>11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46C7C3-5064-4DAD-B3F5-68B92796857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5D7178"/>
                </a:solidFill>
              </a:defRPr>
            </a:pPr>
            <a:r>
              <a:rPr sz="1350" b="1">
                <a:solidFill>
                  <a:srgbClr val="5D7178"/>
                </a:solidFill>
              </a:rPr>
              <a:t>Current experience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454A03-6911-432C-A54A-7DCD08AE44B8}"/>
              </a:ext>
            </a:extLst>
          </p:cNvPr>
          <p:cNvSpPr>
            <a:spLocks noGrp="1"/>
          </p:cNvSpPr>
          <p:nvPr/>
        </p:nvSpPr>
        <p:spPr>
          <a:xfrm>
            <a:off x="2667000" y="2238375"/>
            <a:ext cx="8382000" cy="19050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3079CC57-F93B-4A39-99FA-83CA652D1121}"/>
              </a:ext>
            </a:extLst>
          </p:cNvPr>
          <p:cNvSpPr>
            <a:spLocks noGrp="1"/>
          </p:cNvSpPr>
          <p:nvPr/>
        </p:nvSpPr>
        <p:spPr>
          <a:xfrm>
            <a:off x="2762250" y="1981200"/>
            <a:ext cx="1485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520E90A-969F-43A1-BCC6-FC18770E6212}"/>
              </a:ext>
            </a:extLst>
          </p:cNvPr>
          <p:cNvSpPr>
            <a:spLocks noGrp="1"/>
          </p:cNvSpPr>
          <p:nvPr/>
        </p:nvSpPr>
        <p:spPr>
          <a:xfrm>
            <a:off x="2838450" y="2143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5D7178"/>
                </a:solidFill>
              </a:defRPr>
            </a:pPr>
            <a:r>
              <a:rPr sz="1125" b="1">
                <a:solidFill>
                  <a:srgbClr val="5D7178"/>
                </a:solidFill>
              </a:rPr>
              <a:t>Search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899B12F-9BA2-4C7B-891D-92E48C1A4001}"/>
              </a:ext>
            </a:extLst>
          </p:cNvPr>
          <p:cNvSpPr>
            <a:spLocks noGrp="1"/>
          </p:cNvSpPr>
          <p:nvPr/>
        </p:nvSpPr>
        <p:spPr>
          <a:xfrm>
            <a:off x="4810125" y="1981200"/>
            <a:ext cx="1485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DEE3694-94A0-4B49-9F45-01F344F0CAB1}"/>
              </a:ext>
            </a:extLst>
          </p:cNvPr>
          <p:cNvSpPr>
            <a:spLocks noGrp="1"/>
          </p:cNvSpPr>
          <p:nvPr/>
        </p:nvSpPr>
        <p:spPr>
          <a:xfrm>
            <a:off x="4886325" y="2143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5D7178"/>
                </a:solidFill>
              </a:defRPr>
            </a:pPr>
            <a:r>
              <a:rPr sz="1125" b="1">
                <a:solidFill>
                  <a:srgbClr val="5D7178"/>
                </a:solidFill>
              </a:rPr>
              <a:t>Switch platform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5890B143-664D-4024-A9CE-E80083D0A9FF}"/>
              </a:ext>
            </a:extLst>
          </p:cNvPr>
          <p:cNvSpPr>
            <a:spLocks noGrp="1"/>
          </p:cNvSpPr>
          <p:nvPr/>
        </p:nvSpPr>
        <p:spPr>
          <a:xfrm>
            <a:off x="6858000" y="1981200"/>
            <a:ext cx="1485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154D3CB-DB15-4A4F-9B35-FCDAE08C56C1}"/>
              </a:ext>
            </a:extLst>
          </p:cNvPr>
          <p:cNvSpPr>
            <a:spLocks noGrp="1"/>
          </p:cNvSpPr>
          <p:nvPr/>
        </p:nvSpPr>
        <p:spPr>
          <a:xfrm>
            <a:off x="6934200" y="2143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5D7178"/>
                </a:solidFill>
              </a:defRPr>
            </a:pPr>
            <a:r>
              <a:rPr sz="1125" b="1">
                <a:solidFill>
                  <a:srgbClr val="5D7178"/>
                </a:solidFill>
              </a:rPr>
              <a:t>Share contacts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77CF22EE-D894-4924-B3E5-00CBF5917095}"/>
              </a:ext>
            </a:extLst>
          </p:cNvPr>
          <p:cNvSpPr>
            <a:spLocks noGrp="1"/>
          </p:cNvSpPr>
          <p:nvPr/>
        </p:nvSpPr>
        <p:spPr>
          <a:xfrm>
            <a:off x="8905875" y="1981200"/>
            <a:ext cx="1485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A43A10E-7BD7-43A2-BEFC-347DE90F22F2}"/>
              </a:ext>
            </a:extLst>
          </p:cNvPr>
          <p:cNvSpPr>
            <a:spLocks noGrp="1"/>
          </p:cNvSpPr>
          <p:nvPr/>
        </p:nvSpPr>
        <p:spPr>
          <a:xfrm>
            <a:off x="8982075" y="2143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E77C64"/>
                </a:solidFill>
              </a:defRPr>
            </a:pPr>
            <a:r>
              <a:rPr sz="1125" b="1">
                <a:solidFill>
                  <a:srgbClr val="E77C64"/>
                </a:solidFill>
              </a:rPr>
              <a:t>Resolve conflict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BEA53B8-826B-4415-971D-60AC620B9517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98B87"/>
                </a:solidFill>
              </a:defRPr>
            </a:pPr>
            <a:r>
              <a:rPr sz="1350" b="1">
                <a:solidFill>
                  <a:srgbClr val="198B87"/>
                </a:solidFill>
              </a:rPr>
              <a:t>RoomMate Haven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B35DA13-8C30-40BC-9F50-7CB88EC1CFBC}"/>
              </a:ext>
            </a:extLst>
          </p:cNvPr>
          <p:cNvSpPr>
            <a:spLocks noGrp="1"/>
          </p:cNvSpPr>
          <p:nvPr/>
        </p:nvSpPr>
        <p:spPr>
          <a:xfrm>
            <a:off x="2667000" y="4000500"/>
            <a:ext cx="8382000" cy="38100"/>
          </a:xfrm>
          <a:prstGeom prst="rect">
            <a:avLst/>
          </a:prstGeom>
          <a:solidFill>
            <a:srgbClr val="55B9B1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6B6ABB7-3F2E-487A-B310-24232167DDDB}"/>
              </a:ext>
            </a:extLst>
          </p:cNvPr>
          <p:cNvSpPr>
            <a:spLocks noGrp="1"/>
          </p:cNvSpPr>
          <p:nvPr/>
        </p:nvSpPr>
        <p:spPr>
          <a:xfrm>
            <a:off x="2762250" y="3676650"/>
            <a:ext cx="1485900" cy="647700"/>
          </a:xfrm>
          <a:prstGeom prst="roundRect">
            <a:avLst>
              <a:gd name="adj" fmla="val 11765"/>
            </a:avLst>
          </a:prstGeom>
          <a:solidFill>
            <a:srgbClr val="0E2A3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9A7E8B6-9BC4-4B38-85EC-85BF71F34120}"/>
              </a:ext>
            </a:extLst>
          </p:cNvPr>
          <p:cNvSpPr>
            <a:spLocks noGrp="1"/>
          </p:cNvSpPr>
          <p:nvPr/>
        </p:nvSpPr>
        <p:spPr>
          <a:xfrm>
            <a:off x="2838450" y="38862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Verify options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3EF8E126-3686-498D-B908-3D1A89713355}"/>
              </a:ext>
            </a:extLst>
          </p:cNvPr>
          <p:cNvSpPr>
            <a:spLocks noGrp="1"/>
          </p:cNvSpPr>
          <p:nvPr/>
        </p:nvSpPr>
        <p:spPr>
          <a:xfrm>
            <a:off x="4810125" y="3676650"/>
            <a:ext cx="1485900" cy="647700"/>
          </a:xfrm>
          <a:prstGeom prst="roundRect">
            <a:avLst>
              <a:gd name="adj" fmla="val 11765"/>
            </a:avLst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7FCE679-1E81-47D2-A99B-2EE6AFCC8141}"/>
              </a:ext>
            </a:extLst>
          </p:cNvPr>
          <p:cNvSpPr>
            <a:spLocks noGrp="1"/>
          </p:cNvSpPr>
          <p:nvPr/>
        </p:nvSpPr>
        <p:spPr>
          <a:xfrm>
            <a:off x="4886325" y="38862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Compare fit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07AA5184-68F7-4902-A36D-27C93A89D73C}"/>
              </a:ext>
            </a:extLst>
          </p:cNvPr>
          <p:cNvSpPr>
            <a:spLocks noGrp="1"/>
          </p:cNvSpPr>
          <p:nvPr/>
        </p:nvSpPr>
        <p:spPr>
          <a:xfrm>
            <a:off x="6858000" y="3676650"/>
            <a:ext cx="1485900" cy="647700"/>
          </a:xfrm>
          <a:prstGeom prst="roundRect">
            <a:avLst>
              <a:gd name="adj" fmla="val 11765"/>
            </a:avLst>
          </a:prstGeom>
          <a:solidFill>
            <a:srgbClr val="0E2A3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86A4A6B-4C64-4C3D-8712-278BAE4FCD9F}"/>
              </a:ext>
            </a:extLst>
          </p:cNvPr>
          <p:cNvSpPr>
            <a:spLocks noGrp="1"/>
          </p:cNvSpPr>
          <p:nvPr/>
        </p:nvSpPr>
        <p:spPr>
          <a:xfrm>
            <a:off x="6934200" y="38862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Message safely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03C45CD2-9C9C-4F69-9E97-7B90B8AD1B58}"/>
              </a:ext>
            </a:extLst>
          </p:cNvPr>
          <p:cNvSpPr>
            <a:spLocks noGrp="1"/>
          </p:cNvSpPr>
          <p:nvPr/>
        </p:nvSpPr>
        <p:spPr>
          <a:xfrm>
            <a:off x="8905875" y="3676650"/>
            <a:ext cx="1485900" cy="647700"/>
          </a:xfrm>
          <a:prstGeom prst="roundRect">
            <a:avLst>
              <a:gd name="adj" fmla="val 11765"/>
            </a:avLst>
          </a:prstGeom>
          <a:solidFill>
            <a:srgbClr val="0E2A36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1AF6959-FCA4-4433-826D-94E16BDCCF8B}"/>
              </a:ext>
            </a:extLst>
          </p:cNvPr>
          <p:cNvSpPr>
            <a:spLocks noGrp="1"/>
          </p:cNvSpPr>
          <p:nvPr/>
        </p:nvSpPr>
        <p:spPr>
          <a:xfrm>
            <a:off x="8982075" y="38862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Agree expectations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902FE6F9-2591-4B52-A863-2BE1935ECD9A}"/>
              </a:ext>
            </a:extLst>
          </p:cNvPr>
          <p:cNvSpPr>
            <a:spLocks noGrp="1"/>
          </p:cNvSpPr>
          <p:nvPr/>
        </p:nvSpPr>
        <p:spPr>
          <a:xfrm>
            <a:off x="2667000" y="5029200"/>
            <a:ext cx="77152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7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0D9B6A-69B2-431C-B462-116DB3686FE3}"/>
              </a:ext>
            </a:extLst>
          </p:cNvPr>
          <p:cNvSpPr>
            <a:spLocks noGrp="1"/>
          </p:cNvSpPr>
          <p:nvPr/>
        </p:nvSpPr>
        <p:spPr>
          <a:xfrm>
            <a:off x="2952750" y="521017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E2A36"/>
                </a:solidFill>
              </a:defRPr>
            </a:pPr>
            <a:r>
              <a:rPr sz="1425" b="1">
                <a:solidFill>
                  <a:srgbClr val="0E2A36"/>
                </a:solidFill>
              </a:rPr>
              <a:t>The innovation is the integration: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61D7DB7-87B2-4BBB-ABCB-53ED40D766CB}"/>
              </a:ext>
            </a:extLst>
          </p:cNvPr>
          <p:cNvSpPr>
            <a:spLocks noGrp="1"/>
          </p:cNvSpPr>
          <p:nvPr/>
        </p:nvSpPr>
        <p:spPr>
          <a:xfrm>
            <a:off x="5524500" y="515302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98B87"/>
                </a:solidFill>
              </a:defRPr>
            </a:pPr>
            <a:r>
              <a:rPr sz="1875" b="1">
                <a:solidFill>
                  <a:srgbClr val="198B87"/>
                </a:solidFill>
              </a:rPr>
              <a:t>trust + preference fit + early agreements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43D33EE-66C2-4338-A1A0-B1D4B88EA16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9525"/>
          </a:xfrm>
          <a:prstGeom prst="rect">
            <a:avLst/>
          </a:prstGeom>
          <a:solidFill>
            <a:srgbClr val="C9D7D8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D235D03-96D0-4585-8BEB-41E2771241B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25" b="0">
                <a:solidFill>
                  <a:srgbClr val="5D7178"/>
                </a:solidFill>
              </a:defRPr>
            </a:pPr>
            <a:r>
              <a:rPr sz="825" b="0">
                <a:solidFill>
                  <a:srgbClr val="5D7178"/>
                </a:solidFill>
              </a:rPr>
              <a:t>RoomMate Haven · Integrated innovation</a:t>
            </a:r>
          </a:p>
        </p:txBody>
      </p:sp>
    </p:spTree>
    <p:extLst>
      <p:ext uri="{BB962C8B-B14F-4D97-AF65-F5344CB8AC3E}">
        <p14:creationId xmlns:p14="http://schemas.microsoft.com/office/powerpoint/2010/main" val="27323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6FAE736-6CCC-49CA-9D44-B39CB9EFB8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36359A-4F4C-4D02-A21D-248D75867E3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AEFEA2-3C73-4D1C-AB79-D81959B9F7D2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A68783-671C-4BEA-B532-E15F48206D6F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3A3E68-2A0D-464B-B0CD-EBEDC7F2132F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72D005-6553-458B-B59D-67703E904B21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54DDB3-C3BE-454C-B806-EF566190BD52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B08D6D-6E5E-48BE-8C82-1E1965A503B7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84D0E0-6AF1-4A30-BD4F-5577514786E7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D4C7DC-852A-4153-B512-AACEE4ABD509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427B67-9323-478E-B3B1-21E326ACAAAF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0E1AA2-4A61-400D-A669-2A8EB3D6936D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0B0C7A-0FCF-4D67-B139-3F4EE265D5D3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CD91E0-A28C-49BF-A65D-6FEC893C2958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F1A9F5-7A1B-4DD1-86D4-0E1D44CC4560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257065-D52E-4599-A3F9-6263AA3BDF1B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9384F8-28F1-4AE8-835E-DAA08993B3C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5C2E3D-C653-46C8-99A8-4C5E12705CD1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CBF099-4A25-4092-B4F2-381203F10A8C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C56C6D-3F73-4CCA-8925-149E92CD6610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C0772E-6EB8-46D6-9502-50F9A8709939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7CF577-48FA-4D30-A4C9-8FA457362A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FCEB0B-5EC3-4D61-8BDE-D0DAC8ED048E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BDBA74-060F-4B52-99D4-2DFC4EA483CE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B9D3D3-0730-4DCA-8B08-6BD506F32DD3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91DE35-F8C7-49E6-9E96-E7D4915F87D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75F3E1-2697-49D1-9F2C-93777524BB1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8C32E4-FF2D-4894-9597-3FA09846D47B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5D15B5-EE2B-4A6D-B2D8-9BAF71643FE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F7B960-468D-4DC4-95EB-2BAD2BC4B6F0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A58702E-DE65-4026-B948-4986683E00AD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3D9544A-92B1-48F0-9524-7E88822F786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470EE1-189C-4E76-A8D1-52004DB38E4F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93F4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66C92D-9AFC-4082-A938-6EAE80EC75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ED7CF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5BD3DA5-E642-4298-BF1C-63485FCBC07D}"/>
              </a:ext>
            </a:extLst>
          </p:cNvPr>
          <p:cNvSpPr>
            <a:spLocks noGrp="1"/>
          </p:cNvSpPr>
          <p:nvPr/>
        </p:nvSpPr>
        <p:spPr>
          <a:xfrm>
            <a:off x="8839200" y="1619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750" b="1">
                <a:solidFill>
                  <a:srgbClr val="55B9B1"/>
                </a:solidFill>
              </a:defRPr>
            </a:pPr>
            <a:r>
              <a:rPr sz="750" b="1">
                <a:solidFill>
                  <a:srgbClr val="55B9B1"/>
                </a:solidFill>
              </a:rPr>
              <a:t>ROOMMATE HAVEN / SYSTEM VIEW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F42251-50D2-4F1F-8E73-E06F8616FAA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55B9B1"/>
                </a:solidFill>
              </a:defRPr>
            </a:pPr>
            <a:r>
              <a:rPr sz="1200" b="1">
                <a:solidFill>
                  <a:srgbClr val="55B9B1"/>
                </a:solidFill>
              </a:rPr>
              <a:t>RoomMate Haven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DA3997-EEF2-4B63-9AA5-0306CAB3A43E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3905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Trust.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3063B5-890C-4695-85F7-D92E61FD8394}"/>
              </a:ext>
            </a:extLst>
          </p:cNvPr>
          <p:cNvSpPr>
            <a:spLocks noGrp="1"/>
          </p:cNvSpPr>
          <p:nvPr/>
        </p:nvSpPr>
        <p:spPr>
          <a:xfrm>
            <a:off x="4476750" y="1571625"/>
            <a:ext cx="2952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350" b="1">
                <a:solidFill>
                  <a:srgbClr val="55B9B1"/>
                </a:solidFill>
              </a:defRPr>
            </a:pPr>
            <a:r>
              <a:rPr sz="4350" b="1">
                <a:solidFill>
                  <a:srgbClr val="55B9B1"/>
                </a:solidFill>
              </a:rPr>
              <a:t>Fit.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7BC03FE-D85C-4F29-B0B8-6449C4E52301}"/>
              </a:ext>
            </a:extLst>
          </p:cNvPr>
          <p:cNvSpPr>
            <a:spLocks noGrp="1"/>
          </p:cNvSpPr>
          <p:nvPr/>
        </p:nvSpPr>
        <p:spPr>
          <a:xfrm>
            <a:off x="7524750" y="1571625"/>
            <a:ext cx="3810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Clarity.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C23A077-CBA1-43AF-86FE-DF9B60EC8E28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0477500" cy="47625"/>
          </a:xfrm>
          <a:prstGeom prst="rect">
            <a:avLst/>
          </a:prstGeom>
          <a:solidFill>
            <a:srgbClr val="198B8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EB0085-A356-4515-9687-C020D51748AD}"/>
              </a:ext>
            </a:extLst>
          </p:cNvPr>
          <p:cNvSpPr>
            <a:spLocks noGrp="1"/>
          </p:cNvSpPr>
          <p:nvPr/>
        </p:nvSpPr>
        <p:spPr>
          <a:xfrm>
            <a:off x="1428750" y="3238500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Students should be able to choose not only where they live,</a:t>
            </a:r>
          </a:p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but who they live with—and how they will live together.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9752C34-DABE-4E89-94B5-B5AF1AE3355B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CDECE8"/>
                </a:solidFill>
              </a:defRPr>
            </a:pPr>
            <a:r>
              <a:rPr sz="900" b="0">
                <a:solidFill>
                  <a:srgbClr val="CDECE8"/>
                </a:solidFill>
              </a:rPr>
              <a:t>Liam · Dylan · Nicky · Pranav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03241BF-EC56-49D9-B225-62306C9B5D9D}"/>
              </a:ext>
            </a:extLst>
          </p:cNvPr>
          <p:cNvSpPr>
            <a:spLocks noGrp="1"/>
          </p:cNvSpPr>
          <p:nvPr/>
        </p:nvSpPr>
        <p:spPr>
          <a:xfrm>
            <a:off x="10096500" y="628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200" b="1">
                <a:solidFill>
                  <a:srgbClr val="55B9B1"/>
                </a:solidFill>
              </a:defRPr>
            </a:pPr>
            <a:r>
              <a:rPr sz="1200" b="1">
                <a:solidFill>
                  <a:srgbClr val="55B9B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013547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1750</Words>
  <Application>Microsoft Macintosh PowerPoint</Application>
  <DocSecurity>0</DocSecurity>
  <PresentationFormat>宽屏</PresentationFormat>
  <Paragraphs>287</Paragraphs>
  <Slides>12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Qian Cao</cp:lastModifiedBy>
  <cp:revision>3</cp:revision>
  <dcterms:created xsi:type="dcterms:W3CDTF">2026-08-01T16:52:27Z</dcterms:created>
  <dcterms:modified xsi:type="dcterms:W3CDTF">2026-08-02T07:45:24Z</dcterms:modified>
</cp:coreProperties>
</file>